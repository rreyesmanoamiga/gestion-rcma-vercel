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8" r:id="rId19"/>
    <p:sldId id="289" r:id="rId20"/>
    <p:sldId id="290" r:id="rId21"/>
    <p:sldId id="291" r:id="rId22"/>
    <p:sldId id="292" r:id="rId23"/>
    <p:sldId id="293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3684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100" b="1" kern="0" spc="400" noProof="0" dirty="0">
                <a:solidFill>
                  <a:srgbClr val="94A3B8"/>
                </a:solidFill>
              </a:rPr>
              <a:t>COORDINACIÓN DE OBRAS</a:t>
            </a:r>
            <a:endParaRPr lang="es-419" sz="11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4800" b="1" noProof="0" dirty="0">
                <a:solidFill>
                  <a:srgbClr val="FFFFFF"/>
                </a:solidFill>
              </a:rPr>
              <a:t>SISTEMA RCMA</a:t>
            </a:r>
            <a:endParaRPr lang="es-419" sz="48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000" noProof="0" dirty="0">
                <a:solidFill>
                  <a:srgbClr val="CBD5E1"/>
                </a:solidFill>
              </a:rPr>
              <a:t>Plataforma de Gestión de Infraestructura Escolar</a:t>
            </a:r>
            <a:endParaRPr lang="es-419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400" noProof="0" dirty="0">
                <a:solidFill>
                  <a:srgbClr val="94A3B8"/>
                </a:solidFill>
              </a:rPr>
              <a:t>Colegios Mano Amiga</a:t>
            </a:r>
            <a:endParaRPr lang="es-419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64748B"/>
                </a:solidFill>
              </a:rPr>
              <a:t>Versión 2026 v4  |  Sistema Cloud  |  rreyes@manoamiga.edu.mx</a:t>
            </a:r>
            <a:endParaRPr lang="es-419" sz="1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00" b="1" kern="0" spc="300" noProof="0" dirty="0">
                <a:solidFill>
                  <a:srgbClr val="94A3B8"/>
                </a:solidFill>
              </a:rPr>
              <a:t>OVERVIEW</a:t>
            </a:r>
            <a:endParaRPr lang="es-419" sz="1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600" b="1" noProof="0" dirty="0">
                <a:solidFill>
                  <a:srgbClr val="FFFFFF"/>
                </a:solidFill>
              </a:rPr>
              <a:t>¿Qué es el Sistema RCMA?</a:t>
            </a:r>
            <a:endParaRPr lang="es-419" sz="2600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19202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600" noProof="0" dirty="0">
                <a:solidFill>
                  <a:srgbClr val="000000"/>
                </a:solidFill>
              </a:rPr>
              <a:t>☁️</a:t>
            </a:r>
            <a:endParaRPr lang="es-419" sz="2600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300" b="1" noProof="0" dirty="0">
                <a:solidFill>
                  <a:srgbClr val="0F172A"/>
                </a:solidFill>
              </a:rPr>
              <a:t>Cloud + Offline</a:t>
            </a:r>
            <a:endParaRPr lang="es-419" sz="1300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Funciona sin internet y sincroniza automáticamente al reconectarse.</a:t>
            </a:r>
            <a:endParaRPr lang="es-419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2514600" y="1280160"/>
            <a:ext cx="19202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0" name="Text 8"/>
          <p:cNvSpPr/>
          <p:nvPr/>
        </p:nvSpPr>
        <p:spPr>
          <a:xfrm>
            <a:off x="251460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600" noProof="0" dirty="0">
                <a:solidFill>
                  <a:srgbClr val="000000"/>
                </a:solidFill>
              </a:rPr>
              <a:t>🔒</a:t>
            </a:r>
            <a:endParaRPr lang="es-419" sz="2600" noProof="0" dirty="0"/>
          </a:p>
        </p:txBody>
      </p:sp>
      <p:sp>
        <p:nvSpPr>
          <p:cNvPr id="11" name="Text 9"/>
          <p:cNvSpPr/>
          <p:nvPr/>
        </p:nvSpPr>
        <p:spPr>
          <a:xfrm>
            <a:off x="251460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300" b="1" noProof="0" dirty="0">
                <a:solidFill>
                  <a:srgbClr val="0F172A"/>
                </a:solidFill>
              </a:rPr>
              <a:t>Roles y Permisos</a:t>
            </a:r>
            <a:endParaRPr lang="es-419" sz="1300" noProof="0" dirty="0"/>
          </a:p>
        </p:txBody>
      </p:sp>
      <p:sp>
        <p:nvSpPr>
          <p:cNvPr id="12" name="Text 10"/>
          <p:cNvSpPr/>
          <p:nvPr/>
        </p:nvSpPr>
        <p:spPr>
          <a:xfrm>
            <a:off x="2651760" y="24688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Cada usuario ve solo los módulos que le corresponden.</a:t>
            </a:r>
            <a:endParaRPr lang="es-419" sz="1000" noProof="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19202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4" name="Text 12"/>
          <p:cNvSpPr/>
          <p:nvPr/>
        </p:nvSpPr>
        <p:spPr>
          <a:xfrm>
            <a:off x="466344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600" noProof="0" dirty="0">
                <a:solidFill>
                  <a:srgbClr val="000000"/>
                </a:solidFill>
              </a:rPr>
              <a:t>🏫</a:t>
            </a:r>
            <a:endParaRPr lang="es-419" sz="2600" noProof="0" dirty="0"/>
          </a:p>
        </p:txBody>
      </p:sp>
      <p:sp>
        <p:nvSpPr>
          <p:cNvPr id="15" name="Text 13"/>
          <p:cNvSpPr/>
          <p:nvPr/>
        </p:nvSpPr>
        <p:spPr>
          <a:xfrm>
            <a:off x="466344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300" b="1" noProof="0" dirty="0">
                <a:solidFill>
                  <a:srgbClr val="0F172A"/>
                </a:solidFill>
              </a:rPr>
              <a:t>Multi-Colegio</a:t>
            </a:r>
            <a:endParaRPr lang="es-419" sz="1300" noProof="0" dirty="0"/>
          </a:p>
        </p:txBody>
      </p:sp>
      <p:sp>
        <p:nvSpPr>
          <p:cNvPr id="16" name="Text 14"/>
          <p:cNvSpPr/>
          <p:nvPr/>
        </p:nvSpPr>
        <p:spPr>
          <a:xfrm>
            <a:off x="4800600" y="24688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23 sedes en territorios NORTE, MEXICO y FMA.</a:t>
            </a:r>
            <a:endParaRPr lang="es-419" sz="1000" noProof="0" dirty="0"/>
          </a:p>
        </p:txBody>
      </p:sp>
      <p:sp>
        <p:nvSpPr>
          <p:cNvPr id="17" name="Shape 15"/>
          <p:cNvSpPr/>
          <p:nvPr/>
        </p:nvSpPr>
        <p:spPr>
          <a:xfrm>
            <a:off x="6812280" y="1280160"/>
            <a:ext cx="192024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Text 16"/>
          <p:cNvSpPr/>
          <p:nvPr/>
        </p:nvSpPr>
        <p:spPr>
          <a:xfrm>
            <a:off x="6812280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600" noProof="0" dirty="0">
                <a:solidFill>
                  <a:srgbClr val="000000"/>
                </a:solidFill>
              </a:rPr>
              <a:t>📊</a:t>
            </a:r>
            <a:endParaRPr lang="es-419" sz="2600" noProof="0" dirty="0"/>
          </a:p>
        </p:txBody>
      </p:sp>
      <p:sp>
        <p:nvSpPr>
          <p:cNvPr id="19" name="Text 17"/>
          <p:cNvSpPr/>
          <p:nvPr/>
        </p:nvSpPr>
        <p:spPr>
          <a:xfrm>
            <a:off x="6812280" y="2057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300" b="1" noProof="0" dirty="0">
                <a:solidFill>
                  <a:srgbClr val="0F172A"/>
                </a:solidFill>
              </a:rPr>
              <a:t>Reportes en 1 Clic</a:t>
            </a:r>
            <a:endParaRPr lang="es-419" sz="1300" noProof="0" dirty="0"/>
          </a:p>
        </p:txBody>
      </p:sp>
      <p:sp>
        <p:nvSpPr>
          <p:cNvPr id="20" name="Text 18"/>
          <p:cNvSpPr/>
          <p:nvPr/>
        </p:nvSpPr>
        <p:spPr>
          <a:xfrm>
            <a:off x="6949440" y="246888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PDF ejecutivo y Excel con todos los datos al instante.</a:t>
            </a:r>
            <a:endParaRPr lang="es-419" sz="1000" noProof="0" dirty="0"/>
          </a:p>
        </p:txBody>
      </p:sp>
      <p:sp>
        <p:nvSpPr>
          <p:cNvPr id="21" name="Text 1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600" b="1" noProof="0" dirty="0">
                <a:solidFill>
                  <a:srgbClr val="FFFFFF"/>
                </a:solidFill>
              </a:rPr>
              <a:t>Módulos del Sistema</a:t>
            </a:r>
            <a:endParaRPr lang="es-419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94A3B8"/>
                </a:solidFill>
              </a:rPr>
              <a:t>18 módulos integrados y funcionales — acceso controlado por permisos individuales</a:t>
            </a:r>
            <a:endParaRPr lang="es-419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6" name="Text 4"/>
          <p:cNvSpPr/>
          <p:nvPr/>
        </p:nvSpPr>
        <p:spPr>
          <a:xfrm>
            <a:off x="320040" y="12801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📊</a:t>
            </a:r>
            <a:endParaRPr lang="es-419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 err="1">
                <a:solidFill>
                  <a:srgbClr val="0F172A"/>
                </a:solidFill>
              </a:rPr>
              <a:t>Dashboard</a:t>
            </a:r>
            <a:endParaRPr lang="es-419" sz="850" noProof="0" dirty="0"/>
          </a:p>
        </p:txBody>
      </p:sp>
      <p:sp>
        <p:nvSpPr>
          <p:cNvPr id="8" name="Shape 6"/>
          <p:cNvSpPr/>
          <p:nvPr/>
        </p:nvSpPr>
        <p:spPr>
          <a:xfrm>
            <a:off x="1755648" y="118872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Text 7"/>
          <p:cNvSpPr/>
          <p:nvPr/>
        </p:nvSpPr>
        <p:spPr>
          <a:xfrm>
            <a:off x="1755648" y="12801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📩</a:t>
            </a:r>
            <a:endParaRPr lang="es-419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1755648" y="16916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>
                <a:solidFill>
                  <a:srgbClr val="0F172A"/>
                </a:solidFill>
              </a:rPr>
              <a:t>Solicitud Proyecto</a:t>
            </a:r>
            <a:endParaRPr lang="es-419" sz="850" noProof="0" dirty="0"/>
          </a:p>
        </p:txBody>
      </p:sp>
      <p:sp>
        <p:nvSpPr>
          <p:cNvPr id="11" name="Shape 9"/>
          <p:cNvSpPr/>
          <p:nvPr/>
        </p:nvSpPr>
        <p:spPr>
          <a:xfrm>
            <a:off x="3191256" y="118872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3191256" y="12801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📥</a:t>
            </a:r>
            <a:endParaRPr lang="es-419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3191256" y="16916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>
                <a:solidFill>
                  <a:srgbClr val="0F172A"/>
                </a:solidFill>
              </a:rPr>
              <a:t>Solicitudes Recibidas</a:t>
            </a:r>
            <a:endParaRPr lang="es-419" sz="850" noProof="0" dirty="0"/>
          </a:p>
        </p:txBody>
      </p:sp>
      <p:sp>
        <p:nvSpPr>
          <p:cNvPr id="14" name="Shape 12"/>
          <p:cNvSpPr/>
          <p:nvPr/>
        </p:nvSpPr>
        <p:spPr>
          <a:xfrm>
            <a:off x="4626864" y="118872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5" name="Text 13"/>
          <p:cNvSpPr/>
          <p:nvPr/>
        </p:nvSpPr>
        <p:spPr>
          <a:xfrm>
            <a:off x="4626864" y="12801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🎫</a:t>
            </a:r>
            <a:endParaRPr lang="es-419" sz="1800" noProof="0" dirty="0"/>
          </a:p>
        </p:txBody>
      </p:sp>
      <p:sp>
        <p:nvSpPr>
          <p:cNvPr id="16" name="Text 14"/>
          <p:cNvSpPr/>
          <p:nvPr/>
        </p:nvSpPr>
        <p:spPr>
          <a:xfrm>
            <a:off x="4626864" y="16916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>
                <a:solidFill>
                  <a:srgbClr val="0F172A"/>
                </a:solidFill>
              </a:rPr>
              <a:t>Ticket MAS</a:t>
            </a:r>
            <a:endParaRPr lang="es-419" sz="850" noProof="0" dirty="0"/>
          </a:p>
        </p:txBody>
      </p:sp>
      <p:sp>
        <p:nvSpPr>
          <p:cNvPr id="17" name="Shape 15"/>
          <p:cNvSpPr/>
          <p:nvPr/>
        </p:nvSpPr>
        <p:spPr>
          <a:xfrm>
            <a:off x="6062472" y="118872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Text 16"/>
          <p:cNvSpPr/>
          <p:nvPr/>
        </p:nvSpPr>
        <p:spPr>
          <a:xfrm>
            <a:off x="6062472" y="12801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📖</a:t>
            </a:r>
            <a:endParaRPr lang="es-419" sz="1800" noProof="0" dirty="0"/>
          </a:p>
        </p:txBody>
      </p:sp>
      <p:sp>
        <p:nvSpPr>
          <p:cNvPr id="19" name="Text 17"/>
          <p:cNvSpPr/>
          <p:nvPr/>
        </p:nvSpPr>
        <p:spPr>
          <a:xfrm>
            <a:off x="6062472" y="16916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>
                <a:solidFill>
                  <a:srgbClr val="0F172A"/>
                </a:solidFill>
              </a:rPr>
              <a:t>Protocolo Proyectos</a:t>
            </a:r>
            <a:endParaRPr lang="es-419" sz="850" noProof="0" dirty="0"/>
          </a:p>
        </p:txBody>
      </p:sp>
      <p:sp>
        <p:nvSpPr>
          <p:cNvPr id="20" name="Shape 18"/>
          <p:cNvSpPr/>
          <p:nvPr/>
        </p:nvSpPr>
        <p:spPr>
          <a:xfrm>
            <a:off x="7498080" y="118872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1" name="Text 19"/>
          <p:cNvSpPr/>
          <p:nvPr/>
        </p:nvSpPr>
        <p:spPr>
          <a:xfrm>
            <a:off x="7498080" y="12801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📋</a:t>
            </a:r>
            <a:endParaRPr lang="es-419" sz="1800" noProof="0" dirty="0"/>
          </a:p>
        </p:txBody>
      </p:sp>
      <p:sp>
        <p:nvSpPr>
          <p:cNvPr id="22" name="Text 20"/>
          <p:cNvSpPr/>
          <p:nvPr/>
        </p:nvSpPr>
        <p:spPr>
          <a:xfrm>
            <a:off x="7498080" y="16916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>
                <a:solidFill>
                  <a:srgbClr val="0F172A"/>
                </a:solidFill>
              </a:rPr>
              <a:t>Registro de Tickets </a:t>
            </a:r>
            <a:endParaRPr lang="es-419" sz="850" noProof="0" dirty="0"/>
          </a:p>
        </p:txBody>
      </p:sp>
      <p:sp>
        <p:nvSpPr>
          <p:cNvPr id="23" name="Shape 21"/>
          <p:cNvSpPr/>
          <p:nvPr/>
        </p:nvSpPr>
        <p:spPr>
          <a:xfrm>
            <a:off x="320040" y="237744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4" name="Text 22"/>
          <p:cNvSpPr/>
          <p:nvPr/>
        </p:nvSpPr>
        <p:spPr>
          <a:xfrm>
            <a:off x="320040" y="2468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📁</a:t>
            </a:r>
            <a:endParaRPr lang="es-419" sz="1800" noProof="0" dirty="0"/>
          </a:p>
        </p:txBody>
      </p:sp>
      <p:sp>
        <p:nvSpPr>
          <p:cNvPr id="25" name="Text 23"/>
          <p:cNvSpPr/>
          <p:nvPr/>
        </p:nvSpPr>
        <p:spPr>
          <a:xfrm>
            <a:off x="320040" y="28803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>
                <a:solidFill>
                  <a:srgbClr val="0F172A"/>
                </a:solidFill>
              </a:rPr>
              <a:t>Proyectos</a:t>
            </a:r>
            <a:endParaRPr lang="es-419" sz="850" noProof="0" dirty="0"/>
          </a:p>
        </p:txBody>
      </p:sp>
      <p:sp>
        <p:nvSpPr>
          <p:cNvPr id="26" name="Shape 24"/>
          <p:cNvSpPr/>
          <p:nvPr/>
        </p:nvSpPr>
        <p:spPr>
          <a:xfrm>
            <a:off x="1755648" y="237744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7" name="Text 25"/>
          <p:cNvSpPr/>
          <p:nvPr/>
        </p:nvSpPr>
        <p:spPr>
          <a:xfrm>
            <a:off x="1755648" y="2468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📐</a:t>
            </a:r>
            <a:endParaRPr lang="es-419" sz="1800" noProof="0" dirty="0"/>
          </a:p>
        </p:txBody>
      </p:sp>
      <p:sp>
        <p:nvSpPr>
          <p:cNvPr id="28" name="Text 26"/>
          <p:cNvSpPr/>
          <p:nvPr/>
        </p:nvSpPr>
        <p:spPr>
          <a:xfrm>
            <a:off x="1755648" y="28803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>
                <a:solidFill>
                  <a:srgbClr val="0F172A"/>
                </a:solidFill>
              </a:rPr>
              <a:t>Anteproyectos</a:t>
            </a:r>
            <a:endParaRPr lang="es-419" sz="850" noProof="0" dirty="0"/>
          </a:p>
        </p:txBody>
      </p:sp>
      <p:sp>
        <p:nvSpPr>
          <p:cNvPr id="29" name="Shape 27"/>
          <p:cNvSpPr/>
          <p:nvPr/>
        </p:nvSpPr>
        <p:spPr>
          <a:xfrm>
            <a:off x="3191256" y="237744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0" name="Text 28"/>
          <p:cNvSpPr/>
          <p:nvPr/>
        </p:nvSpPr>
        <p:spPr>
          <a:xfrm>
            <a:off x="3191256" y="2468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💰</a:t>
            </a:r>
            <a:endParaRPr lang="es-419" sz="1800" noProof="0" dirty="0"/>
          </a:p>
        </p:txBody>
      </p:sp>
      <p:sp>
        <p:nvSpPr>
          <p:cNvPr id="31" name="Text 29"/>
          <p:cNvSpPr/>
          <p:nvPr/>
        </p:nvSpPr>
        <p:spPr>
          <a:xfrm>
            <a:off x="3191256" y="28803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>
                <a:solidFill>
                  <a:srgbClr val="0F172A"/>
                </a:solidFill>
              </a:rPr>
              <a:t>Presupuesto vs Real</a:t>
            </a:r>
            <a:endParaRPr lang="es-419" sz="850" noProof="0" dirty="0"/>
          </a:p>
        </p:txBody>
      </p:sp>
      <p:sp>
        <p:nvSpPr>
          <p:cNvPr id="32" name="Shape 30"/>
          <p:cNvSpPr/>
          <p:nvPr/>
        </p:nvSpPr>
        <p:spPr>
          <a:xfrm>
            <a:off x="4626864" y="237744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3" name="Text 31"/>
          <p:cNvSpPr/>
          <p:nvPr/>
        </p:nvSpPr>
        <p:spPr>
          <a:xfrm>
            <a:off x="4626864" y="2468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⏳</a:t>
            </a:r>
            <a:endParaRPr lang="es-419" sz="1800" noProof="0" dirty="0"/>
          </a:p>
        </p:txBody>
      </p:sp>
      <p:sp>
        <p:nvSpPr>
          <p:cNvPr id="34" name="Text 32"/>
          <p:cNvSpPr/>
          <p:nvPr/>
        </p:nvSpPr>
        <p:spPr>
          <a:xfrm>
            <a:off x="4626864" y="28803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>
                <a:solidFill>
                  <a:srgbClr val="0F172A"/>
                </a:solidFill>
              </a:rPr>
              <a:t>Pendientes</a:t>
            </a:r>
            <a:endParaRPr lang="es-419" sz="850" noProof="0" dirty="0"/>
          </a:p>
        </p:txBody>
      </p:sp>
      <p:sp>
        <p:nvSpPr>
          <p:cNvPr id="35" name="Shape 33"/>
          <p:cNvSpPr/>
          <p:nvPr/>
        </p:nvSpPr>
        <p:spPr>
          <a:xfrm>
            <a:off x="6062472" y="237744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6" name="Text 34"/>
          <p:cNvSpPr/>
          <p:nvPr/>
        </p:nvSpPr>
        <p:spPr>
          <a:xfrm>
            <a:off x="6062472" y="2468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✅</a:t>
            </a:r>
            <a:endParaRPr lang="es-419" sz="1800" noProof="0" dirty="0"/>
          </a:p>
        </p:txBody>
      </p:sp>
      <p:sp>
        <p:nvSpPr>
          <p:cNvPr id="37" name="Text 35"/>
          <p:cNvSpPr/>
          <p:nvPr/>
        </p:nvSpPr>
        <p:spPr>
          <a:xfrm>
            <a:off x="6062472" y="28803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 err="1">
                <a:solidFill>
                  <a:srgbClr val="0F172A"/>
                </a:solidFill>
              </a:rPr>
              <a:t>Checklists</a:t>
            </a:r>
            <a:endParaRPr lang="es-419" sz="850" noProof="0" dirty="0"/>
          </a:p>
        </p:txBody>
      </p:sp>
      <p:sp>
        <p:nvSpPr>
          <p:cNvPr id="38" name="Shape 36"/>
          <p:cNvSpPr/>
          <p:nvPr/>
        </p:nvSpPr>
        <p:spPr>
          <a:xfrm>
            <a:off x="7498080" y="237744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9" name="Text 37"/>
          <p:cNvSpPr/>
          <p:nvPr/>
        </p:nvSpPr>
        <p:spPr>
          <a:xfrm>
            <a:off x="7498080" y="246888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📅</a:t>
            </a:r>
            <a:endParaRPr lang="es-419" sz="1800" noProof="0" dirty="0"/>
          </a:p>
        </p:txBody>
      </p:sp>
      <p:sp>
        <p:nvSpPr>
          <p:cNvPr id="40" name="Text 38"/>
          <p:cNvSpPr/>
          <p:nvPr/>
        </p:nvSpPr>
        <p:spPr>
          <a:xfrm>
            <a:off x="7498080" y="288036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>
                <a:solidFill>
                  <a:srgbClr val="0F172A"/>
                </a:solidFill>
              </a:rPr>
              <a:t>Calendario (Mttos)</a:t>
            </a:r>
            <a:endParaRPr lang="es-419" sz="850" noProof="0" dirty="0"/>
          </a:p>
        </p:txBody>
      </p:sp>
      <p:sp>
        <p:nvSpPr>
          <p:cNvPr id="41" name="Shape 39"/>
          <p:cNvSpPr/>
          <p:nvPr/>
        </p:nvSpPr>
        <p:spPr>
          <a:xfrm>
            <a:off x="320040" y="356616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42" name="Text 40"/>
          <p:cNvSpPr/>
          <p:nvPr/>
        </p:nvSpPr>
        <p:spPr>
          <a:xfrm>
            <a:off x="320040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📄</a:t>
            </a:r>
            <a:endParaRPr lang="es-419" sz="1800" noProof="0" dirty="0"/>
          </a:p>
        </p:txBody>
      </p:sp>
      <p:sp>
        <p:nvSpPr>
          <p:cNvPr id="43" name="Text 41"/>
          <p:cNvSpPr/>
          <p:nvPr/>
        </p:nvSpPr>
        <p:spPr>
          <a:xfrm>
            <a:off x="320040" y="40690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>
                <a:solidFill>
                  <a:srgbClr val="0F172A"/>
                </a:solidFill>
              </a:rPr>
              <a:t>Reportes</a:t>
            </a:r>
            <a:endParaRPr lang="es-419" sz="850" noProof="0" dirty="0"/>
          </a:p>
        </p:txBody>
      </p:sp>
      <p:sp>
        <p:nvSpPr>
          <p:cNvPr id="44" name="Shape 42"/>
          <p:cNvSpPr/>
          <p:nvPr/>
        </p:nvSpPr>
        <p:spPr>
          <a:xfrm>
            <a:off x="1755648" y="356616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45" name="Text 43"/>
          <p:cNvSpPr/>
          <p:nvPr/>
        </p:nvSpPr>
        <p:spPr>
          <a:xfrm>
            <a:off x="1755648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🔒</a:t>
            </a:r>
            <a:endParaRPr lang="es-419" sz="1800" noProof="0" dirty="0"/>
          </a:p>
        </p:txBody>
      </p:sp>
      <p:sp>
        <p:nvSpPr>
          <p:cNvPr id="46" name="Text 44"/>
          <p:cNvSpPr/>
          <p:nvPr/>
        </p:nvSpPr>
        <p:spPr>
          <a:xfrm>
            <a:off x="1755648" y="40690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>
                <a:solidFill>
                  <a:srgbClr val="0F172A"/>
                </a:solidFill>
              </a:rPr>
              <a:t>Accesos</a:t>
            </a:r>
            <a:endParaRPr lang="es-419" sz="850" noProof="0" dirty="0"/>
          </a:p>
        </p:txBody>
      </p:sp>
      <p:sp>
        <p:nvSpPr>
          <p:cNvPr id="47" name="Shape 45"/>
          <p:cNvSpPr/>
          <p:nvPr/>
        </p:nvSpPr>
        <p:spPr>
          <a:xfrm>
            <a:off x="3191256" y="356616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48" name="Text 46"/>
          <p:cNvSpPr/>
          <p:nvPr/>
        </p:nvSpPr>
        <p:spPr>
          <a:xfrm>
            <a:off x="3191256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🔔</a:t>
            </a:r>
            <a:endParaRPr lang="es-419" sz="1800" noProof="0" dirty="0"/>
          </a:p>
        </p:txBody>
      </p:sp>
      <p:sp>
        <p:nvSpPr>
          <p:cNvPr id="49" name="Text 47"/>
          <p:cNvSpPr/>
          <p:nvPr/>
        </p:nvSpPr>
        <p:spPr>
          <a:xfrm>
            <a:off x="3191256" y="40690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>
                <a:solidFill>
                  <a:srgbClr val="0F172A"/>
                </a:solidFill>
              </a:rPr>
              <a:t>Notif. Email</a:t>
            </a:r>
            <a:endParaRPr lang="es-419" sz="850" noProof="0" dirty="0"/>
          </a:p>
        </p:txBody>
      </p:sp>
      <p:sp>
        <p:nvSpPr>
          <p:cNvPr id="50" name="Shape 48"/>
          <p:cNvSpPr/>
          <p:nvPr/>
        </p:nvSpPr>
        <p:spPr>
          <a:xfrm>
            <a:off x="4626864" y="356616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51" name="Text 49"/>
          <p:cNvSpPr/>
          <p:nvPr/>
        </p:nvSpPr>
        <p:spPr>
          <a:xfrm>
            <a:off x="4626864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📊</a:t>
            </a:r>
            <a:endParaRPr lang="es-419" sz="1800" noProof="0" dirty="0"/>
          </a:p>
        </p:txBody>
      </p:sp>
      <p:sp>
        <p:nvSpPr>
          <p:cNvPr id="52" name="Text 50"/>
          <p:cNvSpPr/>
          <p:nvPr/>
        </p:nvSpPr>
        <p:spPr>
          <a:xfrm>
            <a:off x="4626864" y="40690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 err="1">
                <a:solidFill>
                  <a:srgbClr val="0F172A"/>
                </a:solidFill>
              </a:rPr>
              <a:t>KPIs</a:t>
            </a:r>
            <a:r>
              <a:rPr lang="es-419" sz="850" b="1" noProof="0" dirty="0">
                <a:solidFill>
                  <a:srgbClr val="0F172A"/>
                </a:solidFill>
              </a:rPr>
              <a:t> </a:t>
            </a:r>
            <a:r>
              <a:rPr lang="es-419" sz="850" b="1" noProof="0" dirty="0" err="1">
                <a:solidFill>
                  <a:srgbClr val="0F172A"/>
                </a:solidFill>
              </a:rPr>
              <a:t>Dashboard</a:t>
            </a:r>
            <a:endParaRPr lang="es-419" sz="850" noProof="0" dirty="0"/>
          </a:p>
        </p:txBody>
      </p:sp>
      <p:sp>
        <p:nvSpPr>
          <p:cNvPr id="53" name="Shape 51"/>
          <p:cNvSpPr/>
          <p:nvPr/>
        </p:nvSpPr>
        <p:spPr>
          <a:xfrm>
            <a:off x="6062472" y="356616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54" name="Text 52"/>
          <p:cNvSpPr/>
          <p:nvPr/>
        </p:nvSpPr>
        <p:spPr>
          <a:xfrm>
            <a:off x="6062472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🔗</a:t>
            </a:r>
            <a:endParaRPr lang="es-419" sz="1800" noProof="0" dirty="0"/>
          </a:p>
        </p:txBody>
      </p:sp>
      <p:sp>
        <p:nvSpPr>
          <p:cNvPr id="55" name="Text 53"/>
          <p:cNvSpPr/>
          <p:nvPr/>
        </p:nvSpPr>
        <p:spPr>
          <a:xfrm>
            <a:off x="6062472" y="40690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>
                <a:solidFill>
                  <a:srgbClr val="0F172A"/>
                </a:solidFill>
              </a:rPr>
              <a:t>Vinculación Auto</a:t>
            </a:r>
            <a:endParaRPr lang="es-419" sz="850" noProof="0" dirty="0"/>
          </a:p>
        </p:txBody>
      </p:sp>
      <p:sp>
        <p:nvSpPr>
          <p:cNvPr id="56" name="Shape 54"/>
          <p:cNvSpPr/>
          <p:nvPr/>
        </p:nvSpPr>
        <p:spPr>
          <a:xfrm>
            <a:off x="7498080" y="3566160"/>
            <a:ext cx="13258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57" name="Text 55"/>
          <p:cNvSpPr/>
          <p:nvPr/>
        </p:nvSpPr>
        <p:spPr>
          <a:xfrm>
            <a:off x="7498080" y="365760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800" noProof="0" dirty="0">
                <a:solidFill>
                  <a:srgbClr val="000000"/>
                </a:solidFill>
              </a:rPr>
              <a:t>☁️</a:t>
            </a:r>
            <a:endParaRPr lang="es-419" sz="1800" noProof="0" dirty="0"/>
          </a:p>
        </p:txBody>
      </p:sp>
      <p:sp>
        <p:nvSpPr>
          <p:cNvPr id="58" name="Text 56"/>
          <p:cNvSpPr/>
          <p:nvPr/>
        </p:nvSpPr>
        <p:spPr>
          <a:xfrm>
            <a:off x="7498080" y="40690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850" b="1" noProof="0" dirty="0">
                <a:solidFill>
                  <a:srgbClr val="0F172A"/>
                </a:solidFill>
              </a:rPr>
              <a:t>Offline </a:t>
            </a:r>
            <a:r>
              <a:rPr lang="es-419" sz="850" b="1" noProof="0" dirty="0" err="1">
                <a:solidFill>
                  <a:srgbClr val="0F172A"/>
                </a:solidFill>
              </a:rPr>
              <a:t>Sync</a:t>
            </a:r>
            <a:endParaRPr lang="es-419" sz="850" noProof="0" dirty="0"/>
          </a:p>
        </p:txBody>
      </p:sp>
      <p:sp>
        <p:nvSpPr>
          <p:cNvPr id="59" name="Text 57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kern="0" spc="300" noProof="0" dirty="0">
                <a:solidFill>
                  <a:srgbClr val="2563EB"/>
                </a:solidFill>
              </a:rPr>
              <a:t>MÓDULOS</a:t>
            </a:r>
            <a:endParaRPr lang="es-419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200" b="1" noProof="0" dirty="0">
                <a:solidFill>
                  <a:srgbClr val="FFFFFF"/>
                </a:solidFill>
              </a:rPr>
              <a:t>Proyectos &amp; Tickets </a:t>
            </a:r>
            <a:endParaRPr lang="es-419" sz="22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2336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2563EB"/>
                </a:solidFill>
              </a:rPr>
              <a:t>📁  PROYECTOS</a:t>
            </a:r>
            <a:endParaRPr lang="es-419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Tarjetas con estatus, prioridad y tipo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Filtro </a:t>
            </a:r>
            <a:r>
              <a:rPr lang="es-419" sz="1050" noProof="0" dirty="0" err="1">
                <a:solidFill>
                  <a:srgbClr val="1E293B"/>
                </a:solidFill>
              </a:rPr>
              <a:t>multi-estado</a:t>
            </a:r>
            <a:r>
              <a:rPr lang="es-419" sz="1050" noProof="0" dirty="0">
                <a:solidFill>
                  <a:srgbClr val="1E293B"/>
                </a:solidFill>
              </a:rPr>
              <a:t> simultáneo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Ficha detalle con presupuesto inicial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</a:t>
            </a:r>
            <a:r>
              <a:rPr lang="es-419" sz="1050" noProof="0" dirty="0" err="1">
                <a:solidFill>
                  <a:srgbClr val="1E293B"/>
                </a:solidFill>
              </a:rPr>
              <a:t>KPIs</a:t>
            </a:r>
            <a:r>
              <a:rPr lang="es-419" sz="1050" noProof="0" dirty="0">
                <a:solidFill>
                  <a:srgbClr val="1E293B"/>
                </a:solidFill>
              </a:rPr>
              <a:t>: Total, Con/Sin Ticket, Completados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Cancelación en cascada desde Tickets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Vinculación automática con Tickets</a:t>
            </a:r>
            <a:endParaRPr lang="es-419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489204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0D9488"/>
                </a:solidFill>
              </a:rPr>
              <a:t>🎫  TICKETS</a:t>
            </a:r>
            <a:endParaRPr lang="es-419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Folio libre — el </a:t>
            </a:r>
            <a:r>
              <a:rPr lang="es-419" sz="1050" noProof="0" dirty="0" err="1">
                <a:solidFill>
                  <a:srgbClr val="1E293B"/>
                </a:solidFill>
              </a:rPr>
              <a:t>admin</a:t>
            </a:r>
            <a:r>
              <a:rPr lang="es-419" sz="1050" noProof="0" dirty="0">
                <a:solidFill>
                  <a:srgbClr val="1E293B"/>
                </a:solidFill>
              </a:rPr>
              <a:t> escribe el folio completo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Compatible con registros históricos (TMAS-2026-002, etc.)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Tipo, proveedor, asignación y plan </a:t>
            </a:r>
            <a:r>
              <a:rPr lang="es-419" sz="1050" noProof="0" dirty="0" err="1">
                <a:solidFill>
                  <a:srgbClr val="1E293B"/>
                </a:solidFill>
              </a:rPr>
              <a:t>financ</a:t>
            </a:r>
            <a:r>
              <a:rPr lang="es-419" sz="1050" noProof="0" dirty="0">
                <a:solidFill>
                  <a:srgbClr val="1E293B"/>
                </a:solidFill>
              </a:rPr>
              <a:t>.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Presupuesto en MXN por ticket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Estatus: Aprobado / Cancelado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Crear Proyecto automáticamente al crear ticket</a:t>
            </a:r>
            <a:endParaRPr lang="es-419" sz="1050" noProof="0" dirty="0"/>
          </a:p>
        </p:txBody>
      </p:sp>
      <p:sp>
        <p:nvSpPr>
          <p:cNvPr id="14" name="Text 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kern="0" spc="300" noProof="0" dirty="0">
                <a:solidFill>
                  <a:srgbClr val="2563EB"/>
                </a:solidFill>
              </a:rPr>
              <a:t>NUEVA FUNCIÓN</a:t>
            </a:r>
            <a:endParaRPr lang="es-419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200" b="1" noProof="0" dirty="0">
                <a:solidFill>
                  <a:srgbClr val="FFFFFF"/>
                </a:solidFill>
              </a:rPr>
              <a:t>Ticket → Proyecto Automático</a:t>
            </a:r>
            <a:endParaRPr lang="es-419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100" noProof="0" dirty="0">
                <a:solidFill>
                  <a:srgbClr val="475569"/>
                </a:solidFill>
              </a:rPr>
              <a:t>Al crear un ticket, el sistema puede crear y vincular el proyecto en un solo paso</a:t>
            </a:r>
            <a:endParaRPr lang="es-419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/>
          <p:cNvSpPr/>
          <p:nvPr/>
        </p:nvSpPr>
        <p:spPr>
          <a:xfrm>
            <a:off x="1051560" y="15544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Text 7"/>
          <p:cNvSpPr/>
          <p:nvPr/>
        </p:nvSpPr>
        <p:spPr>
          <a:xfrm>
            <a:off x="105156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100" b="1" noProof="0" dirty="0">
                <a:solidFill>
                  <a:srgbClr val="FFFFFF"/>
                </a:solidFill>
              </a:rPr>
              <a:t>01</a:t>
            </a:r>
            <a:endParaRPr lang="es-419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36576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200" b="1" noProof="0" dirty="0">
                <a:solidFill>
                  <a:srgbClr val="0F172A"/>
                </a:solidFill>
              </a:rPr>
              <a:t>Crear Ticket</a:t>
            </a:r>
            <a:endParaRPr lang="es-419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Llenas folio, tipo, colegio, presupuesto…</a:t>
            </a:r>
            <a:endParaRPr lang="es-419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2331720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400" noProof="0" dirty="0">
                <a:solidFill>
                  <a:srgbClr val="94A3B8"/>
                </a:solidFill>
              </a:rPr>
              <a:t>→</a:t>
            </a:r>
            <a:endParaRPr lang="es-419" sz="1400" noProof="0" dirty="0"/>
          </a:p>
        </p:txBody>
      </p:sp>
      <p:sp>
        <p:nvSpPr>
          <p:cNvPr id="13" name="Shape 11"/>
          <p:cNvSpPr/>
          <p:nvPr/>
        </p:nvSpPr>
        <p:spPr>
          <a:xfrm>
            <a:off x="2514600" y="146304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4" name="Shape 12"/>
          <p:cNvSpPr/>
          <p:nvPr/>
        </p:nvSpPr>
        <p:spPr>
          <a:xfrm>
            <a:off x="3200400" y="15544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5" name="Text 13"/>
          <p:cNvSpPr/>
          <p:nvPr/>
        </p:nvSpPr>
        <p:spPr>
          <a:xfrm>
            <a:off x="32004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100" b="1" noProof="0" dirty="0">
                <a:solidFill>
                  <a:srgbClr val="FFFFFF"/>
                </a:solidFill>
              </a:rPr>
              <a:t>02</a:t>
            </a:r>
            <a:endParaRPr lang="es-419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251460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200" b="1" noProof="0" dirty="0">
                <a:solidFill>
                  <a:srgbClr val="0F172A"/>
                </a:solidFill>
              </a:rPr>
              <a:t>Activar </a:t>
            </a:r>
            <a:r>
              <a:rPr lang="es-419" sz="1200" b="1" noProof="0" dirty="0" err="1">
                <a:solidFill>
                  <a:srgbClr val="0F172A"/>
                </a:solidFill>
              </a:rPr>
              <a:t>Toggle</a:t>
            </a:r>
            <a:endParaRPr lang="es-419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2606040" y="248716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Das clic en "Crear Proyecto automáticamente"</a:t>
            </a:r>
            <a:endParaRPr lang="es-419" sz="1000" noProof="0" dirty="0"/>
          </a:p>
        </p:txBody>
      </p:sp>
      <p:sp>
        <p:nvSpPr>
          <p:cNvPr id="18" name="Text 16"/>
          <p:cNvSpPr/>
          <p:nvPr/>
        </p:nvSpPr>
        <p:spPr>
          <a:xfrm>
            <a:off x="4480560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400" noProof="0" dirty="0">
                <a:solidFill>
                  <a:srgbClr val="94A3B8"/>
                </a:solidFill>
              </a:rPr>
              <a:t>→</a:t>
            </a:r>
            <a:endParaRPr lang="es-419" sz="1400" noProof="0" dirty="0"/>
          </a:p>
        </p:txBody>
      </p:sp>
      <p:sp>
        <p:nvSpPr>
          <p:cNvPr id="19" name="Shape 17"/>
          <p:cNvSpPr/>
          <p:nvPr/>
        </p:nvSpPr>
        <p:spPr>
          <a:xfrm>
            <a:off x="4663440" y="146304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0" name="Shape 18"/>
          <p:cNvSpPr/>
          <p:nvPr/>
        </p:nvSpPr>
        <p:spPr>
          <a:xfrm>
            <a:off x="5349240" y="15544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1" name="Text 19"/>
          <p:cNvSpPr/>
          <p:nvPr/>
        </p:nvSpPr>
        <p:spPr>
          <a:xfrm>
            <a:off x="53492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100" b="1" noProof="0" dirty="0">
                <a:solidFill>
                  <a:srgbClr val="FFFFFF"/>
                </a:solidFill>
              </a:rPr>
              <a:t>03</a:t>
            </a:r>
            <a:endParaRPr lang="es-419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466344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200" b="1" noProof="0" dirty="0">
                <a:solidFill>
                  <a:srgbClr val="0F172A"/>
                </a:solidFill>
              </a:rPr>
              <a:t>Nombre del Proyecto</a:t>
            </a:r>
            <a:endParaRPr lang="es-419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4754880" y="248716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Escribes el nombre — lo demás se </a:t>
            </a:r>
            <a:r>
              <a:rPr lang="es-419" sz="1000" noProof="0" dirty="0" err="1">
                <a:solidFill>
                  <a:srgbClr val="475569"/>
                </a:solidFill>
              </a:rPr>
              <a:t>auto-llena</a:t>
            </a:r>
            <a:endParaRPr lang="es-419" sz="1000" noProof="0" dirty="0"/>
          </a:p>
        </p:txBody>
      </p:sp>
      <p:sp>
        <p:nvSpPr>
          <p:cNvPr id="24" name="Text 22"/>
          <p:cNvSpPr/>
          <p:nvPr/>
        </p:nvSpPr>
        <p:spPr>
          <a:xfrm>
            <a:off x="6629400" y="22402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400" noProof="0" dirty="0">
                <a:solidFill>
                  <a:srgbClr val="94A3B8"/>
                </a:solidFill>
              </a:rPr>
              <a:t>→</a:t>
            </a:r>
            <a:endParaRPr lang="es-419" sz="1400" noProof="0" dirty="0"/>
          </a:p>
        </p:txBody>
      </p:sp>
      <p:sp>
        <p:nvSpPr>
          <p:cNvPr id="25" name="Shape 23"/>
          <p:cNvSpPr/>
          <p:nvPr/>
        </p:nvSpPr>
        <p:spPr>
          <a:xfrm>
            <a:off x="6812280" y="1463040"/>
            <a:ext cx="1920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6" name="Shape 24"/>
          <p:cNvSpPr/>
          <p:nvPr/>
        </p:nvSpPr>
        <p:spPr>
          <a:xfrm>
            <a:off x="7498080" y="155448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7" name="Text 25"/>
          <p:cNvSpPr/>
          <p:nvPr/>
        </p:nvSpPr>
        <p:spPr>
          <a:xfrm>
            <a:off x="7498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100" b="1" noProof="0" dirty="0">
                <a:solidFill>
                  <a:srgbClr val="FFFFFF"/>
                </a:solidFill>
              </a:rPr>
              <a:t>04</a:t>
            </a:r>
            <a:endParaRPr lang="es-419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6812280" y="2148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200" b="1" noProof="0" dirty="0">
                <a:solidFill>
                  <a:srgbClr val="0F172A"/>
                </a:solidFill>
              </a:rPr>
              <a:t>Guardar</a:t>
            </a:r>
            <a:endParaRPr lang="es-419" sz="1200" noProof="0" dirty="0"/>
          </a:p>
        </p:txBody>
      </p:sp>
      <p:sp>
        <p:nvSpPr>
          <p:cNvPr id="29" name="Text 27"/>
          <p:cNvSpPr/>
          <p:nvPr/>
        </p:nvSpPr>
        <p:spPr>
          <a:xfrm>
            <a:off x="6903720" y="2487168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Se crea el ticket Y el proyecto vinculado de golpe</a:t>
            </a:r>
            <a:endParaRPr lang="es-419" sz="1000" noProof="0" dirty="0"/>
          </a:p>
        </p:txBody>
      </p:sp>
      <p:sp>
        <p:nvSpPr>
          <p:cNvPr id="30" name="Shape 28"/>
          <p:cNvSpPr/>
          <p:nvPr/>
        </p:nvSpPr>
        <p:spPr>
          <a:xfrm>
            <a:off x="365760" y="3429000"/>
            <a:ext cx="8412480" cy="68580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1" name="Text 29"/>
          <p:cNvSpPr/>
          <p:nvPr/>
        </p:nvSpPr>
        <p:spPr>
          <a:xfrm>
            <a:off x="54864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00" b="1" noProof="0" dirty="0">
                <a:solidFill>
                  <a:srgbClr val="2563EB"/>
                </a:solidFill>
              </a:rPr>
              <a:t>✓  Campos que se </a:t>
            </a:r>
            <a:r>
              <a:rPr lang="es-419" sz="1000" b="1" noProof="0" dirty="0" err="1">
                <a:solidFill>
                  <a:srgbClr val="2563EB"/>
                </a:solidFill>
              </a:rPr>
              <a:t>auto-llenan</a:t>
            </a:r>
            <a:r>
              <a:rPr lang="es-419" sz="1000" b="1" noProof="0" dirty="0">
                <a:solidFill>
                  <a:srgbClr val="2563EB"/>
                </a:solidFill>
              </a:rPr>
              <a:t> del ticket al proyecto:</a:t>
            </a:r>
            <a:endParaRPr lang="es-419" sz="1000" noProof="0" dirty="0"/>
          </a:p>
        </p:txBody>
      </p:sp>
      <p:sp>
        <p:nvSpPr>
          <p:cNvPr id="32" name="Text 30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1E293B"/>
                </a:solidFill>
              </a:rPr>
              <a:t>Territorio · Colegio · ECO · Presupuesto · Tipo · Folio · Notas</a:t>
            </a:r>
            <a:endParaRPr lang="es-419" sz="1000" noProof="0" dirty="0"/>
          </a:p>
        </p:txBody>
      </p:sp>
      <p:sp>
        <p:nvSpPr>
          <p:cNvPr id="33" name="Text 3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kern="0" spc="300" noProof="0" dirty="0">
                <a:solidFill>
                  <a:srgbClr val="2563EB"/>
                </a:solidFill>
              </a:rPr>
              <a:t>NUEVA FUNCIÓN</a:t>
            </a:r>
            <a:endParaRPr lang="es-419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200" b="1" noProof="0" dirty="0">
                <a:solidFill>
                  <a:srgbClr val="FFFFFF"/>
                </a:solidFill>
              </a:rPr>
              <a:t>Presupuesto vs Costo Real</a:t>
            </a:r>
            <a:endParaRPr lang="es-419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100" noProof="0" dirty="0">
                <a:solidFill>
                  <a:srgbClr val="475569"/>
                </a:solidFill>
              </a:rPr>
              <a:t>Control financiero real: presupuesto inicial vs lo que realmente costó el proyecto</a:t>
            </a:r>
            <a:endParaRPr lang="es-419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200" noProof="0" dirty="0">
                <a:solidFill>
                  <a:srgbClr val="000000"/>
                </a:solidFill>
              </a:rPr>
              <a:t>📁</a:t>
            </a:r>
            <a:endParaRPr lang="es-419" sz="2200" noProof="0" dirty="0"/>
          </a:p>
        </p:txBody>
      </p:sp>
      <p:sp>
        <p:nvSpPr>
          <p:cNvPr id="9" name="Text 7"/>
          <p:cNvSpPr/>
          <p:nvPr/>
        </p:nvSpPr>
        <p:spPr>
          <a:xfrm>
            <a:off x="320040" y="2011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100" b="1" noProof="0" dirty="0">
                <a:solidFill>
                  <a:srgbClr val="0F172A"/>
                </a:solidFill>
              </a:rPr>
              <a:t>Crear Proyecto</a:t>
            </a:r>
            <a:endParaRPr lang="es-419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411480" y="23317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50" noProof="0" dirty="0">
                <a:solidFill>
                  <a:srgbClr val="475569"/>
                </a:solidFill>
              </a:rPr>
              <a:t>Se registra el presupuesto inicial</a:t>
            </a:r>
            <a:endParaRPr lang="es-419" sz="950" noProof="0" dirty="0"/>
          </a:p>
        </p:txBody>
      </p:sp>
      <p:sp>
        <p:nvSpPr>
          <p:cNvPr id="11" name="Text 9"/>
          <p:cNvSpPr/>
          <p:nvPr/>
        </p:nvSpPr>
        <p:spPr>
          <a:xfrm>
            <a:off x="2286000" y="2148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400" noProof="0" dirty="0">
                <a:solidFill>
                  <a:srgbClr val="94A3B8"/>
                </a:solidFill>
              </a:rPr>
              <a:t>→</a:t>
            </a:r>
            <a:endParaRPr lang="es-419" sz="1400" noProof="0" dirty="0"/>
          </a:p>
        </p:txBody>
      </p:sp>
      <p:sp>
        <p:nvSpPr>
          <p:cNvPr id="12" name="Shape 10"/>
          <p:cNvSpPr/>
          <p:nvPr/>
        </p:nvSpPr>
        <p:spPr>
          <a:xfrm>
            <a:off x="2468880" y="146304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3" name="Text 11"/>
          <p:cNvSpPr/>
          <p:nvPr/>
        </p:nvSpPr>
        <p:spPr>
          <a:xfrm>
            <a:off x="246888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200" noProof="0" dirty="0">
                <a:solidFill>
                  <a:srgbClr val="000000"/>
                </a:solidFill>
              </a:rPr>
              <a:t>⚙️</a:t>
            </a:r>
            <a:endParaRPr lang="es-419" sz="2200" noProof="0" dirty="0"/>
          </a:p>
        </p:txBody>
      </p:sp>
      <p:sp>
        <p:nvSpPr>
          <p:cNvPr id="14" name="Text 12"/>
          <p:cNvSpPr/>
          <p:nvPr/>
        </p:nvSpPr>
        <p:spPr>
          <a:xfrm>
            <a:off x="2468880" y="2011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100" b="1" noProof="0" dirty="0">
                <a:solidFill>
                  <a:srgbClr val="0F172A"/>
                </a:solidFill>
              </a:rPr>
              <a:t>En Ejecución</a:t>
            </a:r>
            <a:endParaRPr lang="es-419" sz="1100" noProof="0" dirty="0"/>
          </a:p>
        </p:txBody>
      </p:sp>
      <p:sp>
        <p:nvSpPr>
          <p:cNvPr id="15" name="Text 13"/>
          <p:cNvSpPr/>
          <p:nvPr/>
        </p:nvSpPr>
        <p:spPr>
          <a:xfrm>
            <a:off x="2560320" y="23317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50" noProof="0" dirty="0">
                <a:solidFill>
                  <a:srgbClr val="475569"/>
                </a:solidFill>
              </a:rPr>
              <a:t>El proyecto avanza en el sistema</a:t>
            </a:r>
            <a:endParaRPr lang="es-419" sz="950" noProof="0" dirty="0"/>
          </a:p>
        </p:txBody>
      </p:sp>
      <p:sp>
        <p:nvSpPr>
          <p:cNvPr id="16" name="Text 14"/>
          <p:cNvSpPr/>
          <p:nvPr/>
        </p:nvSpPr>
        <p:spPr>
          <a:xfrm>
            <a:off x="4434840" y="2148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400" noProof="0" dirty="0">
                <a:solidFill>
                  <a:srgbClr val="94A3B8"/>
                </a:solidFill>
              </a:rPr>
              <a:t>→</a:t>
            </a:r>
            <a:endParaRPr lang="es-419" sz="1400" noProof="0" dirty="0"/>
          </a:p>
        </p:txBody>
      </p:sp>
      <p:sp>
        <p:nvSpPr>
          <p:cNvPr id="17" name="Shape 15"/>
          <p:cNvSpPr/>
          <p:nvPr/>
        </p:nvSpPr>
        <p:spPr>
          <a:xfrm>
            <a:off x="4617720" y="146304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Text 16"/>
          <p:cNvSpPr/>
          <p:nvPr/>
        </p:nvSpPr>
        <p:spPr>
          <a:xfrm>
            <a:off x="461772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200" noProof="0" dirty="0">
                <a:solidFill>
                  <a:srgbClr val="000000"/>
                </a:solidFill>
              </a:rPr>
              <a:t>✅</a:t>
            </a:r>
            <a:endParaRPr lang="es-419" sz="2200" noProof="0" dirty="0"/>
          </a:p>
        </p:txBody>
      </p:sp>
      <p:sp>
        <p:nvSpPr>
          <p:cNvPr id="19" name="Text 17"/>
          <p:cNvSpPr/>
          <p:nvPr/>
        </p:nvSpPr>
        <p:spPr>
          <a:xfrm>
            <a:off x="4617720" y="2011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100" b="1" noProof="0" dirty="0">
                <a:solidFill>
                  <a:srgbClr val="0F172A"/>
                </a:solidFill>
              </a:rPr>
              <a:t>Marcar Completado</a:t>
            </a:r>
            <a:endParaRPr lang="es-419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4709160" y="23317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50" noProof="0" dirty="0">
                <a:solidFill>
                  <a:srgbClr val="475569"/>
                </a:solidFill>
              </a:rPr>
              <a:t>Aparece campo para capturar costo real</a:t>
            </a:r>
            <a:endParaRPr lang="es-419" sz="950" noProof="0" dirty="0"/>
          </a:p>
        </p:txBody>
      </p:sp>
      <p:sp>
        <p:nvSpPr>
          <p:cNvPr id="21" name="Text 19"/>
          <p:cNvSpPr/>
          <p:nvPr/>
        </p:nvSpPr>
        <p:spPr>
          <a:xfrm>
            <a:off x="6583680" y="2148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400" noProof="0" dirty="0">
                <a:solidFill>
                  <a:srgbClr val="94A3B8"/>
                </a:solidFill>
              </a:rPr>
              <a:t>→</a:t>
            </a:r>
            <a:endParaRPr lang="es-419" sz="1400" noProof="0" dirty="0"/>
          </a:p>
        </p:txBody>
      </p:sp>
      <p:sp>
        <p:nvSpPr>
          <p:cNvPr id="22" name="Shape 20"/>
          <p:cNvSpPr/>
          <p:nvPr/>
        </p:nvSpPr>
        <p:spPr>
          <a:xfrm>
            <a:off x="6766560" y="146304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3" name="Text 21"/>
          <p:cNvSpPr/>
          <p:nvPr/>
        </p:nvSpPr>
        <p:spPr>
          <a:xfrm>
            <a:off x="6766560" y="1554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200" noProof="0" dirty="0">
                <a:solidFill>
                  <a:srgbClr val="000000"/>
                </a:solidFill>
              </a:rPr>
              <a:t>📊</a:t>
            </a:r>
            <a:endParaRPr lang="es-419" sz="2200" noProof="0" dirty="0"/>
          </a:p>
        </p:txBody>
      </p:sp>
      <p:sp>
        <p:nvSpPr>
          <p:cNvPr id="24" name="Text 22"/>
          <p:cNvSpPr/>
          <p:nvPr/>
        </p:nvSpPr>
        <p:spPr>
          <a:xfrm>
            <a:off x="6766560" y="20116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100" b="1" noProof="0" dirty="0">
                <a:solidFill>
                  <a:srgbClr val="0F172A"/>
                </a:solidFill>
              </a:rPr>
              <a:t>Ver Comparativa</a:t>
            </a:r>
            <a:endParaRPr lang="es-419" sz="1100" noProof="0" dirty="0"/>
          </a:p>
        </p:txBody>
      </p:sp>
      <p:sp>
        <p:nvSpPr>
          <p:cNvPr id="25" name="Text 23"/>
          <p:cNvSpPr/>
          <p:nvPr/>
        </p:nvSpPr>
        <p:spPr>
          <a:xfrm>
            <a:off x="6858000" y="23317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50" noProof="0" dirty="0">
                <a:solidFill>
                  <a:srgbClr val="475569"/>
                </a:solidFill>
              </a:rPr>
              <a:t>Módulo muestra ahorro o sobrecosto</a:t>
            </a:r>
            <a:endParaRPr lang="es-419" sz="950" noProof="0" dirty="0"/>
          </a:p>
        </p:txBody>
      </p:sp>
      <p:sp>
        <p:nvSpPr>
          <p:cNvPr id="26" name="Shape 24"/>
          <p:cNvSpPr/>
          <p:nvPr/>
        </p:nvSpPr>
        <p:spPr>
          <a:xfrm>
            <a:off x="1188720" y="3291840"/>
            <a:ext cx="2011680" cy="1371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7" name="Text 25"/>
          <p:cNvSpPr/>
          <p:nvPr/>
        </p:nvSpPr>
        <p:spPr>
          <a:xfrm>
            <a:off x="1188720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2563EB"/>
                </a:solidFill>
              </a:rPr>
              <a:t>Presupuesto Inicial</a:t>
            </a:r>
            <a:endParaRPr lang="es-419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1188720" y="3703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200" b="1" noProof="0" dirty="0">
                <a:solidFill>
                  <a:srgbClr val="2563EB"/>
                </a:solidFill>
              </a:rPr>
              <a:t>$240,000</a:t>
            </a:r>
            <a:endParaRPr lang="es-419" sz="2200" noProof="0" dirty="0"/>
          </a:p>
        </p:txBody>
      </p:sp>
      <p:sp>
        <p:nvSpPr>
          <p:cNvPr id="29" name="Shape 27"/>
          <p:cNvSpPr/>
          <p:nvPr/>
        </p:nvSpPr>
        <p:spPr>
          <a:xfrm>
            <a:off x="3566160" y="3291840"/>
            <a:ext cx="2011680" cy="1371600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0" name="Text 28"/>
          <p:cNvSpPr/>
          <p:nvPr/>
        </p:nvSpPr>
        <p:spPr>
          <a:xfrm>
            <a:off x="3566160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EA580C"/>
                </a:solidFill>
              </a:rPr>
              <a:t>Costo Real Final</a:t>
            </a:r>
            <a:endParaRPr lang="es-419" sz="900" noProof="0" dirty="0"/>
          </a:p>
        </p:txBody>
      </p:sp>
      <p:sp>
        <p:nvSpPr>
          <p:cNvPr id="31" name="Text 29"/>
          <p:cNvSpPr/>
          <p:nvPr/>
        </p:nvSpPr>
        <p:spPr>
          <a:xfrm>
            <a:off x="3566160" y="3703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200" b="1" noProof="0" dirty="0">
                <a:solidFill>
                  <a:srgbClr val="EA580C"/>
                </a:solidFill>
              </a:rPr>
              <a:t>$215,000</a:t>
            </a:r>
            <a:endParaRPr lang="es-419" sz="2200" noProof="0" dirty="0"/>
          </a:p>
        </p:txBody>
      </p:sp>
      <p:sp>
        <p:nvSpPr>
          <p:cNvPr id="32" name="Shape 30"/>
          <p:cNvSpPr/>
          <p:nvPr/>
        </p:nvSpPr>
        <p:spPr>
          <a:xfrm>
            <a:off x="5943600" y="3291840"/>
            <a:ext cx="2011680" cy="137160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3" name="Text 31"/>
          <p:cNvSpPr/>
          <p:nvPr/>
        </p:nvSpPr>
        <p:spPr>
          <a:xfrm>
            <a:off x="5943600" y="3383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b="1" noProof="0" dirty="0">
                <a:solidFill>
                  <a:srgbClr val="16A34A"/>
                </a:solidFill>
              </a:rPr>
              <a:t>Ahorro</a:t>
            </a:r>
            <a:endParaRPr lang="es-419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5943600" y="370332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200" b="1" noProof="0" dirty="0">
                <a:solidFill>
                  <a:srgbClr val="16A34A"/>
                </a:solidFill>
              </a:rPr>
              <a:t>$25,000</a:t>
            </a:r>
            <a:endParaRPr lang="es-419" sz="2200" noProof="0" dirty="0"/>
          </a:p>
        </p:txBody>
      </p:sp>
      <p:sp>
        <p:nvSpPr>
          <p:cNvPr id="35" name="Text 33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kern="0" spc="300" noProof="0" dirty="0">
                <a:solidFill>
                  <a:srgbClr val="2563EB"/>
                </a:solidFill>
              </a:rPr>
              <a:t>MÓDULOS</a:t>
            </a:r>
            <a:endParaRPr lang="es-419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200" b="1" noProof="0" dirty="0">
                <a:solidFill>
                  <a:srgbClr val="FFFFFF"/>
                </a:solidFill>
              </a:rPr>
              <a:t>Anteproyectos &amp; Pendientes</a:t>
            </a:r>
            <a:endParaRPr lang="es-419" sz="22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23360" cy="41148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7C3AED"/>
                </a:solidFill>
              </a:rPr>
              <a:t>📐  ANTEPROYECTOS</a:t>
            </a:r>
            <a:endParaRPr lang="es-419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Fecha de solicitud y entrega estimada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Presupuesto estimado en MXN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Ruta de carpeta OneDrive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</a:t>
            </a:r>
            <a:r>
              <a:rPr lang="es-419" sz="1050" noProof="0" dirty="0" err="1">
                <a:solidFill>
                  <a:srgbClr val="1E293B"/>
                </a:solidFill>
              </a:rPr>
              <a:t>KPIs</a:t>
            </a:r>
            <a:r>
              <a:rPr lang="es-419" sz="1050" noProof="0" dirty="0">
                <a:solidFill>
                  <a:srgbClr val="1E293B"/>
                </a:solidFill>
              </a:rPr>
              <a:t>: Solicitados, Entregados, Pendientes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Presupuesto total acumulado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Vinculación con proyectos</a:t>
            </a:r>
            <a:endParaRPr lang="es-419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489204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D97706"/>
                </a:solidFill>
              </a:rPr>
              <a:t>⏳  PENDIENTES</a:t>
            </a:r>
            <a:endParaRPr lang="es-419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Registro de pendientes por colegio y proyecto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Prioridad: Alta, Media, Baja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Estatus: Pendiente, En Proceso, Completado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Responsable y asignación por pendiente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Presupuesto estimado por pendiente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Proyecto vinculado muestra nombre, no folio</a:t>
            </a:r>
            <a:endParaRPr lang="es-419" sz="1050" noProof="0" dirty="0"/>
          </a:p>
        </p:txBody>
      </p:sp>
      <p:sp>
        <p:nvSpPr>
          <p:cNvPr id="14" name="Text 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kern="0" spc="300" noProof="0" dirty="0">
                <a:solidFill>
                  <a:srgbClr val="2563EB"/>
                </a:solidFill>
              </a:rPr>
              <a:t>MÓDULOS</a:t>
            </a:r>
            <a:endParaRPr lang="es-419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200" b="1" noProof="0" dirty="0" err="1">
                <a:solidFill>
                  <a:srgbClr val="FFFFFF"/>
                </a:solidFill>
              </a:rPr>
              <a:t>Checklists</a:t>
            </a:r>
            <a:r>
              <a:rPr lang="es-419" sz="2200" b="1" noProof="0" dirty="0">
                <a:solidFill>
                  <a:srgbClr val="FFFFFF"/>
                </a:solidFill>
              </a:rPr>
              <a:t> de Inspección</a:t>
            </a:r>
            <a:endParaRPr lang="es-419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100" noProof="0" dirty="0">
                <a:solidFill>
                  <a:srgbClr val="475569"/>
                </a:solidFill>
              </a:rPr>
              <a:t>Validación visual de infraestructuras escolares con reporte PDF institucional</a:t>
            </a:r>
            <a:endParaRPr lang="es-419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600" noProof="0" dirty="0">
                <a:solidFill>
                  <a:srgbClr val="000000"/>
                </a:solidFill>
              </a:rPr>
              <a:t>🔍</a:t>
            </a:r>
            <a:endParaRPr lang="es-419" sz="2600" noProof="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200" b="1" noProof="0" dirty="0">
                <a:solidFill>
                  <a:srgbClr val="0F172A"/>
                </a:solidFill>
              </a:rPr>
              <a:t>Inspección por Ítems</a:t>
            </a:r>
            <a:endParaRPr lang="es-419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475488" y="2560320"/>
            <a:ext cx="170078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Estado individual: Bueno, Regular, Malo o Crítico. El estado general se calcula automáticamente.</a:t>
            </a:r>
            <a:endParaRPr lang="es-419" sz="1000" noProof="0" dirty="0"/>
          </a:p>
        </p:txBody>
      </p:sp>
      <p:sp>
        <p:nvSpPr>
          <p:cNvPr id="11" name="Shape 9"/>
          <p:cNvSpPr/>
          <p:nvPr/>
        </p:nvSpPr>
        <p:spPr>
          <a:xfrm>
            <a:off x="2514600" y="137160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251460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600" noProof="0" dirty="0">
                <a:solidFill>
                  <a:srgbClr val="000000"/>
                </a:solidFill>
              </a:rPr>
              <a:t>📄</a:t>
            </a:r>
            <a:endParaRPr lang="es-419" sz="2600" noProof="0" dirty="0"/>
          </a:p>
        </p:txBody>
      </p:sp>
      <p:sp>
        <p:nvSpPr>
          <p:cNvPr id="13" name="Text 11"/>
          <p:cNvSpPr/>
          <p:nvPr/>
        </p:nvSpPr>
        <p:spPr>
          <a:xfrm>
            <a:off x="251460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200" b="1" noProof="0" dirty="0">
                <a:solidFill>
                  <a:srgbClr val="0F172A"/>
                </a:solidFill>
              </a:rPr>
              <a:t>PDF Institucional</a:t>
            </a:r>
            <a:endParaRPr lang="es-419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2624328" y="2560320"/>
            <a:ext cx="170078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Reporte con logo, resumen de condiciones con </a:t>
            </a:r>
            <a:r>
              <a:rPr lang="es-419" sz="1000" noProof="0" dirty="0" err="1">
                <a:solidFill>
                  <a:srgbClr val="475569"/>
                </a:solidFill>
              </a:rPr>
              <a:t>KPIs</a:t>
            </a:r>
            <a:r>
              <a:rPr lang="es-419" sz="1000" noProof="0" dirty="0">
                <a:solidFill>
                  <a:srgbClr val="475569"/>
                </a:solidFill>
              </a:rPr>
              <a:t> y tabla de ítems inspeccionados.</a:t>
            </a:r>
            <a:endParaRPr lang="es-419" sz="1000" noProof="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6" name="Text 14"/>
          <p:cNvSpPr/>
          <p:nvPr/>
        </p:nvSpPr>
        <p:spPr>
          <a:xfrm>
            <a:off x="466344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600" noProof="0" dirty="0">
                <a:solidFill>
                  <a:srgbClr val="000000"/>
                </a:solidFill>
              </a:rPr>
              <a:t>🏫</a:t>
            </a:r>
            <a:endParaRPr lang="es-419" sz="2600" noProof="0" dirty="0"/>
          </a:p>
        </p:txBody>
      </p:sp>
      <p:sp>
        <p:nvSpPr>
          <p:cNvPr id="17" name="Text 15"/>
          <p:cNvSpPr/>
          <p:nvPr/>
        </p:nvSpPr>
        <p:spPr>
          <a:xfrm>
            <a:off x="466344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200" b="1" noProof="0" dirty="0">
                <a:solidFill>
                  <a:srgbClr val="0F172A"/>
                </a:solidFill>
              </a:rPr>
              <a:t>Multi-Colegio</a:t>
            </a:r>
            <a:endParaRPr lang="es-419" sz="1200" noProof="0" dirty="0"/>
          </a:p>
        </p:txBody>
      </p:sp>
      <p:sp>
        <p:nvSpPr>
          <p:cNvPr id="18" name="Text 16"/>
          <p:cNvSpPr/>
          <p:nvPr/>
        </p:nvSpPr>
        <p:spPr>
          <a:xfrm>
            <a:off x="4773168" y="2560320"/>
            <a:ext cx="170078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Asignación a colegio, territorio y ECO responsable. Filtros por sede.</a:t>
            </a:r>
            <a:endParaRPr lang="es-419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6812280" y="1371600"/>
            <a:ext cx="192024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0" name="Text 18"/>
          <p:cNvSpPr/>
          <p:nvPr/>
        </p:nvSpPr>
        <p:spPr>
          <a:xfrm>
            <a:off x="681228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600" noProof="0" dirty="0">
                <a:solidFill>
                  <a:srgbClr val="000000"/>
                </a:solidFill>
              </a:rPr>
              <a:t>📊</a:t>
            </a:r>
            <a:endParaRPr lang="es-419" sz="2600" noProof="0" dirty="0"/>
          </a:p>
        </p:txBody>
      </p:sp>
      <p:sp>
        <p:nvSpPr>
          <p:cNvPr id="21" name="Text 19"/>
          <p:cNvSpPr/>
          <p:nvPr/>
        </p:nvSpPr>
        <p:spPr>
          <a:xfrm>
            <a:off x="6812280" y="2103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200" b="1" noProof="0" dirty="0" err="1">
                <a:solidFill>
                  <a:srgbClr val="0F172A"/>
                </a:solidFill>
              </a:rPr>
              <a:t>Dashboard</a:t>
            </a:r>
            <a:r>
              <a:rPr lang="es-419" sz="1200" b="1" noProof="0" dirty="0">
                <a:solidFill>
                  <a:srgbClr val="0F172A"/>
                </a:solidFill>
              </a:rPr>
              <a:t> de alertas</a:t>
            </a:r>
            <a:endParaRPr lang="es-419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6922008" y="2560320"/>
            <a:ext cx="170078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Colegios con estado Crítico o Malo destacados en rojo en el </a:t>
            </a:r>
            <a:r>
              <a:rPr lang="es-419" sz="1000" noProof="0" dirty="0" err="1">
                <a:solidFill>
                  <a:srgbClr val="475569"/>
                </a:solidFill>
              </a:rPr>
              <a:t>Dashboard</a:t>
            </a:r>
            <a:r>
              <a:rPr lang="es-419" sz="1000" noProof="0" dirty="0">
                <a:solidFill>
                  <a:srgbClr val="475569"/>
                </a:solidFill>
              </a:rPr>
              <a:t>.</a:t>
            </a:r>
            <a:endParaRPr lang="es-419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kern="0" spc="300" noProof="0" dirty="0">
                <a:solidFill>
                  <a:srgbClr val="2563EB"/>
                </a:solidFill>
              </a:rPr>
              <a:t>MÓDULOS</a:t>
            </a:r>
            <a:endParaRPr lang="es-419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200" b="1" noProof="0" dirty="0">
                <a:solidFill>
                  <a:srgbClr val="FFFFFF"/>
                </a:solidFill>
              </a:rPr>
              <a:t>Calendario de Mantenimiento</a:t>
            </a:r>
            <a:endParaRPr lang="es-419" sz="22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23360" cy="4114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0D9488"/>
                </a:solidFill>
              </a:rPr>
              <a:t>📅  CALENDARIO DE MANTENIMIENTO</a:t>
            </a:r>
            <a:endParaRPr lang="es-419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24 actividades de mantenimiento preventivo precargadas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Vista mensual interactiva con colores por categoría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Actividades personalizadas agregables por </a:t>
            </a:r>
            <a:r>
              <a:rPr lang="es-419" sz="1050" noProof="0" dirty="0" err="1">
                <a:solidFill>
                  <a:srgbClr val="1E293B"/>
                </a:solidFill>
              </a:rPr>
              <a:t>admin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Vista de lista por mes con detalle de cada actividad</a:t>
            </a:r>
            <a:endParaRPr lang="es-419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489204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2563EB"/>
                </a:solidFill>
              </a:rPr>
              <a:t>🔔  NOTIFICACIONES EMAIL</a:t>
            </a:r>
            <a:endParaRPr lang="es-419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1 día antes del mantenimiento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Destinatarios configurables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Agregar a Outlook con 1 clic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Admin siempre en destinatarios principales (</a:t>
            </a:r>
            <a:r>
              <a:rPr lang="es-419" sz="1050" noProof="0" dirty="0" err="1">
                <a:solidFill>
                  <a:srgbClr val="1E293B"/>
                </a:solidFill>
              </a:rPr>
              <a:t>To</a:t>
            </a:r>
            <a:r>
              <a:rPr lang="es-419" sz="1050" noProof="0" dirty="0">
                <a:solidFill>
                  <a:srgbClr val="1E293B"/>
                </a:solidFill>
              </a:rPr>
              <a:t>)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RSVP: confirmación al </a:t>
            </a:r>
            <a:r>
              <a:rPr lang="es-419" sz="1050" noProof="0" dirty="0" err="1">
                <a:solidFill>
                  <a:srgbClr val="1E293B"/>
                </a:solidFill>
              </a:rPr>
              <a:t>admin</a:t>
            </a:r>
            <a:r>
              <a:rPr lang="es-419" sz="1050" noProof="0" dirty="0">
                <a:solidFill>
                  <a:srgbClr val="1E293B"/>
                </a:solidFill>
              </a:rPr>
              <a:t> cuando aceptan</a:t>
            </a:r>
            <a:endParaRPr lang="es-419" sz="1050" noProof="0" dirty="0"/>
          </a:p>
        </p:txBody>
      </p:sp>
      <p:sp>
        <p:nvSpPr>
          <p:cNvPr id="14" name="Text 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kern="0" spc="300" noProof="0" dirty="0">
                <a:solidFill>
                  <a:srgbClr val="2563EB"/>
                </a:solidFill>
              </a:rPr>
              <a:t>MÓDULOS</a:t>
            </a:r>
            <a:endParaRPr lang="es-419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200" b="1" noProof="0" dirty="0">
                <a:solidFill>
                  <a:srgbClr val="FFFFFF"/>
                </a:solidFill>
              </a:rPr>
              <a:t>Reportes y Exportación</a:t>
            </a:r>
            <a:endParaRPr lang="es-419" sz="22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2336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DC2626"/>
                </a:solidFill>
              </a:rPr>
              <a:t>📄  REPORTE PDF — 7 SECCIONES</a:t>
            </a:r>
            <a:endParaRPr lang="es-419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</a:t>
            </a:r>
            <a:r>
              <a:rPr lang="es-419" sz="1050" noProof="0" dirty="0" err="1">
                <a:solidFill>
                  <a:srgbClr val="1E293B"/>
                </a:solidFill>
              </a:rPr>
              <a:t>KPIs</a:t>
            </a:r>
            <a:r>
              <a:rPr lang="es-419" sz="1050" noProof="0" dirty="0">
                <a:solidFill>
                  <a:srgbClr val="1E293B"/>
                </a:solidFill>
              </a:rPr>
              <a:t> ejecutivos con cajas de color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Resumen financiero total (presupuesto + real)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Gráfica de distribución por estatus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Barras por territorio y por colegio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Detalle de Tickets con folio y montos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Proyectos activos y completados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Pendientes con estatus y presupuesto</a:t>
            </a:r>
            <a:endParaRPr lang="es-419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489204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16A34A"/>
                </a:solidFill>
              </a:rPr>
              <a:t>📊  MATRIZ EXCEL — 7 PESTAÑAS</a:t>
            </a:r>
            <a:endParaRPr lang="es-419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Resumen Ejecutivo (pestaña inicial)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📁 Proyectos completos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🎫 Registro de Tickets con montos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⏳ Pendientes detallados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📐 Anteproyectos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✅ </a:t>
            </a:r>
            <a:r>
              <a:rPr lang="es-419" sz="1050" noProof="0" dirty="0" err="1">
                <a:solidFill>
                  <a:srgbClr val="1E293B"/>
                </a:solidFill>
              </a:rPr>
              <a:t>Checklists</a:t>
            </a:r>
            <a:r>
              <a:rPr lang="es-419" sz="1050" noProof="0" dirty="0">
                <a:solidFill>
                  <a:srgbClr val="1E293B"/>
                </a:solidFill>
              </a:rPr>
              <a:t> de inspección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📩 Solicitudes de Proyecto</a:t>
            </a:r>
            <a:endParaRPr lang="es-419" sz="1050" noProof="0" dirty="0"/>
          </a:p>
        </p:txBody>
      </p:sp>
      <p:sp>
        <p:nvSpPr>
          <p:cNvPr id="14" name="Text 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kern="0" spc="300" noProof="0" dirty="0">
                <a:solidFill>
                  <a:srgbClr val="2563EB"/>
                </a:solidFill>
              </a:rPr>
              <a:t>MÓDULOS</a:t>
            </a:r>
            <a:endParaRPr lang="es-419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200" b="1" noProof="0" dirty="0" err="1">
                <a:solidFill>
                  <a:srgbClr val="FFFFFF"/>
                </a:solidFill>
              </a:rPr>
              <a:t>Dashboard</a:t>
            </a:r>
            <a:r>
              <a:rPr lang="es-419" sz="2200" b="1" noProof="0" dirty="0">
                <a:solidFill>
                  <a:srgbClr val="FFFFFF"/>
                </a:solidFill>
              </a:rPr>
              <a:t> con </a:t>
            </a:r>
            <a:r>
              <a:rPr lang="es-419" sz="2200" b="1" noProof="0" dirty="0" err="1">
                <a:solidFill>
                  <a:srgbClr val="FFFFFF"/>
                </a:solidFill>
              </a:rPr>
              <a:t>KPIs</a:t>
            </a:r>
            <a:r>
              <a:rPr lang="es-419" sz="2200" b="1" noProof="0" dirty="0">
                <a:solidFill>
                  <a:srgbClr val="FFFFFF"/>
                </a:solidFill>
              </a:rPr>
              <a:t> y Gráficas</a:t>
            </a:r>
            <a:endParaRPr lang="es-419" sz="2200" noProof="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0F172A"/>
                </a:solidFill>
              </a:rPr>
              <a:t>📊  5 </a:t>
            </a:r>
            <a:r>
              <a:rPr lang="es-419" sz="1100" b="1" noProof="0" dirty="0" err="1">
                <a:solidFill>
                  <a:srgbClr val="0F172A"/>
                </a:solidFill>
              </a:rPr>
              <a:t>KPIs</a:t>
            </a:r>
            <a:r>
              <a:rPr lang="es-419" sz="1100" b="1" noProof="0" dirty="0">
                <a:solidFill>
                  <a:srgbClr val="0F172A"/>
                </a:solidFill>
              </a:rPr>
              <a:t> en tiempo real</a:t>
            </a:r>
            <a:endParaRPr lang="es-419" sz="11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Proyectos activos, Tickets, Pendientes, Inspecciones críticas y Urgentes — todos </a:t>
            </a:r>
            <a:r>
              <a:rPr lang="es-419" sz="1000" noProof="0" dirty="0" err="1">
                <a:solidFill>
                  <a:srgbClr val="475569"/>
                </a:solidFill>
              </a:rPr>
              <a:t>clickeables</a:t>
            </a:r>
            <a:r>
              <a:rPr lang="es-419" sz="1000" noProof="0" dirty="0">
                <a:solidFill>
                  <a:srgbClr val="475569"/>
                </a:solidFill>
              </a:rPr>
              <a:t>.</a:t>
            </a:r>
            <a:endParaRPr lang="es-419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0" name="Text 8"/>
          <p:cNvSpPr/>
          <p:nvPr/>
        </p:nvSpPr>
        <p:spPr>
          <a:xfrm>
            <a:off x="3291840" y="1188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0F172A"/>
                </a:solidFill>
              </a:rPr>
              <a:t>🍩  Gráfica de dona</a:t>
            </a:r>
            <a:endParaRPr lang="es-419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3291840" y="16002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Distribución de proyectos por estatus con colores.</a:t>
            </a:r>
            <a:endParaRPr lang="es-419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5989320" y="105156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3" name="Text 11"/>
          <p:cNvSpPr/>
          <p:nvPr/>
        </p:nvSpPr>
        <p:spPr>
          <a:xfrm>
            <a:off x="6126480" y="1188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0F172A"/>
                </a:solidFill>
              </a:rPr>
              <a:t>📈  Gráfica de barras</a:t>
            </a:r>
            <a:endParaRPr lang="es-419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6126480" y="160020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Tickets por estatus de forma visual y comparativa.</a:t>
            </a:r>
            <a:endParaRPr lang="es-419" sz="1000" noProof="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0F172A"/>
                </a:solidFill>
              </a:rPr>
              <a:t>🗺️  Resumen por Territorio</a:t>
            </a:r>
            <a:endParaRPr lang="es-419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Barra de progreso por territorio con % de colegios sin alertas.</a:t>
            </a:r>
            <a:endParaRPr lang="es-419" sz="1000" noProof="0" dirty="0"/>
          </a:p>
        </p:txBody>
      </p:sp>
      <p:sp>
        <p:nvSpPr>
          <p:cNvPr id="18" name="Shape 16"/>
          <p:cNvSpPr/>
          <p:nvPr/>
        </p:nvSpPr>
        <p:spPr>
          <a:xfrm>
            <a:off x="3154680" y="292608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9" name="Text 17"/>
          <p:cNvSpPr/>
          <p:nvPr/>
        </p:nvSpPr>
        <p:spPr>
          <a:xfrm>
            <a:off x="329184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0F172A"/>
                </a:solidFill>
              </a:rPr>
              <a:t>🏫  Colegios con alertas</a:t>
            </a:r>
            <a:endParaRPr lang="es-419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3291840" y="34747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Se muestran en rojo cuando tienen proyectos urgentes o </a:t>
            </a:r>
            <a:r>
              <a:rPr lang="es-419" sz="1000" noProof="0" dirty="0" err="1">
                <a:solidFill>
                  <a:srgbClr val="475569"/>
                </a:solidFill>
              </a:rPr>
              <a:t>checklists</a:t>
            </a:r>
            <a:r>
              <a:rPr lang="es-419" sz="1000" noProof="0" dirty="0">
                <a:solidFill>
                  <a:srgbClr val="475569"/>
                </a:solidFill>
              </a:rPr>
              <a:t> críticos.</a:t>
            </a:r>
            <a:endParaRPr lang="es-419" sz="1000" noProof="0" dirty="0"/>
          </a:p>
        </p:txBody>
      </p:sp>
      <p:sp>
        <p:nvSpPr>
          <p:cNvPr id="21" name="Shape 19"/>
          <p:cNvSpPr/>
          <p:nvPr/>
        </p:nvSpPr>
        <p:spPr>
          <a:xfrm>
            <a:off x="5989320" y="2926080"/>
            <a:ext cx="26060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2" name="Text 20"/>
          <p:cNvSpPr/>
          <p:nvPr/>
        </p:nvSpPr>
        <p:spPr>
          <a:xfrm>
            <a:off x="6126480" y="3063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0F172A"/>
                </a:solidFill>
              </a:rPr>
              <a:t>⚡  </a:t>
            </a:r>
            <a:r>
              <a:rPr lang="es-419" sz="1100" b="1" noProof="0" dirty="0" err="1">
                <a:solidFill>
                  <a:srgbClr val="0F172A"/>
                </a:solidFill>
              </a:rPr>
              <a:t>Feed</a:t>
            </a:r>
            <a:r>
              <a:rPr lang="es-419" sz="1100" b="1" noProof="0" dirty="0">
                <a:solidFill>
                  <a:srgbClr val="0F172A"/>
                </a:solidFill>
              </a:rPr>
              <a:t> de actividad</a:t>
            </a:r>
            <a:endParaRPr lang="es-419" sz="1100" noProof="0" dirty="0"/>
          </a:p>
        </p:txBody>
      </p:sp>
      <p:sp>
        <p:nvSpPr>
          <p:cNvPr id="23" name="Text 21"/>
          <p:cNvSpPr/>
          <p:nvPr/>
        </p:nvSpPr>
        <p:spPr>
          <a:xfrm>
            <a:off x="6126480" y="347472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Últimos proyectos, tickets y pendientes ordenados por fecha.</a:t>
            </a:r>
            <a:endParaRPr lang="es-419" sz="1000" noProof="0" dirty="0"/>
          </a:p>
        </p:txBody>
      </p:sp>
      <p:sp>
        <p:nvSpPr>
          <p:cNvPr id="24" name="Text 2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kern="0" spc="300" noProof="0" dirty="0">
                <a:solidFill>
                  <a:srgbClr val="0D9488"/>
                </a:solidFill>
              </a:rPr>
              <a:t>MÓDULO NUEVO</a:t>
            </a:r>
            <a:endParaRPr lang="es-419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200" b="1" noProof="0" dirty="0">
                <a:solidFill>
                  <a:srgbClr val="FFFFFF"/>
                </a:solidFill>
              </a:rPr>
              <a:t>Ticket MAS — Construcciones, Mejoras y Mantenimiento</a:t>
            </a:r>
            <a:endParaRPr lang="es-419" sz="22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23360" cy="41148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0D9488"/>
                </a:solidFill>
              </a:rPr>
              <a:t>📋  FORMULARIO ESTRUCTURADO</a:t>
            </a:r>
            <a:endParaRPr lang="es-419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Datos del Solicitante: nombre, puesto, correo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Territorio → Colegio (filtrado automático)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Razón Social, Centro Gestor, Sociedad, Contador (</a:t>
            </a:r>
            <a:r>
              <a:rPr lang="es-419" sz="1050" noProof="0" dirty="0" err="1">
                <a:solidFill>
                  <a:srgbClr val="1E293B"/>
                </a:solidFill>
              </a:rPr>
              <a:t>auto-relleno</a:t>
            </a:r>
            <a:r>
              <a:rPr lang="es-419" sz="1050" noProof="0" dirty="0">
                <a:solidFill>
                  <a:srgbClr val="1E293B"/>
                </a:solidFill>
              </a:rPr>
              <a:t>)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Clasificación, Periodicidad, Tipo de Mantenimiento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Número de Activo y Orden Interna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Descripción detallada de la obra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3 Cotizaciones: Proveedor + Importe en MXN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Motivo de Selección, Financiamiento, Suplemento, Traspaso</a:t>
            </a:r>
            <a:endParaRPr lang="es-419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489204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16A34A"/>
                </a:solidFill>
              </a:rPr>
              <a:t>⚙️  CARACTERÍSTICAS CLAVE</a:t>
            </a:r>
            <a:endParaRPr lang="es-419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Folio auto: TMAS-2026-001 · Reinicio anual automático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Al llegar 2027 → TMAS-2027-001 desde cero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Selector Territorio → filtra colegios automáticamente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Estatus: Pendiente → En Revisión → Autorizado / Cancelado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Autorización con fechas de Ventanilla Única (Recepción, Inicio, Conclusión)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Cancelación con motivo obligatorio + fecha registrada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Notificaciones automáticas al solicitante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CC a </a:t>
            </a:r>
            <a:r>
              <a:rPr lang="es-419" sz="1050" noProof="0" dirty="0" err="1">
                <a:solidFill>
                  <a:srgbClr val="1E293B"/>
                </a:solidFill>
              </a:rPr>
              <a:t>arodriguez</a:t>
            </a:r>
            <a:r>
              <a:rPr lang="es-419" sz="1050" noProof="0" dirty="0">
                <a:solidFill>
                  <a:srgbClr val="1E293B"/>
                </a:solidFill>
              </a:rPr>
              <a:t>, </a:t>
            </a:r>
            <a:r>
              <a:rPr lang="es-419" sz="1050" noProof="0" dirty="0" err="1">
                <a:solidFill>
                  <a:srgbClr val="1E293B"/>
                </a:solidFill>
              </a:rPr>
              <a:t>ecastaneda</a:t>
            </a:r>
            <a:r>
              <a:rPr lang="es-419" sz="1050" noProof="0" dirty="0">
                <a:solidFill>
                  <a:srgbClr val="1E293B"/>
                </a:solidFill>
              </a:rPr>
              <a:t> y CAR de Zona (autorización y cancelación)</a:t>
            </a:r>
            <a:endParaRPr lang="es-419" sz="1050" noProof="0" dirty="0"/>
          </a:p>
        </p:txBody>
      </p:sp>
      <p:sp>
        <p:nvSpPr>
          <p:cNvPr id="14" name="Text 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kern="0" spc="300" noProof="0" dirty="0">
                <a:solidFill>
                  <a:srgbClr val="0D9488"/>
                </a:solidFill>
              </a:rPr>
              <a:t>MÓDULO NUEVO</a:t>
            </a:r>
            <a:endParaRPr lang="es-419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200" b="1" noProof="0" dirty="0">
                <a:solidFill>
                  <a:srgbClr val="FFFFFF"/>
                </a:solidFill>
              </a:rPr>
              <a:t>Ticket MAS — Flujo de Estatus y Cancelación</a:t>
            </a:r>
            <a:endParaRPr lang="es-419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475569"/>
                </a:solidFill>
              </a:rPr>
              <a:t>Flujo de Estatus:</a:t>
            </a:r>
            <a:endParaRPr lang="es-419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192024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/>
          <p:cNvSpPr/>
          <p:nvPr/>
        </p:nvSpPr>
        <p:spPr>
          <a:xfrm>
            <a:off x="429768" y="1453896"/>
            <a:ext cx="100584" cy="100584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Text 7"/>
          <p:cNvSpPr/>
          <p:nvPr/>
        </p:nvSpPr>
        <p:spPr>
          <a:xfrm>
            <a:off x="576072" y="13258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B45309"/>
                </a:solidFill>
              </a:rPr>
              <a:t>Pendiente</a:t>
            </a:r>
            <a:endParaRPr lang="es-419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2286000" y="138074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300" noProof="0" dirty="0">
                <a:solidFill>
                  <a:srgbClr val="94A3B8"/>
                </a:solidFill>
              </a:rPr>
              <a:t>→</a:t>
            </a:r>
            <a:endParaRPr lang="es-419" sz="1300" noProof="0" dirty="0"/>
          </a:p>
        </p:txBody>
      </p:sp>
      <p:sp>
        <p:nvSpPr>
          <p:cNvPr id="11" name="Shape 9"/>
          <p:cNvSpPr/>
          <p:nvPr/>
        </p:nvSpPr>
        <p:spPr>
          <a:xfrm>
            <a:off x="2468880" y="1325880"/>
            <a:ext cx="1920240" cy="34747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Shape 10"/>
          <p:cNvSpPr/>
          <p:nvPr/>
        </p:nvSpPr>
        <p:spPr>
          <a:xfrm>
            <a:off x="2578608" y="1453896"/>
            <a:ext cx="100584" cy="1005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3" name="Text 11"/>
          <p:cNvSpPr/>
          <p:nvPr/>
        </p:nvSpPr>
        <p:spPr>
          <a:xfrm>
            <a:off x="2724912" y="13258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1D4ED8"/>
                </a:solidFill>
              </a:rPr>
              <a:t>En Revisión</a:t>
            </a:r>
            <a:endParaRPr lang="es-419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4434840" y="138074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300" noProof="0" dirty="0">
                <a:solidFill>
                  <a:srgbClr val="94A3B8"/>
                </a:solidFill>
              </a:rPr>
              <a:t>→</a:t>
            </a:r>
            <a:endParaRPr lang="es-419" sz="1300" noProof="0" dirty="0"/>
          </a:p>
        </p:txBody>
      </p:sp>
      <p:sp>
        <p:nvSpPr>
          <p:cNvPr id="15" name="Shape 13"/>
          <p:cNvSpPr/>
          <p:nvPr/>
        </p:nvSpPr>
        <p:spPr>
          <a:xfrm>
            <a:off x="4617720" y="1325880"/>
            <a:ext cx="1920240" cy="34747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6" name="Shape 14"/>
          <p:cNvSpPr/>
          <p:nvPr/>
        </p:nvSpPr>
        <p:spPr>
          <a:xfrm>
            <a:off x="4727448" y="1453896"/>
            <a:ext cx="100584" cy="100584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7" name="Text 15"/>
          <p:cNvSpPr/>
          <p:nvPr/>
        </p:nvSpPr>
        <p:spPr>
          <a:xfrm>
            <a:off x="4873752" y="13258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15803D"/>
                </a:solidFill>
              </a:rPr>
              <a:t>Autorizado</a:t>
            </a:r>
            <a:endParaRPr lang="es-419" sz="1100" noProof="0" dirty="0"/>
          </a:p>
        </p:txBody>
      </p:sp>
      <p:sp>
        <p:nvSpPr>
          <p:cNvPr id="18" name="Text 16"/>
          <p:cNvSpPr/>
          <p:nvPr/>
        </p:nvSpPr>
        <p:spPr>
          <a:xfrm>
            <a:off x="6583680" y="1380744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300" noProof="0" dirty="0">
                <a:solidFill>
                  <a:srgbClr val="94A3B8"/>
                </a:solidFill>
              </a:rPr>
              <a:t>→</a:t>
            </a:r>
            <a:endParaRPr lang="es-419" sz="1300" noProof="0" dirty="0"/>
          </a:p>
        </p:txBody>
      </p:sp>
      <p:sp>
        <p:nvSpPr>
          <p:cNvPr id="19" name="Shape 17"/>
          <p:cNvSpPr/>
          <p:nvPr/>
        </p:nvSpPr>
        <p:spPr>
          <a:xfrm>
            <a:off x="6766560" y="1325880"/>
            <a:ext cx="19202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0" name="Shape 18"/>
          <p:cNvSpPr/>
          <p:nvPr/>
        </p:nvSpPr>
        <p:spPr>
          <a:xfrm>
            <a:off x="6876288" y="1453896"/>
            <a:ext cx="100584" cy="10058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1" name="Text 19"/>
          <p:cNvSpPr/>
          <p:nvPr/>
        </p:nvSpPr>
        <p:spPr>
          <a:xfrm>
            <a:off x="7022592" y="13258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475569"/>
                </a:solidFill>
              </a:rPr>
              <a:t>Cancelado</a:t>
            </a:r>
            <a:endParaRPr lang="es-419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320040" y="1874520"/>
            <a:ext cx="4114800" cy="1417320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3" name="Text 21"/>
          <p:cNvSpPr/>
          <p:nvPr/>
        </p:nvSpPr>
        <p:spPr>
          <a:xfrm>
            <a:off x="457200" y="1938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16A34A"/>
                </a:solidFill>
              </a:rPr>
              <a:t>✅  Ticket Autorizado — Cuadro Verde</a:t>
            </a:r>
            <a:endParaRPr lang="es-419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457200" y="2240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15803D"/>
                </a:solidFill>
              </a:rPr>
              <a:t>Recepción: 2026-05-11  ·  Inicio: 2026-05-12  ·  Conclusión: 2026-05-31</a:t>
            </a:r>
            <a:endParaRPr lang="es-419" sz="950" noProof="0" dirty="0"/>
          </a:p>
        </p:txBody>
      </p:sp>
      <p:sp>
        <p:nvSpPr>
          <p:cNvPr id="25" name="Text 23"/>
          <p:cNvSpPr/>
          <p:nvPr/>
        </p:nvSpPr>
        <p:spPr>
          <a:xfrm>
            <a:off x="457200" y="251460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Cuadro verde compacto mostrando las 3 fechas de Ventanilla Única.</a:t>
            </a:r>
            <a:endParaRPr lang="es-419" sz="1000" noProof="0" dirty="0"/>
          </a:p>
        </p:txBody>
      </p:sp>
      <p:sp>
        <p:nvSpPr>
          <p:cNvPr id="26" name="Shape 24"/>
          <p:cNvSpPr/>
          <p:nvPr/>
        </p:nvSpPr>
        <p:spPr>
          <a:xfrm>
            <a:off x="4709160" y="1874520"/>
            <a:ext cx="4114800" cy="566928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7" name="Text 25"/>
          <p:cNvSpPr/>
          <p:nvPr/>
        </p:nvSpPr>
        <p:spPr>
          <a:xfrm>
            <a:off x="4846320" y="1874520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noProof="0" dirty="0">
                <a:solidFill>
                  <a:srgbClr val="475569"/>
                </a:solidFill>
              </a:rPr>
              <a:t>ℹ️  Autorizado previamente  ·  Recepción: 2026-05-11  ·  Inicio: 2026-05-12</a:t>
            </a:r>
            <a:endParaRPr lang="es-419" sz="900" noProof="0" dirty="0"/>
          </a:p>
        </p:txBody>
      </p:sp>
      <p:sp>
        <p:nvSpPr>
          <p:cNvPr id="28" name="Shape 26"/>
          <p:cNvSpPr/>
          <p:nvPr/>
        </p:nvSpPr>
        <p:spPr>
          <a:xfrm>
            <a:off x="4709160" y="2487168"/>
            <a:ext cx="4114800" cy="822960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9" name="Text 27"/>
          <p:cNvSpPr/>
          <p:nvPr/>
        </p:nvSpPr>
        <p:spPr>
          <a:xfrm>
            <a:off x="4846320" y="25511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DC2626"/>
                </a:solidFill>
              </a:rPr>
              <a:t>🚫  Este ticket fue cancelado</a:t>
            </a:r>
            <a:endParaRPr lang="es-419" sz="1100" noProof="0" dirty="0"/>
          </a:p>
        </p:txBody>
      </p:sp>
      <p:sp>
        <p:nvSpPr>
          <p:cNvPr id="30" name="Text 28"/>
          <p:cNvSpPr/>
          <p:nvPr/>
        </p:nvSpPr>
        <p:spPr>
          <a:xfrm>
            <a:off x="4846320" y="28163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DC2626"/>
                </a:solidFill>
              </a:rPr>
              <a:t>Fecha: 12 de mayo de 2026   Motivo: Falta de presupuesto aprobado</a:t>
            </a:r>
            <a:endParaRPr lang="es-419" sz="950" noProof="0" dirty="0"/>
          </a:p>
        </p:txBody>
      </p:sp>
      <p:sp>
        <p:nvSpPr>
          <p:cNvPr id="31" name="Text 29"/>
          <p:cNvSpPr/>
          <p:nvPr/>
        </p:nvSpPr>
        <p:spPr>
          <a:xfrm>
            <a:off x="4709160" y="3383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i="1" noProof="0" dirty="0">
                <a:solidFill>
                  <a:srgbClr val="475569"/>
                </a:solidFill>
              </a:rPr>
              <a:t>Gris chico: datos de autorización previa · Rojo prominente: fecha de cancelación + motivo.</a:t>
            </a:r>
            <a:endParaRPr lang="es-419" sz="900" noProof="0" dirty="0"/>
          </a:p>
        </p:txBody>
      </p:sp>
      <p:sp>
        <p:nvSpPr>
          <p:cNvPr id="32" name="Shape 30"/>
          <p:cNvSpPr/>
          <p:nvPr/>
        </p:nvSpPr>
        <p:spPr>
          <a:xfrm>
            <a:off x="320040" y="3429000"/>
            <a:ext cx="850392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3" name="Text 31"/>
          <p:cNvSpPr/>
          <p:nvPr/>
        </p:nvSpPr>
        <p:spPr>
          <a:xfrm>
            <a:off x="502920" y="35021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0F172A"/>
                </a:solidFill>
              </a:rPr>
              <a:t>📧  Notificaciones Automáticas con CC — Autorización y Cancelación</a:t>
            </a:r>
            <a:endParaRPr lang="es-419" sz="1100" noProof="0" dirty="0"/>
          </a:p>
        </p:txBody>
      </p:sp>
      <p:sp>
        <p:nvSpPr>
          <p:cNvPr id="34" name="Text 32"/>
          <p:cNvSpPr/>
          <p:nvPr/>
        </p:nvSpPr>
        <p:spPr>
          <a:xfrm>
            <a:off x="502920" y="37947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0F172A"/>
                </a:solidFill>
              </a:rPr>
              <a:t>PARA: </a:t>
            </a:r>
            <a:r>
              <a:rPr lang="es-419" sz="1050" noProof="0" dirty="0">
                <a:solidFill>
                  <a:srgbClr val="2563EB"/>
                </a:solidFill>
              </a:rPr>
              <a:t>correo_solicitante@colegio.edu.mx
</a:t>
            </a:r>
            <a:r>
              <a:rPr lang="es-419" sz="1050" b="1" noProof="0" dirty="0">
                <a:solidFill>
                  <a:srgbClr val="0F172A"/>
                </a:solidFill>
              </a:rPr>
              <a:t>CC: </a:t>
            </a:r>
            <a:r>
              <a:rPr lang="es-419" sz="1050" noProof="0" dirty="0">
                <a:solidFill>
                  <a:srgbClr val="475569"/>
                </a:solidFill>
              </a:rPr>
              <a:t>arodriguez@manoamiga.edu.mx  ·  ecastaneda@manoamiga.edu.mx  ·  CAR de Zona correspondiente</a:t>
            </a:r>
            <a:endParaRPr lang="es-419" sz="1050" noProof="0" dirty="0"/>
          </a:p>
        </p:txBody>
      </p:sp>
      <p:sp>
        <p:nvSpPr>
          <p:cNvPr id="35" name="Text 33"/>
          <p:cNvSpPr/>
          <p:nvPr/>
        </p:nvSpPr>
        <p:spPr>
          <a:xfrm>
            <a:off x="50292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i="1" noProof="0" dirty="0">
                <a:solidFill>
                  <a:srgbClr val="94A3B8"/>
                </a:solidFill>
              </a:rPr>
              <a:t>Aplica tanto para correos de Autorización como de Cancelación.</a:t>
            </a:r>
            <a:endParaRPr lang="es-419" sz="900" noProof="0" dirty="0"/>
          </a:p>
        </p:txBody>
      </p:sp>
      <p:sp>
        <p:nvSpPr>
          <p:cNvPr id="36" name="Text 3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kern="0" spc="300" noProof="0" dirty="0">
                <a:solidFill>
                  <a:srgbClr val="2563EB"/>
                </a:solidFill>
              </a:rPr>
              <a:t>SISTEMA DE FOLIOS</a:t>
            </a:r>
            <a:endParaRPr lang="es-419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200" b="1" noProof="0" dirty="0">
                <a:solidFill>
                  <a:srgbClr val="FFFFFF"/>
                </a:solidFill>
              </a:rPr>
              <a:t>Formato y Generación de Folios</a:t>
            </a:r>
            <a:endParaRPr lang="es-419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100" noProof="0" dirty="0">
                <a:solidFill>
                  <a:srgbClr val="475569"/>
                </a:solidFill>
              </a:rPr>
              <a:t>Dos tipos de folio en el sistema — cada uno con su lógica de generación</a:t>
            </a:r>
            <a:endParaRPr lang="es-419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069080" cy="3291840"/>
          </a:xfrm>
          <a:prstGeom prst="rect">
            <a:avLst/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406908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16A34A"/>
                </a:solidFill>
              </a:rPr>
              <a:t>🎫  Ticket MAS  —  TMAS-YYYY-NNN</a:t>
            </a:r>
            <a:endParaRPr lang="es-419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800" b="1" noProof="0" dirty="0">
                <a:solidFill>
                  <a:srgbClr val="16A34A"/>
                </a:solidFill>
              </a:rPr>
              <a:t>TMAS-2026-001</a:t>
            </a:r>
            <a:endParaRPr lang="es-419" sz="2800" noProof="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Se genera automáticamente al enviar el ticket</a:t>
            </a:r>
            <a:endParaRPr lang="es-419" sz="105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TMAS = prefijo fijo del módulo</a:t>
            </a:r>
            <a:endParaRPr lang="es-419" sz="105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2026 = año en curso (cambia automáticamente)</a:t>
            </a:r>
            <a:endParaRPr lang="es-419" sz="105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001 = consecutivo que reinicia cada 1° de enero</a:t>
            </a:r>
            <a:endParaRPr lang="es-419" sz="105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En 2027 → TMAS-2027-001 desde cero</a:t>
            </a:r>
            <a:endParaRPr lang="es-419" sz="105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Sin intervención del usuario</a:t>
            </a:r>
            <a:endParaRPr lang="es-419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069080" cy="3291840"/>
          </a:xfrm>
          <a:prstGeom prst="rect">
            <a:avLst/>
          </a:prstGeom>
          <a:solidFill>
            <a:srgbClr val="DBEAFE"/>
          </a:solidFill>
          <a:ln w="10160">
            <a:solidFill>
              <a:srgbClr val="BFDB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3" name="Shape 11"/>
          <p:cNvSpPr/>
          <p:nvPr/>
        </p:nvSpPr>
        <p:spPr>
          <a:xfrm>
            <a:off x="4754880" y="1417320"/>
            <a:ext cx="406908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4" name="Text 12"/>
          <p:cNvSpPr/>
          <p:nvPr/>
        </p:nvSpPr>
        <p:spPr>
          <a:xfrm>
            <a:off x="489204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2563EB"/>
                </a:solidFill>
              </a:rPr>
              <a:t>🗂️  Ticket TCMM  —  Folio Libre</a:t>
            </a:r>
            <a:endParaRPr lang="es-419" sz="1100" noProof="0" dirty="0"/>
          </a:p>
        </p:txBody>
      </p:sp>
      <p:sp>
        <p:nvSpPr>
          <p:cNvPr id="15" name="Text 13"/>
          <p:cNvSpPr/>
          <p:nvPr/>
        </p:nvSpPr>
        <p:spPr>
          <a:xfrm>
            <a:off x="5212080" y="1920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800" b="1" noProof="0" dirty="0">
                <a:solidFill>
                  <a:srgbClr val="2563EB"/>
                </a:solidFill>
              </a:rPr>
              <a:t>TCMM-2026-001</a:t>
            </a:r>
            <a:endParaRPr lang="es-419" sz="2800" noProof="0" dirty="0"/>
          </a:p>
        </p:txBody>
      </p:sp>
      <p:sp>
        <p:nvSpPr>
          <p:cNvPr id="16" name="Text 14"/>
          <p:cNvSpPr/>
          <p:nvPr/>
        </p:nvSpPr>
        <p:spPr>
          <a:xfrm>
            <a:off x="4892040" y="251460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El administrador escribe el folio manualmente</a:t>
            </a:r>
            <a:endParaRPr lang="es-419" sz="105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Formato sugerido: TCMM-YYYY-NNN</a:t>
            </a:r>
            <a:endParaRPr lang="es-419" sz="105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Compatible con registros históricos (TCMM010)</a:t>
            </a:r>
            <a:endParaRPr lang="es-419" sz="105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</a:t>
            </a:r>
            <a:r>
              <a:rPr lang="es-419" sz="1050" noProof="0" dirty="0" err="1">
                <a:solidFill>
                  <a:srgbClr val="1E293B"/>
                </a:solidFill>
              </a:rPr>
              <a:t>Retrocompatible</a:t>
            </a:r>
            <a:r>
              <a:rPr lang="es-419" sz="1050" noProof="0" dirty="0">
                <a:solidFill>
                  <a:srgbClr val="1E293B"/>
                </a:solidFill>
              </a:rPr>
              <a:t> — registros existentes sin cambios</a:t>
            </a:r>
            <a:endParaRPr lang="es-419" sz="105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Libertad total: el </a:t>
            </a:r>
            <a:r>
              <a:rPr lang="es-419" sz="1050" noProof="0" dirty="0" err="1">
                <a:solidFill>
                  <a:srgbClr val="1E293B"/>
                </a:solidFill>
              </a:rPr>
              <a:t>admin</a:t>
            </a:r>
            <a:r>
              <a:rPr lang="es-419" sz="1050" noProof="0" dirty="0">
                <a:solidFill>
                  <a:srgbClr val="1E293B"/>
                </a:solidFill>
              </a:rPr>
              <a:t> define el folio</a:t>
            </a:r>
            <a:endParaRPr lang="es-419" sz="1050" noProof="0" dirty="0"/>
          </a:p>
          <a:p>
            <a:pPr marL="0" indent="0">
              <a:spcAft>
                <a:spcPts val="6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Auditoría garantizada en ambos formatos</a:t>
            </a:r>
            <a:endParaRPr lang="es-419" sz="1050" noProof="0" dirty="0"/>
          </a:p>
        </p:txBody>
      </p:sp>
      <p:sp>
        <p:nvSpPr>
          <p:cNvPr id="17" name="Text 1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kern="0" spc="300" noProof="0" dirty="0">
                <a:solidFill>
                  <a:srgbClr val="2563EB"/>
                </a:solidFill>
              </a:rPr>
              <a:t>MÓDULO ACTUALIZADO</a:t>
            </a:r>
            <a:endParaRPr lang="es-419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200" b="1" noProof="0" dirty="0">
                <a:solidFill>
                  <a:srgbClr val="FFFFFF"/>
                </a:solidFill>
              </a:rPr>
              <a:t>Protocolo de Recepción de Proyectos — 6 Fases</a:t>
            </a:r>
            <a:endParaRPr lang="es-419" sz="2200" noProof="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2743200" cy="171907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7" name="Shape 5"/>
          <p:cNvSpPr/>
          <p:nvPr/>
        </p:nvSpPr>
        <p:spPr>
          <a:xfrm>
            <a:off x="384048" y="1124712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Text 6"/>
          <p:cNvSpPr/>
          <p:nvPr/>
        </p:nvSpPr>
        <p:spPr>
          <a:xfrm>
            <a:off x="384048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100" b="1" noProof="0" dirty="0">
                <a:solidFill>
                  <a:srgbClr val="FFFFFF"/>
                </a:solidFill>
              </a:rPr>
              <a:t>01</a:t>
            </a:r>
            <a:endParaRPr lang="es-419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868680" y="112471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3B82F6"/>
                </a:solidFill>
              </a:rPr>
              <a:t>Solicitud de Proyecto</a:t>
            </a:r>
            <a:endParaRPr lang="es-419" sz="1050" noProof="0" dirty="0"/>
          </a:p>
        </p:txBody>
      </p:sp>
      <p:sp>
        <p:nvSpPr>
          <p:cNvPr id="10" name="Text 8"/>
          <p:cNvSpPr/>
          <p:nvPr/>
        </p:nvSpPr>
        <p:spPr>
          <a:xfrm>
            <a:off x="384048" y="160020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1E293B"/>
                </a:solidFill>
              </a:rPr>
              <a:t>Registro formal en el Sistema RCMA. Confirmación automática por correo. Revisión en ≤5 días hábiles.</a:t>
            </a:r>
            <a:endParaRPr lang="es-419" sz="950" noProof="0" dirty="0"/>
          </a:p>
        </p:txBody>
      </p:sp>
      <p:sp>
        <p:nvSpPr>
          <p:cNvPr id="11" name="Shape 9"/>
          <p:cNvSpPr/>
          <p:nvPr/>
        </p:nvSpPr>
        <p:spPr>
          <a:xfrm>
            <a:off x="3200400" y="1005840"/>
            <a:ext cx="2743200" cy="1719072"/>
          </a:xfrm>
          <a:prstGeom prst="rect">
            <a:avLst/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Shape 10"/>
          <p:cNvSpPr/>
          <p:nvPr/>
        </p:nvSpPr>
        <p:spPr>
          <a:xfrm>
            <a:off x="3310128" y="1124712"/>
            <a:ext cx="411480" cy="41148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3" name="Text 11"/>
          <p:cNvSpPr/>
          <p:nvPr/>
        </p:nvSpPr>
        <p:spPr>
          <a:xfrm>
            <a:off x="3310128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100" b="1" noProof="0" dirty="0">
                <a:solidFill>
                  <a:srgbClr val="FFFFFF"/>
                </a:solidFill>
              </a:rPr>
              <a:t>02</a:t>
            </a:r>
            <a:endParaRPr lang="es-419" sz="1100" noProof="0" dirty="0"/>
          </a:p>
        </p:txBody>
      </p:sp>
      <p:sp>
        <p:nvSpPr>
          <p:cNvPr id="14" name="Text 12"/>
          <p:cNvSpPr/>
          <p:nvPr/>
        </p:nvSpPr>
        <p:spPr>
          <a:xfrm>
            <a:off x="3794760" y="112471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6366F1"/>
                </a:solidFill>
              </a:rPr>
              <a:t>Reunión de Entendimiento</a:t>
            </a:r>
            <a:endParaRPr lang="es-419" sz="1050" noProof="0" dirty="0"/>
          </a:p>
        </p:txBody>
      </p:sp>
      <p:sp>
        <p:nvSpPr>
          <p:cNvPr id="15" name="Text 13"/>
          <p:cNvSpPr/>
          <p:nvPr/>
        </p:nvSpPr>
        <p:spPr>
          <a:xfrm>
            <a:off x="3310128" y="160020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1E293B"/>
                </a:solidFill>
              </a:rPr>
              <a:t>Gerencia Administrativa + CAR + Coordinación RCMA. Se validan alcances, permisos, financiamiento y estudios.</a:t>
            </a:r>
            <a:endParaRPr lang="es-419" sz="950" noProof="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743200" cy="171907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7" name="Shape 15"/>
          <p:cNvSpPr/>
          <p:nvPr/>
        </p:nvSpPr>
        <p:spPr>
          <a:xfrm>
            <a:off x="6236208" y="1124712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Text 16"/>
          <p:cNvSpPr/>
          <p:nvPr/>
        </p:nvSpPr>
        <p:spPr>
          <a:xfrm>
            <a:off x="6236208" y="1124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100" b="1" noProof="0" dirty="0">
                <a:solidFill>
                  <a:srgbClr val="FFFFFF"/>
                </a:solidFill>
              </a:rPr>
              <a:t>03</a:t>
            </a:r>
            <a:endParaRPr lang="es-419" sz="1100" noProof="0" dirty="0"/>
          </a:p>
        </p:txBody>
      </p:sp>
      <p:sp>
        <p:nvSpPr>
          <p:cNvPr id="19" name="Text 17"/>
          <p:cNvSpPr/>
          <p:nvPr/>
        </p:nvSpPr>
        <p:spPr>
          <a:xfrm>
            <a:off x="6720840" y="112471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0D9488"/>
                </a:solidFill>
              </a:rPr>
              <a:t>Cotizaciones y Tabla Comparativa</a:t>
            </a:r>
            <a:endParaRPr lang="es-419" sz="1050" noProof="0" dirty="0"/>
          </a:p>
        </p:txBody>
      </p:sp>
      <p:sp>
        <p:nvSpPr>
          <p:cNvPr id="20" name="Text 18"/>
          <p:cNvSpPr/>
          <p:nvPr/>
        </p:nvSpPr>
        <p:spPr>
          <a:xfrm>
            <a:off x="6236208" y="160020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1E293B"/>
                </a:solidFill>
              </a:rPr>
              <a:t>⭐ FASE NUEVA. Mínimo 3 cotizaciones + tabla comparativa en Excel (descargable). CC a </a:t>
            </a:r>
            <a:r>
              <a:rPr lang="es-419" sz="950" noProof="0" dirty="0" err="1">
                <a:solidFill>
                  <a:srgbClr val="1E293B"/>
                </a:solidFill>
              </a:rPr>
              <a:t>arodriguez</a:t>
            </a:r>
            <a:r>
              <a:rPr lang="es-419" sz="950" noProof="0" dirty="0">
                <a:solidFill>
                  <a:srgbClr val="1E293B"/>
                </a:solidFill>
              </a:rPr>
              <a:t>, CAR y ECO.</a:t>
            </a:r>
            <a:endParaRPr lang="es-419" sz="950" noProof="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2743200" cy="171907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2" name="Shape 20"/>
          <p:cNvSpPr/>
          <p:nvPr/>
        </p:nvSpPr>
        <p:spPr>
          <a:xfrm>
            <a:off x="384048" y="3044952"/>
            <a:ext cx="411480" cy="4114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3" name="Text 21"/>
          <p:cNvSpPr/>
          <p:nvPr/>
        </p:nvSpPr>
        <p:spPr>
          <a:xfrm>
            <a:off x="384048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100" b="1" noProof="0" dirty="0">
                <a:solidFill>
                  <a:srgbClr val="FFFFFF"/>
                </a:solidFill>
              </a:rPr>
              <a:t>04</a:t>
            </a:r>
            <a:endParaRPr lang="es-419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868680" y="304495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7C3AED"/>
                </a:solidFill>
              </a:rPr>
              <a:t>Solicitud al Equipo ECO</a:t>
            </a:r>
            <a:endParaRPr lang="es-419" sz="1050" noProof="0" dirty="0"/>
          </a:p>
        </p:txBody>
      </p:sp>
      <p:sp>
        <p:nvSpPr>
          <p:cNvPr id="25" name="Text 23"/>
          <p:cNvSpPr/>
          <p:nvPr/>
        </p:nvSpPr>
        <p:spPr>
          <a:xfrm>
            <a:off x="384048" y="352044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1E293B"/>
                </a:solidFill>
              </a:rPr>
              <a:t>Solicitud formal al equipo ECO. Análisis técnico de costos cotizados para proyectos de mantenimiento.</a:t>
            </a:r>
            <a:endParaRPr lang="es-419" sz="950" noProof="0" dirty="0"/>
          </a:p>
        </p:txBody>
      </p:sp>
      <p:sp>
        <p:nvSpPr>
          <p:cNvPr id="26" name="Shape 24"/>
          <p:cNvSpPr/>
          <p:nvPr/>
        </p:nvSpPr>
        <p:spPr>
          <a:xfrm>
            <a:off x="3200400" y="2926080"/>
            <a:ext cx="2743200" cy="1719072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7" name="Shape 25"/>
          <p:cNvSpPr/>
          <p:nvPr/>
        </p:nvSpPr>
        <p:spPr>
          <a:xfrm>
            <a:off x="3310128" y="3044952"/>
            <a:ext cx="411480" cy="41148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8" name="Text 26"/>
          <p:cNvSpPr/>
          <p:nvPr/>
        </p:nvSpPr>
        <p:spPr>
          <a:xfrm>
            <a:off x="3310128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100" b="1" noProof="0" dirty="0">
                <a:solidFill>
                  <a:srgbClr val="FFFFFF"/>
                </a:solidFill>
              </a:rPr>
              <a:t>05</a:t>
            </a:r>
            <a:endParaRPr lang="es-419" sz="1100" noProof="0" dirty="0"/>
          </a:p>
        </p:txBody>
      </p:sp>
      <p:sp>
        <p:nvSpPr>
          <p:cNvPr id="29" name="Text 27"/>
          <p:cNvSpPr/>
          <p:nvPr/>
        </p:nvSpPr>
        <p:spPr>
          <a:xfrm>
            <a:off x="3794760" y="304495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EA580C"/>
                </a:solidFill>
              </a:rPr>
              <a:t>Ticket MAS</a:t>
            </a:r>
            <a:endParaRPr lang="es-419" sz="1050" noProof="0" dirty="0"/>
          </a:p>
        </p:txBody>
      </p:sp>
      <p:sp>
        <p:nvSpPr>
          <p:cNvPr id="30" name="Text 28"/>
          <p:cNvSpPr/>
          <p:nvPr/>
        </p:nvSpPr>
        <p:spPr>
          <a:xfrm>
            <a:off x="3310128" y="352044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1E293B"/>
                </a:solidFill>
              </a:rPr>
              <a:t>Habilitado por el Coordinador de Obras. Registro en Sistema RCMA con 3 cotizaciones ya validadas.</a:t>
            </a:r>
            <a:endParaRPr lang="es-419" sz="950" noProof="0" dirty="0"/>
          </a:p>
        </p:txBody>
      </p:sp>
      <p:sp>
        <p:nvSpPr>
          <p:cNvPr id="31" name="Shape 29"/>
          <p:cNvSpPr/>
          <p:nvPr/>
        </p:nvSpPr>
        <p:spPr>
          <a:xfrm>
            <a:off x="6126480" y="2926080"/>
            <a:ext cx="2743200" cy="1719072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2" name="Shape 30"/>
          <p:cNvSpPr/>
          <p:nvPr/>
        </p:nvSpPr>
        <p:spPr>
          <a:xfrm>
            <a:off x="6236208" y="3044952"/>
            <a:ext cx="411480" cy="4114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3" name="Text 31"/>
          <p:cNvSpPr/>
          <p:nvPr/>
        </p:nvSpPr>
        <p:spPr>
          <a:xfrm>
            <a:off x="6236208" y="3044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100" b="1" noProof="0" dirty="0">
                <a:solidFill>
                  <a:srgbClr val="FFFFFF"/>
                </a:solidFill>
              </a:rPr>
              <a:t>06</a:t>
            </a:r>
            <a:endParaRPr lang="es-419" sz="1100" noProof="0" dirty="0"/>
          </a:p>
        </p:txBody>
      </p:sp>
      <p:sp>
        <p:nvSpPr>
          <p:cNvPr id="34" name="Text 32"/>
          <p:cNvSpPr/>
          <p:nvPr/>
        </p:nvSpPr>
        <p:spPr>
          <a:xfrm>
            <a:off x="6720840" y="304495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50" b="1" noProof="0" dirty="0">
                <a:solidFill>
                  <a:srgbClr val="16A34A"/>
                </a:solidFill>
              </a:rPr>
              <a:t>Autorización del Proyecto</a:t>
            </a:r>
            <a:endParaRPr lang="es-419" sz="1050" noProof="0" dirty="0"/>
          </a:p>
        </p:txBody>
      </p:sp>
      <p:sp>
        <p:nvSpPr>
          <p:cNvPr id="35" name="Text 33"/>
          <p:cNvSpPr/>
          <p:nvPr/>
        </p:nvSpPr>
        <p:spPr>
          <a:xfrm>
            <a:off x="6236208" y="3520440"/>
            <a:ext cx="254203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950" noProof="0" dirty="0">
                <a:solidFill>
                  <a:srgbClr val="1E293B"/>
                </a:solidFill>
              </a:rPr>
              <a:t>Sistema RCMA notifica a todos los involucrados. Se entregan documentos oficiales para el expediente.</a:t>
            </a:r>
            <a:endParaRPr lang="es-419" sz="950" noProof="0" dirty="0"/>
          </a:p>
        </p:txBody>
      </p:sp>
      <p:sp>
        <p:nvSpPr>
          <p:cNvPr id="36" name="Text 34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kern="0" spc="300" noProof="0" dirty="0">
                <a:solidFill>
                  <a:srgbClr val="2563EB"/>
                </a:solidFill>
              </a:rPr>
              <a:t>AUTOMATIZACIÓN</a:t>
            </a:r>
            <a:endParaRPr lang="es-419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200" b="1" noProof="0" dirty="0">
                <a:solidFill>
                  <a:srgbClr val="FFFFFF"/>
                </a:solidFill>
              </a:rPr>
              <a:t>Notificaciones por Email con CC</a:t>
            </a:r>
            <a:endParaRPr lang="es-419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000" noProof="0" dirty="0" err="1">
                <a:solidFill>
                  <a:srgbClr val="94A3B8"/>
                </a:solidFill>
              </a:rPr>
              <a:t>Supabase</a:t>
            </a:r>
            <a:r>
              <a:rPr lang="es-419" sz="1000" noProof="0" dirty="0">
                <a:solidFill>
                  <a:srgbClr val="94A3B8"/>
                </a:solidFill>
              </a:rPr>
              <a:t> Edge </a:t>
            </a:r>
            <a:r>
              <a:rPr lang="es-419" sz="1000" noProof="0" dirty="0" err="1">
                <a:solidFill>
                  <a:srgbClr val="94A3B8"/>
                </a:solidFill>
              </a:rPr>
              <a:t>Functions</a:t>
            </a:r>
            <a:r>
              <a:rPr lang="es-419" sz="1000" noProof="0" dirty="0">
                <a:solidFill>
                  <a:srgbClr val="94A3B8"/>
                </a:solidFill>
              </a:rPr>
              <a:t>  ·  SMTP Outlook 365  ·  rreyes@manoamiga.edu.mx</a:t>
            </a:r>
            <a:endParaRPr lang="es-419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Shape 6"/>
          <p:cNvSpPr/>
          <p:nvPr/>
        </p:nvSpPr>
        <p:spPr>
          <a:xfrm>
            <a:off x="429768" y="143560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Text 7"/>
          <p:cNvSpPr/>
          <p:nvPr/>
        </p:nvSpPr>
        <p:spPr>
          <a:xfrm>
            <a:off x="429768" y="1435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b="1" noProof="0" dirty="0">
                <a:solidFill>
                  <a:srgbClr val="FFFFFF"/>
                </a:solidFill>
              </a:rPr>
              <a:t>01</a:t>
            </a:r>
            <a:endParaRPr lang="es-419" sz="1000" noProof="0" dirty="0"/>
          </a:p>
        </p:txBody>
      </p:sp>
      <p:sp>
        <p:nvSpPr>
          <p:cNvPr id="10" name="Text 8"/>
          <p:cNvSpPr/>
          <p:nvPr/>
        </p:nvSpPr>
        <p:spPr>
          <a:xfrm>
            <a:off x="886968" y="14173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0F172A"/>
                </a:solidFill>
              </a:rPr>
              <a:t>Invitación de Usuario</a:t>
            </a:r>
            <a:endParaRPr lang="es-419" sz="1100" noProof="0" dirty="0"/>
          </a:p>
        </p:txBody>
      </p:sp>
      <p:sp>
        <p:nvSpPr>
          <p:cNvPr id="11" name="Text 9"/>
          <p:cNvSpPr/>
          <p:nvPr/>
        </p:nvSpPr>
        <p:spPr>
          <a:xfrm>
            <a:off x="886968" y="173736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Al agregar un nuevo usuario desde Accesos, se envía email automático con botón de activación y enlace de contraseña.</a:t>
            </a:r>
            <a:endParaRPr lang="es-419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4709160" y="132588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3" name="Shape 11"/>
          <p:cNvSpPr/>
          <p:nvPr/>
        </p:nvSpPr>
        <p:spPr>
          <a:xfrm>
            <a:off x="4818888" y="143560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4" name="Text 12"/>
          <p:cNvSpPr/>
          <p:nvPr/>
        </p:nvSpPr>
        <p:spPr>
          <a:xfrm>
            <a:off x="4818888" y="1435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b="1" noProof="0" dirty="0">
                <a:solidFill>
                  <a:srgbClr val="FFFFFF"/>
                </a:solidFill>
              </a:rPr>
              <a:t>02</a:t>
            </a:r>
            <a:endParaRPr lang="es-419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5276088" y="14173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0F172A"/>
                </a:solidFill>
              </a:rPr>
              <a:t>Nueva Solicitud Recibida</a:t>
            </a:r>
            <a:endParaRPr lang="es-419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5276088" y="173736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Cuando un colegio envía una solicitud de proyecto, el </a:t>
            </a:r>
            <a:r>
              <a:rPr lang="es-419" sz="1000" noProof="0" dirty="0" err="1">
                <a:solidFill>
                  <a:srgbClr val="475569"/>
                </a:solidFill>
              </a:rPr>
              <a:t>admin</a:t>
            </a:r>
            <a:r>
              <a:rPr lang="es-419" sz="1000" noProof="0" dirty="0">
                <a:solidFill>
                  <a:srgbClr val="475569"/>
                </a:solidFill>
              </a:rPr>
              <a:t> recibe notificación instantánea con todos los detalles.</a:t>
            </a:r>
            <a:endParaRPr lang="es-419" sz="1000" noProof="0" dirty="0"/>
          </a:p>
        </p:txBody>
      </p:sp>
      <p:sp>
        <p:nvSpPr>
          <p:cNvPr id="17" name="Shape 15"/>
          <p:cNvSpPr/>
          <p:nvPr/>
        </p:nvSpPr>
        <p:spPr>
          <a:xfrm>
            <a:off x="320040" y="2514600"/>
            <a:ext cx="4114800" cy="1051560"/>
          </a:xfrm>
          <a:prstGeom prst="rect">
            <a:avLst/>
          </a:prstGeom>
          <a:solidFill>
            <a:srgbClr val="FEFCE8"/>
          </a:solidFill>
          <a:ln w="6350">
            <a:solidFill>
              <a:srgbClr val="FDE68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8" name="Shape 16"/>
          <p:cNvSpPr/>
          <p:nvPr/>
        </p:nvSpPr>
        <p:spPr>
          <a:xfrm>
            <a:off x="429768" y="2624328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9" name="Text 17"/>
          <p:cNvSpPr/>
          <p:nvPr/>
        </p:nvSpPr>
        <p:spPr>
          <a:xfrm>
            <a:off x="429768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b="1" noProof="0" dirty="0">
                <a:solidFill>
                  <a:srgbClr val="FFFFFF"/>
                </a:solidFill>
              </a:rPr>
              <a:t>03</a:t>
            </a:r>
            <a:endParaRPr lang="es-419" sz="1000" noProof="0" dirty="0"/>
          </a:p>
        </p:txBody>
      </p:sp>
      <p:sp>
        <p:nvSpPr>
          <p:cNvPr id="20" name="Text 18"/>
          <p:cNvSpPr/>
          <p:nvPr/>
        </p:nvSpPr>
        <p:spPr>
          <a:xfrm>
            <a:off x="886968" y="26060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D97706"/>
                </a:solidFill>
              </a:rPr>
              <a:t>Ticket MAS Autorizado  ⭐ CC activo</a:t>
            </a:r>
            <a:endParaRPr lang="es-419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886968" y="29260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Correo al solicitante + CC automático a arodriguez@manoamiga.edu.mx, ecastaneda@manoamiga.edu.mx y CAR de Zona.</a:t>
            </a:r>
            <a:endParaRPr lang="es-419" sz="1000" noProof="0" dirty="0"/>
          </a:p>
        </p:txBody>
      </p:sp>
      <p:sp>
        <p:nvSpPr>
          <p:cNvPr id="22" name="Shape 20"/>
          <p:cNvSpPr/>
          <p:nvPr/>
        </p:nvSpPr>
        <p:spPr>
          <a:xfrm>
            <a:off x="4709160" y="2514600"/>
            <a:ext cx="4114800" cy="1051560"/>
          </a:xfrm>
          <a:prstGeom prst="rect">
            <a:avLst/>
          </a:prstGeom>
          <a:solidFill>
            <a:srgbClr val="FEFCE8"/>
          </a:solidFill>
          <a:ln w="6350">
            <a:solidFill>
              <a:srgbClr val="FDE68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3" name="Shape 21"/>
          <p:cNvSpPr/>
          <p:nvPr/>
        </p:nvSpPr>
        <p:spPr>
          <a:xfrm>
            <a:off x="4818888" y="2624328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4" name="Text 22"/>
          <p:cNvSpPr/>
          <p:nvPr/>
        </p:nvSpPr>
        <p:spPr>
          <a:xfrm>
            <a:off x="4818888" y="2624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b="1" noProof="0" dirty="0">
                <a:solidFill>
                  <a:srgbClr val="FFFFFF"/>
                </a:solidFill>
              </a:rPr>
              <a:t>04</a:t>
            </a:r>
            <a:endParaRPr lang="es-419" sz="1000" noProof="0" dirty="0"/>
          </a:p>
        </p:txBody>
      </p:sp>
      <p:sp>
        <p:nvSpPr>
          <p:cNvPr id="25" name="Text 23"/>
          <p:cNvSpPr/>
          <p:nvPr/>
        </p:nvSpPr>
        <p:spPr>
          <a:xfrm>
            <a:off x="5276088" y="260604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D97706"/>
                </a:solidFill>
              </a:rPr>
              <a:t>Ticket MAS Cancelado  ⭐ CC activo</a:t>
            </a:r>
            <a:endParaRPr lang="es-419" sz="1100" noProof="0" dirty="0"/>
          </a:p>
        </p:txBody>
      </p:sp>
      <p:sp>
        <p:nvSpPr>
          <p:cNvPr id="26" name="Text 24"/>
          <p:cNvSpPr/>
          <p:nvPr/>
        </p:nvSpPr>
        <p:spPr>
          <a:xfrm>
            <a:off x="5276088" y="292608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Correo al solicitante con motivo de cancelación + CC automático a </a:t>
            </a:r>
            <a:r>
              <a:rPr lang="es-419" sz="1000" noProof="0" dirty="0" err="1">
                <a:solidFill>
                  <a:srgbClr val="475569"/>
                </a:solidFill>
              </a:rPr>
              <a:t>arodriguez</a:t>
            </a:r>
            <a:r>
              <a:rPr lang="es-419" sz="1000" noProof="0" dirty="0">
                <a:solidFill>
                  <a:srgbClr val="475569"/>
                </a:solidFill>
              </a:rPr>
              <a:t>, </a:t>
            </a:r>
            <a:r>
              <a:rPr lang="es-419" sz="1000" noProof="0" dirty="0" err="1">
                <a:solidFill>
                  <a:srgbClr val="475569"/>
                </a:solidFill>
              </a:rPr>
              <a:t>ecastaneda</a:t>
            </a:r>
            <a:r>
              <a:rPr lang="es-419" sz="1000" noProof="0" dirty="0">
                <a:solidFill>
                  <a:srgbClr val="475569"/>
                </a:solidFill>
              </a:rPr>
              <a:t> y CAR de Zona.</a:t>
            </a:r>
            <a:endParaRPr lang="es-419" sz="1000" noProof="0" dirty="0"/>
          </a:p>
        </p:txBody>
      </p:sp>
      <p:sp>
        <p:nvSpPr>
          <p:cNvPr id="27" name="Shape 25"/>
          <p:cNvSpPr/>
          <p:nvPr/>
        </p:nvSpPr>
        <p:spPr>
          <a:xfrm>
            <a:off x="320040" y="370332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28" name="Shape 26"/>
          <p:cNvSpPr/>
          <p:nvPr/>
        </p:nvSpPr>
        <p:spPr>
          <a:xfrm>
            <a:off x="429768" y="381304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29" name="Text 27"/>
          <p:cNvSpPr/>
          <p:nvPr/>
        </p:nvSpPr>
        <p:spPr>
          <a:xfrm>
            <a:off x="42976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b="1" noProof="0" dirty="0">
                <a:solidFill>
                  <a:srgbClr val="FFFFFF"/>
                </a:solidFill>
              </a:rPr>
              <a:t>05</a:t>
            </a:r>
            <a:endParaRPr lang="es-419" sz="1000" noProof="0" dirty="0"/>
          </a:p>
        </p:txBody>
      </p:sp>
      <p:sp>
        <p:nvSpPr>
          <p:cNvPr id="30" name="Text 28"/>
          <p:cNvSpPr/>
          <p:nvPr/>
        </p:nvSpPr>
        <p:spPr>
          <a:xfrm>
            <a:off x="886968" y="37947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0F172A"/>
                </a:solidFill>
              </a:rPr>
              <a:t>Recordatorio de Mantenimiento</a:t>
            </a:r>
            <a:endParaRPr lang="es-419" sz="1100" noProof="0" dirty="0"/>
          </a:p>
        </p:txBody>
      </p:sp>
      <p:sp>
        <p:nvSpPr>
          <p:cNvPr id="31" name="Text 29"/>
          <p:cNvSpPr/>
          <p:nvPr/>
        </p:nvSpPr>
        <p:spPr>
          <a:xfrm>
            <a:off x="886968" y="4114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Cron </a:t>
            </a:r>
            <a:r>
              <a:rPr lang="es-419" sz="1000" noProof="0" dirty="0" err="1">
                <a:solidFill>
                  <a:srgbClr val="475569"/>
                </a:solidFill>
              </a:rPr>
              <a:t>job</a:t>
            </a:r>
            <a:r>
              <a:rPr lang="es-419" sz="1000" noProof="0" dirty="0">
                <a:solidFill>
                  <a:srgbClr val="475569"/>
                </a:solidFill>
              </a:rPr>
              <a:t> activo (7 AM MTY). Admin siempre recibe la notificación. Usuarios de Notificaciones reciben .</a:t>
            </a:r>
            <a:r>
              <a:rPr lang="es-419" sz="1000" noProof="0" dirty="0" err="1">
                <a:solidFill>
                  <a:srgbClr val="475569"/>
                </a:solidFill>
              </a:rPr>
              <a:t>ics</a:t>
            </a:r>
            <a:r>
              <a:rPr lang="es-419" sz="1000" noProof="0" dirty="0">
                <a:solidFill>
                  <a:srgbClr val="475569"/>
                </a:solidFill>
              </a:rPr>
              <a:t> para Outlook.</a:t>
            </a:r>
            <a:endParaRPr lang="es-419" sz="1000" noProof="0" dirty="0"/>
          </a:p>
        </p:txBody>
      </p:sp>
      <p:sp>
        <p:nvSpPr>
          <p:cNvPr id="32" name="Shape 30"/>
          <p:cNvSpPr/>
          <p:nvPr/>
        </p:nvSpPr>
        <p:spPr>
          <a:xfrm>
            <a:off x="4709160" y="3703320"/>
            <a:ext cx="41148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33" name="Shape 31"/>
          <p:cNvSpPr/>
          <p:nvPr/>
        </p:nvSpPr>
        <p:spPr>
          <a:xfrm>
            <a:off x="4818888" y="381304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4" name="Text 32"/>
          <p:cNvSpPr/>
          <p:nvPr/>
        </p:nvSpPr>
        <p:spPr>
          <a:xfrm>
            <a:off x="4818888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419" sz="1000" b="1" noProof="0" dirty="0">
                <a:solidFill>
                  <a:srgbClr val="FFFFFF"/>
                </a:solidFill>
              </a:rPr>
              <a:t>06</a:t>
            </a:r>
            <a:endParaRPr lang="es-419" sz="1000" noProof="0" dirty="0"/>
          </a:p>
        </p:txBody>
      </p:sp>
      <p:sp>
        <p:nvSpPr>
          <p:cNvPr id="35" name="Text 33"/>
          <p:cNvSpPr/>
          <p:nvPr/>
        </p:nvSpPr>
        <p:spPr>
          <a:xfrm>
            <a:off x="5276088" y="37947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0F172A"/>
                </a:solidFill>
              </a:rPr>
              <a:t>Confirmación de Agenda</a:t>
            </a:r>
            <a:endParaRPr lang="es-419" sz="1100" noProof="0" dirty="0"/>
          </a:p>
        </p:txBody>
      </p:sp>
      <p:sp>
        <p:nvSpPr>
          <p:cNvPr id="36" name="Text 34"/>
          <p:cNvSpPr/>
          <p:nvPr/>
        </p:nvSpPr>
        <p:spPr>
          <a:xfrm>
            <a:off x="5276088" y="4114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475569"/>
                </a:solidFill>
              </a:rPr>
              <a:t>Cuando un destinatario acepta el evento .</a:t>
            </a:r>
            <a:r>
              <a:rPr lang="es-419" sz="1000" noProof="0" dirty="0" err="1">
                <a:solidFill>
                  <a:srgbClr val="475569"/>
                </a:solidFill>
              </a:rPr>
              <a:t>ics</a:t>
            </a:r>
            <a:r>
              <a:rPr lang="es-419" sz="1000" noProof="0" dirty="0">
                <a:solidFill>
                  <a:srgbClr val="475569"/>
                </a:solidFill>
              </a:rPr>
              <a:t>, el </a:t>
            </a:r>
            <a:r>
              <a:rPr lang="es-419" sz="1000" noProof="0" dirty="0" err="1">
                <a:solidFill>
                  <a:srgbClr val="475569"/>
                </a:solidFill>
              </a:rPr>
              <a:t>admin</a:t>
            </a:r>
            <a:r>
              <a:rPr lang="es-419" sz="1000" noProof="0" dirty="0">
                <a:solidFill>
                  <a:srgbClr val="475569"/>
                </a:solidFill>
              </a:rPr>
              <a:t> recibe confirmación automática de Outlook.</a:t>
            </a:r>
            <a:endParaRPr lang="es-419" sz="1000" noProof="0" dirty="0"/>
          </a:p>
        </p:txBody>
      </p:sp>
      <p:sp>
        <p:nvSpPr>
          <p:cNvPr id="37" name="Text 3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600" b="1" noProof="0" dirty="0">
                <a:solidFill>
                  <a:srgbClr val="FFFFFF"/>
                </a:solidFill>
              </a:rPr>
              <a:t>Stack Tecnológico</a:t>
            </a:r>
            <a:endParaRPr lang="es-419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94A3B8"/>
                </a:solidFill>
              </a:rPr>
              <a:t>100% </a:t>
            </a:r>
            <a:r>
              <a:rPr lang="es-419" sz="1100" noProof="0" dirty="0" err="1">
                <a:solidFill>
                  <a:srgbClr val="94A3B8"/>
                </a:solidFill>
              </a:rPr>
              <a:t>cloud</a:t>
            </a:r>
            <a:r>
              <a:rPr lang="es-419" sz="1100" noProof="0" dirty="0">
                <a:solidFill>
                  <a:srgbClr val="94A3B8"/>
                </a:solidFill>
              </a:rPr>
              <a:t> — sin instalación — accesible desde cualquier dispositivo</a:t>
            </a:r>
            <a:endParaRPr lang="es-419" sz="1100" noProof="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517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kern="0" spc="100" noProof="0" dirty="0">
                <a:solidFill>
                  <a:srgbClr val="2563EB"/>
                </a:solidFill>
              </a:rPr>
              <a:t>FRONTEND</a:t>
            </a:r>
            <a:endParaRPr lang="es-419" sz="1100" noProof="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</a:t>
            </a:r>
            <a:r>
              <a:rPr lang="es-419" sz="1100" noProof="0" dirty="0" err="1">
                <a:solidFill>
                  <a:srgbClr val="1E293B"/>
                </a:solidFill>
              </a:rPr>
              <a:t>React</a:t>
            </a:r>
            <a:r>
              <a:rPr lang="es-419" sz="1100" noProof="0" dirty="0">
                <a:solidFill>
                  <a:srgbClr val="1E293B"/>
                </a:solidFill>
              </a:rPr>
              <a:t> 18 + Vite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</a:t>
            </a:r>
            <a:r>
              <a:rPr lang="es-419" sz="1100" noProof="0" dirty="0" err="1">
                <a:solidFill>
                  <a:srgbClr val="1E293B"/>
                </a:solidFill>
              </a:rPr>
              <a:t>TypeScript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</a:t>
            </a:r>
            <a:r>
              <a:rPr lang="es-419" sz="1100" noProof="0" dirty="0" err="1">
                <a:solidFill>
                  <a:srgbClr val="1E293B"/>
                </a:solidFill>
              </a:rPr>
              <a:t>Tailwind</a:t>
            </a:r>
            <a:r>
              <a:rPr lang="es-419" sz="1100" noProof="0" dirty="0">
                <a:solidFill>
                  <a:srgbClr val="1E293B"/>
                </a:solidFill>
              </a:rPr>
              <a:t> CSS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</a:t>
            </a:r>
            <a:r>
              <a:rPr lang="es-419" sz="1100" noProof="0" dirty="0" err="1">
                <a:solidFill>
                  <a:srgbClr val="1E293B"/>
                </a:solidFill>
              </a:rPr>
              <a:t>TanStack</a:t>
            </a:r>
            <a:r>
              <a:rPr lang="es-419" sz="1100" noProof="0" dirty="0">
                <a:solidFill>
                  <a:srgbClr val="1E293B"/>
                </a:solidFill>
              </a:rPr>
              <a:t> Query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</a:t>
            </a:r>
            <a:r>
              <a:rPr lang="es-419" sz="1100" noProof="0" dirty="0" err="1">
                <a:solidFill>
                  <a:srgbClr val="1E293B"/>
                </a:solidFill>
              </a:rPr>
              <a:t>React</a:t>
            </a:r>
            <a:r>
              <a:rPr lang="es-419" sz="1100" noProof="0" dirty="0">
                <a:solidFill>
                  <a:srgbClr val="1E293B"/>
                </a:solidFill>
              </a:rPr>
              <a:t> </a:t>
            </a:r>
            <a:r>
              <a:rPr lang="es-419" sz="1100" noProof="0" dirty="0" err="1">
                <a:solidFill>
                  <a:srgbClr val="1E293B"/>
                </a:solidFill>
              </a:rPr>
              <a:t>Router</a:t>
            </a:r>
            <a:r>
              <a:rPr lang="es-419" sz="1100" noProof="0" dirty="0">
                <a:solidFill>
                  <a:srgbClr val="1E293B"/>
                </a:solidFill>
              </a:rPr>
              <a:t> 6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</a:t>
            </a:r>
            <a:r>
              <a:rPr lang="es-419" sz="1100" noProof="0" dirty="0" err="1">
                <a:solidFill>
                  <a:srgbClr val="1E293B"/>
                </a:solidFill>
              </a:rPr>
              <a:t>PptxGenJS</a:t>
            </a:r>
            <a:r>
              <a:rPr lang="es-419" sz="1100" noProof="0" dirty="0">
                <a:solidFill>
                  <a:srgbClr val="1E293B"/>
                </a:solidFill>
              </a:rPr>
              <a:t> + </a:t>
            </a:r>
            <a:r>
              <a:rPr lang="es-419" sz="1100" noProof="0" dirty="0" err="1">
                <a:solidFill>
                  <a:srgbClr val="1E293B"/>
                </a:solidFill>
              </a:rPr>
              <a:t>jsPDF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</a:t>
            </a:r>
            <a:r>
              <a:rPr lang="es-419" sz="1100" noProof="0" dirty="0" err="1">
                <a:solidFill>
                  <a:srgbClr val="1E293B"/>
                </a:solidFill>
              </a:rPr>
              <a:t>Recharts</a:t>
            </a:r>
            <a:endParaRPr lang="es-419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517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651760" cy="38404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Text 9"/>
          <p:cNvSpPr/>
          <p:nvPr/>
        </p:nvSpPr>
        <p:spPr>
          <a:xfrm>
            <a:off x="3337560" y="10515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kern="0" spc="100" noProof="0" dirty="0">
                <a:solidFill>
                  <a:srgbClr val="0D9488"/>
                </a:solidFill>
              </a:rPr>
              <a:t>BACKEND / CLOUD</a:t>
            </a:r>
            <a:endParaRPr lang="es-419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3337560" y="150876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</a:t>
            </a:r>
            <a:r>
              <a:rPr lang="es-419" sz="1100" noProof="0" dirty="0" err="1">
                <a:solidFill>
                  <a:srgbClr val="1E293B"/>
                </a:solidFill>
              </a:rPr>
              <a:t>Supabase</a:t>
            </a:r>
            <a:r>
              <a:rPr lang="es-419" sz="1100" noProof="0" dirty="0">
                <a:solidFill>
                  <a:srgbClr val="1E293B"/>
                </a:solidFill>
              </a:rPr>
              <a:t> (PostgreSQL)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Row Level Security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Edge </a:t>
            </a:r>
            <a:r>
              <a:rPr lang="es-419" sz="1100" noProof="0" dirty="0" err="1">
                <a:solidFill>
                  <a:srgbClr val="1E293B"/>
                </a:solidFill>
              </a:rPr>
              <a:t>Functions</a:t>
            </a:r>
            <a:r>
              <a:rPr lang="es-419" sz="1100" noProof="0" dirty="0">
                <a:solidFill>
                  <a:srgbClr val="1E293B"/>
                </a:solidFill>
              </a:rPr>
              <a:t> (Deno)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</a:t>
            </a:r>
            <a:r>
              <a:rPr lang="es-419" sz="1100" noProof="0" dirty="0" err="1">
                <a:solidFill>
                  <a:srgbClr val="1E293B"/>
                </a:solidFill>
              </a:rPr>
              <a:t>Realtime</a:t>
            </a:r>
            <a:r>
              <a:rPr lang="es-419" sz="1100" noProof="0" dirty="0">
                <a:solidFill>
                  <a:srgbClr val="1E293B"/>
                </a:solidFill>
              </a:rPr>
              <a:t> </a:t>
            </a:r>
            <a:r>
              <a:rPr lang="es-419" sz="1100" noProof="0" dirty="0" err="1">
                <a:solidFill>
                  <a:srgbClr val="1E293B"/>
                </a:solidFill>
              </a:rPr>
              <a:t>Sync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Offline (</a:t>
            </a:r>
            <a:r>
              <a:rPr lang="es-419" sz="1100" noProof="0" dirty="0" err="1">
                <a:solidFill>
                  <a:srgbClr val="1E293B"/>
                </a:solidFill>
              </a:rPr>
              <a:t>IndexedDB</a:t>
            </a:r>
            <a:r>
              <a:rPr lang="es-419" sz="1100" noProof="0" dirty="0">
                <a:solidFill>
                  <a:srgbClr val="1E293B"/>
                </a:solidFill>
              </a:rPr>
              <a:t>)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SMTP Outlook 365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Microsoft Graph</a:t>
            </a:r>
            <a:endParaRPr lang="es-419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6080760" y="1051560"/>
            <a:ext cx="26517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651760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5" name="Text 13"/>
          <p:cNvSpPr/>
          <p:nvPr/>
        </p:nvSpPr>
        <p:spPr>
          <a:xfrm>
            <a:off x="6217920" y="10515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kern="0" spc="100" noProof="0" dirty="0">
                <a:solidFill>
                  <a:srgbClr val="7C3AED"/>
                </a:solidFill>
              </a:rPr>
              <a:t>INFRAESTRUCTURA</a:t>
            </a:r>
            <a:endParaRPr lang="es-419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6217920" y="1508760"/>
            <a:ext cx="2377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</a:t>
            </a:r>
            <a:r>
              <a:rPr lang="es-419" sz="1100" noProof="0" dirty="0" err="1">
                <a:solidFill>
                  <a:srgbClr val="1E293B"/>
                </a:solidFill>
              </a:rPr>
              <a:t>Vercel</a:t>
            </a:r>
            <a:r>
              <a:rPr lang="es-419" sz="1100" noProof="0" dirty="0">
                <a:solidFill>
                  <a:srgbClr val="1E293B"/>
                </a:solidFill>
              </a:rPr>
              <a:t> (</a:t>
            </a:r>
            <a:r>
              <a:rPr lang="es-419" sz="1100" noProof="0" dirty="0" err="1">
                <a:solidFill>
                  <a:srgbClr val="1E293B"/>
                </a:solidFill>
              </a:rPr>
              <a:t>Deploy</a:t>
            </a:r>
            <a:r>
              <a:rPr lang="es-419" sz="1100" noProof="0" dirty="0">
                <a:solidFill>
                  <a:srgbClr val="1E293B"/>
                </a:solidFill>
              </a:rPr>
              <a:t>)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GitHub (CI/CD)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GitHub </a:t>
            </a:r>
            <a:r>
              <a:rPr lang="es-419" sz="1100" noProof="0" dirty="0" err="1">
                <a:solidFill>
                  <a:srgbClr val="1E293B"/>
                </a:solidFill>
              </a:rPr>
              <a:t>Actions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PWA (offline)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MSAL Browser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</a:t>
            </a:r>
            <a:r>
              <a:rPr lang="es-419" sz="1100" noProof="0" dirty="0" err="1">
                <a:solidFill>
                  <a:srgbClr val="1E293B"/>
                </a:solidFill>
              </a:rPr>
              <a:t>Supabase</a:t>
            </a:r>
            <a:r>
              <a:rPr lang="es-419" sz="1100" noProof="0" dirty="0">
                <a:solidFill>
                  <a:srgbClr val="1E293B"/>
                </a:solidFill>
              </a:rPr>
              <a:t> Auth</a:t>
            </a:r>
            <a:endParaRPr lang="es-419" sz="1100" noProof="0" dirty="0"/>
          </a:p>
          <a:p>
            <a:pPr marL="0" indent="0">
              <a:spcAft>
                <a:spcPts val="800"/>
              </a:spcAft>
              <a:buNone/>
            </a:pPr>
            <a:r>
              <a:rPr lang="es-419" sz="1100" noProof="0" dirty="0">
                <a:solidFill>
                  <a:srgbClr val="1E293B"/>
                </a:solidFill>
              </a:rPr>
              <a:t>◆  </a:t>
            </a:r>
            <a:r>
              <a:rPr lang="es-419" sz="1100" noProof="0" dirty="0" err="1">
                <a:solidFill>
                  <a:srgbClr val="1E293B"/>
                </a:solidFill>
              </a:rPr>
              <a:t>Env</a:t>
            </a:r>
            <a:r>
              <a:rPr lang="es-419" sz="1100" noProof="0" dirty="0">
                <a:solidFill>
                  <a:srgbClr val="1E293B"/>
                </a:solidFill>
              </a:rPr>
              <a:t> Variables</a:t>
            </a:r>
            <a:endParaRPr lang="es-419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kern="0" spc="300" noProof="0" dirty="0">
                <a:solidFill>
                  <a:srgbClr val="2563EB"/>
                </a:solidFill>
              </a:rPr>
              <a:t>INFRAESTRUCTURA</a:t>
            </a:r>
            <a:endParaRPr lang="es-419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200" b="1" noProof="0" dirty="0" err="1">
                <a:solidFill>
                  <a:srgbClr val="FFFFFF"/>
                </a:solidFill>
              </a:rPr>
              <a:t>Vercel</a:t>
            </a:r>
            <a:r>
              <a:rPr lang="es-419" sz="2200" b="1" noProof="0" dirty="0">
                <a:solidFill>
                  <a:srgbClr val="FFFFFF"/>
                </a:solidFill>
              </a:rPr>
              <a:t>: Free vs Pro</a:t>
            </a:r>
            <a:endParaRPr lang="es-419" sz="22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233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475569"/>
                </a:solidFill>
              </a:rPr>
              <a:t>FREE  —  $0 USD/mes</a:t>
            </a:r>
            <a:endParaRPr lang="es-419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Proyectos ilimitados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100 GB de ancho de banda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</a:t>
            </a:r>
            <a:r>
              <a:rPr lang="es-419" sz="1050" noProof="0" dirty="0" err="1">
                <a:solidFill>
                  <a:srgbClr val="1E293B"/>
                </a:solidFill>
              </a:rPr>
              <a:t>Deploy</a:t>
            </a:r>
            <a:r>
              <a:rPr lang="es-419" sz="1050" noProof="0" dirty="0">
                <a:solidFill>
                  <a:srgbClr val="1E293B"/>
                </a:solidFill>
              </a:rPr>
              <a:t> automático con Git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SSL gratuito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⚠  Sin servidor propio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⚠  Sin SLA garantizado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⚠  </a:t>
            </a:r>
            <a:r>
              <a:rPr lang="es-419" sz="1050" noProof="0" dirty="0" err="1">
                <a:solidFill>
                  <a:srgbClr val="1E293B"/>
                </a:solidFill>
              </a:rPr>
              <a:t>Timeout</a:t>
            </a:r>
            <a:r>
              <a:rPr lang="es-419" sz="1050" noProof="0" dirty="0">
                <a:solidFill>
                  <a:srgbClr val="1E293B"/>
                </a:solidFill>
              </a:rPr>
              <a:t> funciones: 10s</a:t>
            </a:r>
            <a:endParaRPr lang="es-419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489204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16A34A"/>
                </a:solidFill>
              </a:rPr>
              <a:t>PRO  —  $20 USD/mes</a:t>
            </a:r>
            <a:endParaRPr lang="es-419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Proyectos ilimitados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1 TB de ancho de banda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</a:t>
            </a:r>
            <a:r>
              <a:rPr lang="es-419" sz="1050" noProof="0" dirty="0" err="1">
                <a:solidFill>
                  <a:srgbClr val="1E293B"/>
                </a:solidFill>
              </a:rPr>
              <a:t>Analytics</a:t>
            </a:r>
            <a:r>
              <a:rPr lang="es-419" sz="1050" noProof="0" dirty="0">
                <a:solidFill>
                  <a:srgbClr val="1E293B"/>
                </a:solidFill>
              </a:rPr>
              <a:t> avanzados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Funciones hasta 900s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Soporte prioritario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SLA 99.99% </a:t>
            </a:r>
            <a:r>
              <a:rPr lang="es-419" sz="1050" noProof="0" dirty="0" err="1">
                <a:solidFill>
                  <a:srgbClr val="1E293B"/>
                </a:solidFill>
              </a:rPr>
              <a:t>uptime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Protección </a:t>
            </a:r>
            <a:r>
              <a:rPr lang="es-419" sz="1050" noProof="0" dirty="0" err="1">
                <a:solidFill>
                  <a:srgbClr val="1E293B"/>
                </a:solidFill>
              </a:rPr>
              <a:t>DDoS</a:t>
            </a:r>
            <a:r>
              <a:rPr lang="es-419" sz="1050" noProof="0" dirty="0">
                <a:solidFill>
                  <a:srgbClr val="1E293B"/>
                </a:solidFill>
              </a:rPr>
              <a:t> avanzada</a:t>
            </a:r>
            <a:endParaRPr lang="es-419" sz="1050" noProof="0" dirty="0"/>
          </a:p>
        </p:txBody>
      </p:sp>
      <p:sp>
        <p:nvSpPr>
          <p:cNvPr id="14" name="Text 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kern="0" spc="300" noProof="0" dirty="0">
                <a:solidFill>
                  <a:srgbClr val="2563EB"/>
                </a:solidFill>
              </a:rPr>
              <a:t>INFRAESTRUCTURA</a:t>
            </a:r>
            <a:endParaRPr lang="es-419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200" b="1" noProof="0" dirty="0" err="1">
                <a:solidFill>
                  <a:srgbClr val="FFFFFF"/>
                </a:solidFill>
              </a:rPr>
              <a:t>Supabase</a:t>
            </a:r>
            <a:r>
              <a:rPr lang="es-419" sz="2200" b="1" noProof="0" dirty="0">
                <a:solidFill>
                  <a:srgbClr val="FFFFFF"/>
                </a:solidFill>
              </a:rPr>
              <a:t>: Free vs Pro</a:t>
            </a:r>
            <a:endParaRPr lang="es-419" sz="22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233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475569"/>
                </a:solidFill>
              </a:rPr>
              <a:t>FREE  —  $0 USD/mes</a:t>
            </a:r>
            <a:endParaRPr lang="es-419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Base de datos 500 MB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50,000 usuarios activos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Edge </a:t>
            </a:r>
            <a:r>
              <a:rPr lang="es-419" sz="1050" noProof="0" dirty="0" err="1">
                <a:solidFill>
                  <a:srgbClr val="1E293B"/>
                </a:solidFill>
              </a:rPr>
              <a:t>Functions</a:t>
            </a:r>
            <a:r>
              <a:rPr lang="es-419" sz="1050" noProof="0" dirty="0">
                <a:solidFill>
                  <a:srgbClr val="1E293B"/>
                </a:solidFill>
              </a:rPr>
              <a:t> incluidas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⚠  Storage: 1 GB (sin evidencias)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⚠  Proyecto se pausa si inactivo 7 días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⚠  Sin </a:t>
            </a:r>
            <a:r>
              <a:rPr lang="es-419" sz="1050" noProof="0" dirty="0" err="1">
                <a:solidFill>
                  <a:srgbClr val="1E293B"/>
                </a:solidFill>
              </a:rPr>
              <a:t>backups</a:t>
            </a:r>
            <a:r>
              <a:rPr lang="es-419" sz="1050" noProof="0" dirty="0">
                <a:solidFill>
                  <a:srgbClr val="1E293B"/>
                </a:solidFill>
              </a:rPr>
              <a:t> automáticos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⚠  Sin soporte técnico</a:t>
            </a:r>
            <a:endParaRPr lang="es-419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489204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16A34A"/>
                </a:solidFill>
              </a:rPr>
              <a:t>PRO  —  $25 USD/mes</a:t>
            </a:r>
            <a:endParaRPr lang="es-419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Base de datos 8 GB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Storage 100 GB (evidencias de obra)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Sin pausa por inactividad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</a:t>
            </a:r>
            <a:r>
              <a:rPr lang="es-419" sz="1050" noProof="0" dirty="0" err="1">
                <a:solidFill>
                  <a:srgbClr val="1E293B"/>
                </a:solidFill>
              </a:rPr>
              <a:t>Backups</a:t>
            </a:r>
            <a:r>
              <a:rPr lang="es-419" sz="1050" noProof="0" dirty="0">
                <a:solidFill>
                  <a:srgbClr val="1E293B"/>
                </a:solidFill>
              </a:rPr>
              <a:t> diarios automáticos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Logs y monitoreo avanzado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Soporte por email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SLA 99.9% </a:t>
            </a:r>
            <a:r>
              <a:rPr lang="es-419" sz="1050" noProof="0" dirty="0" err="1">
                <a:solidFill>
                  <a:srgbClr val="1E293B"/>
                </a:solidFill>
              </a:rPr>
              <a:t>uptime</a:t>
            </a:r>
            <a:endParaRPr lang="es-419" sz="1050" noProof="0" dirty="0"/>
          </a:p>
        </p:txBody>
      </p:sp>
      <p:sp>
        <p:nvSpPr>
          <p:cNvPr id="14" name="Text 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kern="0" spc="300" noProof="0" dirty="0">
                <a:solidFill>
                  <a:srgbClr val="2563EB"/>
                </a:solidFill>
              </a:rPr>
              <a:t>RECOMENDACIÓN</a:t>
            </a:r>
            <a:endParaRPr lang="es-419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200" b="1" noProof="0" dirty="0">
                <a:solidFill>
                  <a:srgbClr val="FFFFFF"/>
                </a:solidFill>
              </a:rPr>
              <a:t>Recomendación de Infraestructura</a:t>
            </a:r>
            <a:endParaRPr lang="es-419" sz="2200" noProof="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2336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475569"/>
                </a:solidFill>
              </a:rPr>
              <a:t>PLAN FREE  —  $0/mes  (Situación actual)</a:t>
            </a:r>
            <a:endParaRPr lang="es-419" sz="1100" noProof="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Sin costo mensual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</a:t>
            </a:r>
            <a:r>
              <a:rPr lang="es-419" sz="1050" noProof="0" dirty="0" err="1">
                <a:solidFill>
                  <a:srgbClr val="1E293B"/>
                </a:solidFill>
              </a:rPr>
              <a:t>Deploy</a:t>
            </a:r>
            <a:r>
              <a:rPr lang="es-419" sz="1050" noProof="0" dirty="0">
                <a:solidFill>
                  <a:srgbClr val="1E293B"/>
                </a:solidFill>
              </a:rPr>
              <a:t> automático en cada </a:t>
            </a:r>
            <a:r>
              <a:rPr lang="es-419" sz="1050" noProof="0" dirty="0" err="1">
                <a:solidFill>
                  <a:srgbClr val="1E293B"/>
                </a:solidFill>
              </a:rPr>
              <a:t>push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500MB DB — suficiente para uso actual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⚠  Proyecto se pausa si hay inactividad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⚠  Sin almacenamiento de evidencias fotográficas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⚠  Sin </a:t>
            </a:r>
            <a:r>
              <a:rPr lang="es-419" sz="1050" noProof="0" dirty="0" err="1">
                <a:solidFill>
                  <a:srgbClr val="1E293B"/>
                </a:solidFill>
              </a:rPr>
              <a:t>backups</a:t>
            </a:r>
            <a:r>
              <a:rPr lang="es-419" sz="1050" noProof="0" dirty="0">
                <a:solidFill>
                  <a:srgbClr val="1E293B"/>
                </a:solidFill>
              </a:rPr>
              <a:t> automáticos</a:t>
            </a:r>
            <a:endParaRPr lang="es-419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4892040" y="10515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100" b="1" noProof="0" dirty="0">
                <a:solidFill>
                  <a:srgbClr val="16A34A"/>
                </a:solidFill>
              </a:rPr>
              <a:t>PLAN PRO  —  $45 USD/mes  (Recomendado)</a:t>
            </a:r>
            <a:endParaRPr lang="es-419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4892040" y="1554480"/>
            <a:ext cx="3749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Sin pausas por inactividad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Almacenamiento evidencias fotográficas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</a:t>
            </a:r>
            <a:r>
              <a:rPr lang="es-419" sz="1050" noProof="0" dirty="0" err="1">
                <a:solidFill>
                  <a:srgbClr val="1E293B"/>
                </a:solidFill>
              </a:rPr>
              <a:t>Backups</a:t>
            </a:r>
            <a:r>
              <a:rPr lang="es-419" sz="1050" noProof="0" dirty="0">
                <a:solidFill>
                  <a:srgbClr val="1E293B"/>
                </a:solidFill>
              </a:rPr>
              <a:t> diarios automáticos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SLA 99.9% </a:t>
            </a:r>
            <a:r>
              <a:rPr lang="es-419" sz="1050" noProof="0" dirty="0" err="1">
                <a:solidFill>
                  <a:srgbClr val="1E293B"/>
                </a:solidFill>
              </a:rPr>
              <a:t>uptime</a:t>
            </a:r>
            <a:r>
              <a:rPr lang="es-419" sz="1050" noProof="0" dirty="0">
                <a:solidFill>
                  <a:srgbClr val="1E293B"/>
                </a:solidFill>
              </a:rPr>
              <a:t> garantizado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</a:t>
            </a:r>
            <a:r>
              <a:rPr lang="es-419" sz="1050" noProof="0" dirty="0" err="1">
                <a:solidFill>
                  <a:srgbClr val="1E293B"/>
                </a:solidFill>
              </a:rPr>
              <a:t>Analytics</a:t>
            </a:r>
            <a:r>
              <a:rPr lang="es-419" sz="1050" noProof="0" dirty="0">
                <a:solidFill>
                  <a:srgbClr val="1E293B"/>
                </a:solidFill>
              </a:rPr>
              <a:t> y monitoreo avanzado</a:t>
            </a:r>
            <a:endParaRPr lang="es-419" sz="1050" noProof="0" dirty="0"/>
          </a:p>
          <a:p>
            <a:pPr marL="0" indent="0">
              <a:spcAft>
                <a:spcPts val="500"/>
              </a:spcAft>
              <a:buNone/>
            </a:pPr>
            <a:r>
              <a:rPr lang="es-419" sz="1050" noProof="0" dirty="0">
                <a:solidFill>
                  <a:srgbClr val="1E293B"/>
                </a:solidFill>
              </a:rPr>
              <a:t>✓  ✓  Soporte técnico prioritario</a:t>
            </a:r>
            <a:endParaRPr lang="es-419" sz="1050" noProof="0" dirty="0"/>
          </a:p>
        </p:txBody>
      </p:sp>
      <p:sp>
        <p:nvSpPr>
          <p:cNvPr id="14" name="Shape 12"/>
          <p:cNvSpPr/>
          <p:nvPr/>
        </p:nvSpPr>
        <p:spPr>
          <a:xfrm>
            <a:off x="365760" y="4206240"/>
            <a:ext cx="8412480" cy="640080"/>
          </a:xfrm>
          <a:prstGeom prst="rect">
            <a:avLst/>
          </a:prstGeom>
          <a:solidFill>
            <a:srgbClr val="FEF3C7"/>
          </a:solidFill>
          <a:ln w="635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15" name="Text 13"/>
          <p:cNvSpPr/>
          <p:nvPr/>
        </p:nvSpPr>
        <p:spPr>
          <a:xfrm>
            <a:off x="548640" y="42336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00" b="1" noProof="0" dirty="0">
                <a:solidFill>
                  <a:srgbClr val="D97706"/>
                </a:solidFill>
              </a:rPr>
              <a:t>💡  Recomendación:</a:t>
            </a:r>
            <a:endParaRPr lang="es-419" sz="1000" noProof="0" dirty="0"/>
          </a:p>
        </p:txBody>
      </p:sp>
      <p:sp>
        <p:nvSpPr>
          <p:cNvPr id="16" name="Text 14"/>
          <p:cNvSpPr/>
          <p:nvPr/>
        </p:nvSpPr>
        <p:spPr>
          <a:xfrm>
            <a:off x="2103120" y="423367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1E293B"/>
                </a:solidFill>
              </a:rPr>
              <a:t>Iniciar con Plan Free para validar el uso. Migrar a Pro cuando se apruebe el presupuesto o se requiera almacenamiento de evidencias fotográficas.</a:t>
            </a:r>
            <a:endParaRPr lang="es-419" sz="1000" noProof="0" dirty="0"/>
          </a:p>
        </p:txBody>
      </p:sp>
      <p:sp>
        <p:nvSpPr>
          <p:cNvPr id="17" name="Text 15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400" b="1" noProof="0" dirty="0">
                <a:solidFill>
                  <a:srgbClr val="FFFFFF"/>
                </a:solidFill>
              </a:rPr>
              <a:t>Valor del Sistema &amp; Cotización</a:t>
            </a:r>
            <a:endParaRPr lang="es-419" sz="24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000" noProof="0" dirty="0">
                <a:solidFill>
                  <a:srgbClr val="94A3B8"/>
                </a:solidFill>
              </a:rPr>
              <a:t>Estimación a tarifa de desarrollo senior LATAM (~$100 USD/</a:t>
            </a:r>
            <a:r>
              <a:rPr lang="es-419" sz="1000" noProof="0" dirty="0" err="1">
                <a:solidFill>
                  <a:srgbClr val="94A3B8"/>
                </a:solidFill>
              </a:rPr>
              <a:t>hr</a:t>
            </a:r>
            <a:r>
              <a:rPr lang="es-419" sz="1000" noProof="0" dirty="0">
                <a:solidFill>
                  <a:srgbClr val="94A3B8"/>
                </a:solidFill>
              </a:rPr>
              <a:t>)</a:t>
            </a:r>
            <a:endParaRPr lang="es-419" sz="1000" noProof="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400" b="1" noProof="0" dirty="0">
                <a:solidFill>
                  <a:srgbClr val="2563EB"/>
                </a:solidFill>
              </a:rPr>
              <a:t>$35,400</a:t>
            </a:r>
            <a:endParaRPr lang="es-419" sz="2400" noProof="0" dirty="0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2563EB"/>
                </a:solidFill>
              </a:rPr>
              <a:t>USD costo de desarrollo</a:t>
            </a:r>
          </a:p>
          <a:p>
            <a:pPr marL="0" indent="0" algn="ctr">
              <a:buNone/>
            </a:pPr>
            <a:r>
              <a:rPr lang="es-419" sz="1000" noProof="0" dirty="0">
                <a:solidFill>
                  <a:srgbClr val="2563EB"/>
                </a:solidFill>
              </a:rPr>
              <a:t>(Donativo)</a:t>
            </a:r>
            <a:endParaRPr lang="es-419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1005840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9" name="Text 7"/>
          <p:cNvSpPr/>
          <p:nvPr/>
        </p:nvSpPr>
        <p:spPr>
          <a:xfrm>
            <a:off x="320040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400" b="1" noProof="0" dirty="0">
                <a:solidFill>
                  <a:srgbClr val="0D9488"/>
                </a:solidFill>
              </a:rPr>
              <a:t>~$708,000</a:t>
            </a:r>
            <a:endParaRPr lang="es-419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320040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0D9488"/>
                </a:solidFill>
              </a:rPr>
              <a:t>MXN valor estimado</a:t>
            </a:r>
          </a:p>
          <a:p>
            <a:pPr marL="0" indent="0" algn="ctr">
              <a:buNone/>
            </a:pPr>
            <a:r>
              <a:rPr lang="es-419" sz="1000" dirty="0">
                <a:solidFill>
                  <a:srgbClr val="0D9488"/>
                </a:solidFill>
              </a:rPr>
              <a:t>(Donativo)</a:t>
            </a:r>
            <a:endParaRPr lang="es-419" sz="1000" noProof="0" dirty="0"/>
          </a:p>
        </p:txBody>
      </p:sp>
      <p:sp>
        <p:nvSpPr>
          <p:cNvPr id="11" name="Shape 9"/>
          <p:cNvSpPr/>
          <p:nvPr/>
        </p:nvSpPr>
        <p:spPr>
          <a:xfrm>
            <a:off x="6080760" y="1005840"/>
            <a:ext cx="265176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2" name="Text 10"/>
          <p:cNvSpPr/>
          <p:nvPr/>
        </p:nvSpPr>
        <p:spPr>
          <a:xfrm>
            <a:off x="6080760" y="1097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2400" b="1" noProof="0" dirty="0">
                <a:solidFill>
                  <a:srgbClr val="16A34A"/>
                </a:solidFill>
              </a:rPr>
              <a:t>$45 USD</a:t>
            </a:r>
            <a:endParaRPr lang="es-419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6080760" y="1554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000" noProof="0" dirty="0">
                <a:solidFill>
                  <a:srgbClr val="16A34A"/>
                </a:solidFill>
              </a:rPr>
              <a:t>Operación mensual (Pro)</a:t>
            </a:r>
            <a:endParaRPr lang="es-419" sz="1000" noProof="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947368"/>
              </p:ext>
            </p:extLst>
          </p:nvPr>
        </p:nvGraphicFramePr>
        <p:xfrm>
          <a:off x="320040" y="2103120"/>
          <a:ext cx="8503920" cy="2725420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5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419" sz="1000" b="1" noProof="0" dirty="0">
                          <a:solidFill>
                            <a:srgbClr val="FFFFFF"/>
                          </a:solidFill>
                        </a:rPr>
                        <a:t>COMPONENTE</a:t>
                      </a:r>
                      <a:endParaRPr lang="es-419" sz="100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1000" b="1" noProof="0" dirty="0">
                          <a:solidFill>
                            <a:srgbClr val="FFFFFF"/>
                          </a:solidFill>
                        </a:rPr>
                        <a:t>HORAS</a:t>
                      </a:r>
                      <a:endParaRPr lang="es-419" sz="100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1000" b="1" noProof="0" dirty="0">
                          <a:solidFill>
                            <a:srgbClr val="FFFFFF"/>
                          </a:solidFill>
                        </a:rPr>
                        <a:t>COSTO USD</a:t>
                      </a:r>
                      <a:endParaRPr lang="es-419" sz="100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18 Módulos 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Frontend</a:t>
                      </a: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 (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React</a:t>
                      </a: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/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TypeScript</a:t>
                      </a: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) — incl. Ticket MAS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200 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hrs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$20,000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Backend</a:t>
                      </a: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 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Supabase</a:t>
                      </a: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 + Edge 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Functions</a:t>
                      </a: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 + CC Emails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45 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hrs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$4,500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Reportes PDF + Excel ejecutivos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25 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hrs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$2,500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Autenticación + Roles + Permisos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20 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hrs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$2,000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Modo Offline (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IndexedDB</a:t>
                      </a: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 + PWA)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18 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hrs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$1,800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Notificaciones Email + 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iCal</a:t>
                      </a: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 + CC automático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18 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hrs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$1,800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Protocolo 6 Fases + Lineamientos Word + Sistema de Folios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12 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hrs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$1,200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GitHub 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Actions</a:t>
                      </a: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 + CI/CD + 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Deploy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10 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hrs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$1,000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QA, Pruebas y Ajustes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16 </a:t>
                      </a:r>
                      <a:r>
                        <a:rPr lang="es-419" sz="950" noProof="0" dirty="0" err="1">
                          <a:solidFill>
                            <a:srgbClr val="1E293B"/>
                          </a:solidFill>
                        </a:rPr>
                        <a:t>hrs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950" noProof="0" dirty="0">
                          <a:solidFill>
                            <a:srgbClr val="1E293B"/>
                          </a:solidFill>
                        </a:rPr>
                        <a:t>$1,600</a:t>
                      </a:r>
                      <a:endParaRPr lang="es-419" sz="95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52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419" sz="1000" b="1" noProof="0" dirty="0">
                          <a:solidFill>
                            <a:srgbClr val="2563EB"/>
                          </a:solidFill>
                        </a:rPr>
                        <a:t>TOTAL</a:t>
                      </a:r>
                      <a:endParaRPr lang="es-419" sz="100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1000" b="1" noProof="0" dirty="0">
                          <a:solidFill>
                            <a:srgbClr val="2563EB"/>
                          </a:solidFill>
                        </a:rPr>
                        <a:t>364 </a:t>
                      </a:r>
                      <a:r>
                        <a:rPr lang="es-419" sz="1000" b="1" noProof="0" dirty="0" err="1">
                          <a:solidFill>
                            <a:srgbClr val="2563EB"/>
                          </a:solidFill>
                        </a:rPr>
                        <a:t>hrs</a:t>
                      </a:r>
                      <a:endParaRPr lang="es-419" sz="100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419" sz="1000" b="1" noProof="0" dirty="0">
                          <a:solidFill>
                            <a:srgbClr val="2563EB"/>
                          </a:solidFill>
                        </a:rPr>
                        <a:t>$35,400</a:t>
                      </a:r>
                      <a:endParaRPr lang="es-419" sz="1000" noProof="0" dirty="0"/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09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900" b="1" kern="0" spc="300" noProof="0" dirty="0">
                <a:solidFill>
                  <a:srgbClr val="2563EB"/>
                </a:solidFill>
              </a:rPr>
              <a:t>ROI</a:t>
            </a:r>
            <a:endParaRPr lang="es-419" sz="900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3474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2200" b="1" noProof="0" dirty="0">
                <a:solidFill>
                  <a:srgbClr val="FFFFFF"/>
                </a:solidFill>
              </a:rPr>
              <a:t>Retorno de Inversión</a:t>
            </a:r>
            <a:endParaRPr lang="es-419" sz="2200" noProof="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7" name="Text 5"/>
          <p:cNvSpPr/>
          <p:nvPr/>
        </p:nvSpPr>
        <p:spPr>
          <a:xfrm>
            <a:off x="502920" y="12161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200" b="1" noProof="0" dirty="0">
                <a:solidFill>
                  <a:srgbClr val="0F172A"/>
                </a:solidFill>
              </a:rPr>
              <a:t>💰  Desarrollo </a:t>
            </a:r>
            <a:r>
              <a:rPr lang="es-419" sz="1200" b="1" dirty="0">
                <a:solidFill>
                  <a:srgbClr val="0F172A"/>
                </a:solidFill>
              </a:rPr>
              <a:t>Donado</a:t>
            </a:r>
            <a:endParaRPr lang="es-419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475569"/>
                </a:solidFill>
              </a:rPr>
              <a:t>Sin licencias anuales recurrentes. El código es 100% propiedad de Mano Amiga. Cero pagos a terceros por el sistema.</a:t>
            </a:r>
            <a:endParaRPr lang="es-419" sz="1100" noProof="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0" name="Text 8"/>
          <p:cNvSpPr/>
          <p:nvPr/>
        </p:nvSpPr>
        <p:spPr>
          <a:xfrm>
            <a:off x="4892040" y="12161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200" b="1" noProof="0" dirty="0">
                <a:solidFill>
                  <a:srgbClr val="0F172A"/>
                </a:solidFill>
              </a:rPr>
              <a:t>☁️  Infraestructura mínima</a:t>
            </a:r>
            <a:endParaRPr lang="es-419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4892040" y="1600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475569"/>
                </a:solidFill>
              </a:rPr>
              <a:t>$45 USD/mes en Plan Pro — menos que cualquier plataforma de gestión de obras del mercado (</a:t>
            </a:r>
            <a:r>
              <a:rPr lang="es-419" sz="1100" noProof="0" dirty="0" err="1">
                <a:solidFill>
                  <a:srgbClr val="475569"/>
                </a:solidFill>
              </a:rPr>
              <a:t>Procore</a:t>
            </a:r>
            <a:r>
              <a:rPr lang="es-419" sz="1100" noProof="0" dirty="0">
                <a:solidFill>
                  <a:srgbClr val="475569"/>
                </a:solidFill>
              </a:rPr>
              <a:t>: $375+/mes).</a:t>
            </a:r>
            <a:endParaRPr lang="es-419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320040" y="292608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3" name="Text 11"/>
          <p:cNvSpPr/>
          <p:nvPr/>
        </p:nvSpPr>
        <p:spPr>
          <a:xfrm>
            <a:off x="502920" y="30906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200" b="1" noProof="0" dirty="0">
                <a:solidFill>
                  <a:srgbClr val="0F172A"/>
                </a:solidFill>
              </a:rPr>
              <a:t>⏱️  Ahorro de tiempo real</a:t>
            </a:r>
            <a:endParaRPr lang="es-419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502920" y="34747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475569"/>
                </a:solidFill>
              </a:rPr>
              <a:t>Eliminación de horas semanales armando reportes manualmente. El PDF ejecutivo se genera en 1 clic con datos en tiempo real.</a:t>
            </a:r>
            <a:endParaRPr lang="es-419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4709160" y="292608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419" noProof="0" dirty="0"/>
          </a:p>
        </p:txBody>
      </p:sp>
      <p:sp>
        <p:nvSpPr>
          <p:cNvPr id="16" name="Text 14"/>
          <p:cNvSpPr/>
          <p:nvPr/>
        </p:nvSpPr>
        <p:spPr>
          <a:xfrm>
            <a:off x="4892040" y="30906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419" sz="1200" b="1" noProof="0" dirty="0">
                <a:solidFill>
                  <a:srgbClr val="0F172A"/>
                </a:solidFill>
              </a:rPr>
              <a:t>📊  Visibilidad que no existía</a:t>
            </a:r>
            <a:endParaRPr lang="es-419" sz="1200" noProof="0" dirty="0"/>
          </a:p>
        </p:txBody>
      </p:sp>
      <p:sp>
        <p:nvSpPr>
          <p:cNvPr id="17" name="Text 15"/>
          <p:cNvSpPr/>
          <p:nvPr/>
        </p:nvSpPr>
        <p:spPr>
          <a:xfrm>
            <a:off x="4892040" y="34747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419" sz="1100" noProof="0" dirty="0">
                <a:solidFill>
                  <a:srgbClr val="475569"/>
                </a:solidFill>
              </a:rPr>
              <a:t>Directivos y gerentes ven el estado de 20 colegios, 2 oficinas (FMA) y proyectos especiales (FMA), 18+ módulos activos y todos los tickets desde cualquier dispositivo.</a:t>
            </a:r>
            <a:endParaRPr lang="es-419" sz="1100" noProof="0" dirty="0"/>
          </a:p>
        </p:txBody>
      </p:sp>
      <p:sp>
        <p:nvSpPr>
          <p:cNvPr id="18" name="Text 16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900" noProof="0" dirty="0">
                <a:solidFill>
                  <a:srgbClr val="94A3B8"/>
                </a:solidFill>
              </a:rPr>
              <a:t>Sistema RCMA  ·  Colegios Mano Amiga  ·  2026</a:t>
            </a:r>
            <a:endParaRPr lang="es-419" sz="900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s-419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4000" b="1" noProof="0" dirty="0">
                <a:solidFill>
                  <a:srgbClr val="FFFFFF"/>
                </a:solidFill>
              </a:rPr>
              <a:t>Sistema RCMA</a:t>
            </a:r>
            <a:endParaRPr lang="es-419" sz="40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600" noProof="0" dirty="0">
                <a:solidFill>
                  <a:srgbClr val="94A3B8"/>
                </a:solidFill>
              </a:rPr>
              <a:t>Plataforma completa y en producción</a:t>
            </a:r>
            <a:endParaRPr lang="es-419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6400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s-419" sz="1150" noProof="0" dirty="0">
                <a:solidFill>
                  <a:srgbClr val="CBD5E1"/>
                </a:solidFill>
              </a:rPr>
              <a:t>✓  18 módulos integrados y funcionales</a:t>
            </a:r>
            <a:endParaRPr lang="es-419" sz="115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419" sz="1150" b="1" noProof="0" dirty="0">
                <a:solidFill>
                  <a:srgbClr val="0D9488"/>
                </a:solidFill>
              </a:rPr>
              <a:t>✓  Ticket MAS: folio TMAS-YYYY-NNN con reinicio anual automático</a:t>
            </a:r>
            <a:endParaRPr lang="es-419" sz="115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419" sz="1150" b="1" noProof="0" dirty="0">
                <a:solidFill>
                  <a:srgbClr val="0D9488"/>
                </a:solidFill>
              </a:rPr>
              <a:t>✓  Registro de Tickets: folio libre — compatible con registros históricos</a:t>
            </a:r>
            <a:endParaRPr lang="es-419" sz="115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419" sz="1150" b="1" noProof="0" dirty="0">
                <a:solidFill>
                  <a:srgbClr val="0D9488"/>
                </a:solidFill>
              </a:rPr>
              <a:t>✓  Cancelación con cuadro gris (autorización) + rojo (fecha y motivo)</a:t>
            </a:r>
            <a:endParaRPr lang="es-419" sz="115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419" sz="1150" b="1" noProof="0" dirty="0">
                <a:solidFill>
                  <a:srgbClr val="0D9488"/>
                </a:solidFill>
              </a:rPr>
              <a:t>✓  Notificaciones con CC: </a:t>
            </a:r>
            <a:r>
              <a:rPr lang="es-419" sz="1150" b="1" noProof="0" dirty="0" err="1">
                <a:solidFill>
                  <a:srgbClr val="0D9488"/>
                </a:solidFill>
              </a:rPr>
              <a:t>arodriguez</a:t>
            </a:r>
            <a:r>
              <a:rPr lang="es-419" sz="1150" b="1" noProof="0" dirty="0">
                <a:solidFill>
                  <a:srgbClr val="0D9488"/>
                </a:solidFill>
              </a:rPr>
              <a:t>, </a:t>
            </a:r>
            <a:r>
              <a:rPr lang="es-419" sz="1150" b="1" noProof="0" dirty="0" err="1">
                <a:solidFill>
                  <a:srgbClr val="0D9488"/>
                </a:solidFill>
              </a:rPr>
              <a:t>ecastaneda</a:t>
            </a:r>
            <a:r>
              <a:rPr lang="es-419" sz="1150" b="1" noProof="0" dirty="0">
                <a:solidFill>
                  <a:srgbClr val="0D9488"/>
                </a:solidFill>
              </a:rPr>
              <a:t>, CAR de Zona</a:t>
            </a:r>
            <a:endParaRPr lang="es-419" sz="115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419" sz="1150" noProof="0" dirty="0">
                <a:solidFill>
                  <a:srgbClr val="CBD5E1"/>
                </a:solidFill>
              </a:rPr>
              <a:t>✓  Protocolo de Proyectos — 6 fases con Tabla Comparativa descargable</a:t>
            </a:r>
            <a:endParaRPr lang="es-419" sz="115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419" sz="1150" noProof="0" dirty="0">
                <a:solidFill>
                  <a:srgbClr val="CBD5E1"/>
                </a:solidFill>
              </a:rPr>
              <a:t>✓  Ticket → Proyecto automático</a:t>
            </a:r>
            <a:endParaRPr lang="es-419" sz="115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419" sz="1150" noProof="0" dirty="0">
                <a:solidFill>
                  <a:srgbClr val="CBD5E1"/>
                </a:solidFill>
              </a:rPr>
              <a:t>✓  Presupuesto vs Costo Real por proyecto</a:t>
            </a:r>
            <a:endParaRPr lang="es-419" sz="115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419" sz="1150" noProof="0" dirty="0">
                <a:solidFill>
                  <a:srgbClr val="CBD5E1"/>
                </a:solidFill>
              </a:rPr>
              <a:t>✓  Exportación PDF ejecutivo (7 secciones) + Excel (7 hojas)</a:t>
            </a:r>
            <a:endParaRPr lang="es-419" sz="1150" noProof="0" dirty="0"/>
          </a:p>
          <a:p>
            <a:pPr marL="0" indent="0">
              <a:spcAft>
                <a:spcPts val="400"/>
              </a:spcAft>
              <a:buNone/>
            </a:pPr>
            <a:r>
              <a:rPr lang="es-419" sz="1150" noProof="0" dirty="0">
                <a:solidFill>
                  <a:srgbClr val="CBD5E1"/>
                </a:solidFill>
              </a:rPr>
              <a:t>✓  Código 100% propiedad de Colegios Mano Amiga</a:t>
            </a:r>
            <a:endParaRPr lang="es-419" sz="1150" noProof="0" dirty="0"/>
          </a:p>
        </p:txBody>
      </p:sp>
      <p:sp>
        <p:nvSpPr>
          <p:cNvPr id="6" name="Text 4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419" sz="1000" noProof="0" dirty="0" err="1">
                <a:solidFill>
                  <a:srgbClr val="475569"/>
                </a:solidFill>
              </a:rPr>
              <a:t>gestion-rcma-vercel.vercel.app</a:t>
            </a:r>
            <a:r>
              <a:rPr lang="es-419" sz="1000" noProof="0" dirty="0">
                <a:solidFill>
                  <a:srgbClr val="475569"/>
                </a:solidFill>
              </a:rPr>
              <a:t>  ·  rreyes@manoamiga.edu.mx</a:t>
            </a:r>
            <a:endParaRPr lang="es-419" sz="10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2648</Words>
  <Application>Microsoft Office PowerPoint</Application>
  <PresentationFormat>Presentación en pantalla (16:9)</PresentationFormat>
  <Paragraphs>483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5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RCMA 2026 v4</dc:title>
  <dc:subject>PptxGenJS Presentation</dc:subject>
  <dc:creator>PptxGenJS</dc:creator>
  <cp:lastModifiedBy>Ricardo Joanathan Reyes Medina</cp:lastModifiedBy>
  <cp:revision>7</cp:revision>
  <dcterms:created xsi:type="dcterms:W3CDTF">2026-05-12T17:27:45Z</dcterms:created>
  <dcterms:modified xsi:type="dcterms:W3CDTF">2026-05-12T18:11:53Z</dcterms:modified>
</cp:coreProperties>
</file>