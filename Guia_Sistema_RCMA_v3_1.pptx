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9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4149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8A7E"/>
          </a:solidFill>
          <a:ln w="12700">
            <a:solidFill>
              <a:srgbClr val="0D8A7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863840" y="-457200"/>
            <a:ext cx="2286000" cy="2286000"/>
          </a:xfrm>
          <a:prstGeom prst="ellipse">
            <a:avLst/>
          </a:prstGeom>
          <a:solidFill>
            <a:srgbClr val="1A4B8C">
              <a:alpha val="40000"/>
            </a:srgbClr>
          </a:solidFill>
          <a:ln w="12700">
            <a:solidFill>
              <a:srgbClr val="1A4B8C">
                <a:alpha val="4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406640" y="3474720"/>
            <a:ext cx="1645920" cy="1645920"/>
          </a:xfrm>
          <a:prstGeom prst="ellipse">
            <a:avLst/>
          </a:prstGeom>
          <a:solidFill>
            <a:srgbClr val="0D8A7E">
              <a:alpha val="30000"/>
            </a:srgbClr>
          </a:solidFill>
          <a:ln w="12700">
            <a:solidFill>
              <a:srgbClr val="0D8A7E">
                <a:alpha val="3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b="1" i="0" u="none" strike="noStrike" kern="0" cap="none" spc="300" normalizeH="0" baseline="0" noProof="0" dirty="0">
                <a:ln>
                  <a:noFill/>
                </a:ln>
                <a:solidFill>
                  <a:srgbClr val="0D8A7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9202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Guía de Uso</a:t>
            </a:r>
            <a:endParaRPr kumimoji="0" lang="es-419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11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de Obras y Mantenimientos ·  Red de Colegios Mano Amiga</a:t>
            </a:r>
            <a:endParaRPr kumimoji="0" lang="es-419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D99AE1F-1F31-A89A-CFD2-B77B76621B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6581734" y="158074"/>
            <a:ext cx="1213526" cy="12135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esta guía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075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4B8C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Solicitud de Proyecto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51560" y="15270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pedir autorización para una obra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8888" y="13075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4B8C"/>
          </a:solidFill>
          <a:ln/>
        </p:spPr>
      </p:sp>
      <p:sp>
        <p:nvSpPr>
          <p:cNvPr id="11" name="Text 9"/>
          <p:cNvSpPr/>
          <p:nvPr/>
        </p:nvSpPr>
        <p:spPr>
          <a:xfrm>
            <a:off x="4818888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4960" y="123444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Ticket MAS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394960" y="152704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y ejecución del trabajo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103120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2677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4B8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1945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Gestión de Proyectos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51560" y="24871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Proyectos, Anteproyectos y Presupuesto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103120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18888" y="226771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4B8C"/>
          </a:solidFill>
          <a:ln/>
        </p:spPr>
      </p:sp>
      <p:sp>
        <p:nvSpPr>
          <p:cNvPr id="21" name="Text 19"/>
          <p:cNvSpPr/>
          <p:nvPr/>
        </p:nvSpPr>
        <p:spPr>
          <a:xfrm>
            <a:off x="4818888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21945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Levantamiento Nacional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394960" y="24871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Planteles, pagos y comunicados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063240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32278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4B8C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1560" y="31546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Documentación y Seguimiento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51560" y="34472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Minutas, Notas Técnicas y NEXUS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063240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18888" y="322783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4B8C"/>
          </a:solidFill>
          <a:ln/>
        </p:spPr>
      </p:sp>
      <p:sp>
        <p:nvSpPr>
          <p:cNvPr id="31" name="Text 29"/>
          <p:cNvSpPr/>
          <p:nvPr/>
        </p:nvSpPr>
        <p:spPr>
          <a:xfrm>
            <a:off x="4818888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94960" y="31546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Herramientas de Campo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394960" y="344728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Checklists, Calendario e Insumos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023360"/>
            <a:ext cx="406908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" y="418795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A4B8C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51560" y="411480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Administración del Sistema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051560" y="44074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Directorio, Reportes, Accesos y Auditoría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383280"/>
            <a:ext cx="2011680" cy="2011680"/>
          </a:xfrm>
          <a:prstGeom prst="ellipse">
            <a:avLst/>
          </a:prstGeom>
          <a:solidFill>
            <a:srgbClr val="1A4B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cómo solicitar un proyecto de construcción, mejora, remodelación o mantenimiento a través del sistema.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Solicitud de Proyecto?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oficial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digital, basado en el formato institucional de Solicitud de Inicio de Obra, para que directores y administradores presenten formalmente una necesidad ante la Coordinación de Obras.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72584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09744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inmediata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09744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enviarla, el coordinador recibe un correo de alerta automático y la solicitud queda registrada para su revisión.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permanente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guardada en el sistema para consulta y seguimiento en cualquier momento.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72584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09744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desglose financiero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9744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la estimación de costo y las fuentes de financiamiento consideradas.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la Solicitud de Proyecto?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78992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Utilízala cuando la necesidad corresponda a alguno de estos 9 tipos de iniciativa: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609344"/>
            <a:ext cx="2670048" cy="93726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46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Nueva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039112"/>
            <a:ext cx="2395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 desde cero en terreno o espacio sin uso previo.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36976" y="1609344"/>
            <a:ext cx="2670048" cy="93726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136" y="1746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74136" y="2039112"/>
            <a:ext cx="2395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a instalaciones o equipamiento existente.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08192" y="1609344"/>
            <a:ext cx="2670048" cy="93726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5352" y="1746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Portafolio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45352" y="2039112"/>
            <a:ext cx="2395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incluido en el portafolio oficial de la red.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747772"/>
            <a:ext cx="2670048" cy="93726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849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Remodelación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3177540"/>
            <a:ext cx="2395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distribución o acabados de espacios.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36976" y="2747772"/>
            <a:ext cx="2670048" cy="93726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28849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Adecuación de Espacio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74136" y="3177540"/>
            <a:ext cx="2395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de un espacio a un uso diferente.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08192" y="2747772"/>
            <a:ext cx="2670048" cy="93726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28849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45352" y="3177540"/>
            <a:ext cx="2395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cubiertos por garantía de contratista.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2670048" cy="93726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233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Ampliación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4315968"/>
            <a:ext cx="2395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de áreas o volumen del inmueble.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36976" y="3886200"/>
            <a:ext cx="2670048" cy="93726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74136" y="40233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Mant. Extraordinario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74136" y="4315968"/>
            <a:ext cx="2395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Reparación mayor fuera del mantenimiento rutinario.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08192" y="3886200"/>
            <a:ext cx="2670048" cy="937260"/>
          </a:xfrm>
          <a:prstGeom prst="roundRect">
            <a:avLst>
              <a:gd name="adj" fmla="val 58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5352" y="40233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245352" y="4315968"/>
            <a:ext cx="239572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técnica de un elemento o sistema.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llenar la Solicitud — Datos y Proyecto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78992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campos División, Fecha de Elaboración, Razón Social, Sociedad y Centro Gestor se llenan automáticamente al elegir el colegio.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Centro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773936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tu colegio de la lista. La razón social, sociedad y centro gestor se llenan solos.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365760" y="2396871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Solicitante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598039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nombre completo, tal como aparece en los registros institucionales.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365760" y="322097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Puesto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422142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cargo: Director, Administrador, Coordinador, etc.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365760" y="4045077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Electrónico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246245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donde recibirás la confirmación cuando la solicitud sea revisada.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4709160" y="157276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Proyecto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1773936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claro. Ej: "Impermeabilización de techo Edificio A".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4709160" y="2396871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Iniciativa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598039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que mejor describe el proyecto (ver los 9 tipos anteriores).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4709160" y="322097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Proyecto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3422142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va a hacer, por qué es necesario, y qué problema resuelve.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4709160" y="4045077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 Propuestas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4246245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y fin estimados. Son una propuesta; el coordinador las confirma.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Campo obligatorio    ·    Sistema RCMA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llenar la Solicitud — Financiamiento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78992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calcula automáticamente el porcentaje de cada fuente respecto al costo total.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609344"/>
            <a:ext cx="2670048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46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Aproximado Total *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039112"/>
            <a:ext cx="2395728" cy="95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total estimado en pesos mexicanos. Ejemplo: $450,000.00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36976" y="1609344"/>
            <a:ext cx="2670048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136" y="1746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74136" y="2039112"/>
            <a:ext cx="2395728" cy="95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propios del colegio asignados a operación.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08192" y="1609344"/>
            <a:ext cx="2670048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5352" y="17465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FBC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45352" y="2039112"/>
            <a:ext cx="2395728" cy="95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Bajo Custodia. Solo aplica cuando el proyecto tiene este tipo de apoyo.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316986"/>
            <a:ext cx="2670048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5414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Donativos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3746754"/>
            <a:ext cx="2395728" cy="95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Aportaciones de donadores externos, empresas o comunidad.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36976" y="3316986"/>
            <a:ext cx="2670048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74136" y="345414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Fuentes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74136" y="3746754"/>
            <a:ext cx="2395728" cy="95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otra fuente no contemplada arriba; se especifica en el campo.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08192" y="3316986"/>
            <a:ext cx="2670048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345414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Tip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45352" y="3746754"/>
            <a:ext cx="2395728" cy="957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necesario completar todas las fuentes: captura el costo total y deja el resto para que el coordinador lo defina en revisión.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pasa después de enviar la solicitud?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550822" cy="3726180"/>
          </a:xfrm>
          <a:prstGeom prst="roundRect">
            <a:avLst>
              <a:gd name="adj" fmla="val 3538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0003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6" name="Text 4"/>
          <p:cNvSpPr/>
          <p:nvPr/>
        </p:nvSpPr>
        <p:spPr>
          <a:xfrm>
            <a:off x="940003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13679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del formulario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136794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valida los campos obligatorios y registra tu solicitud.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081174" y="1097280"/>
            <a:ext cx="1550822" cy="3726180"/>
          </a:xfrm>
          <a:prstGeom prst="roundRect">
            <a:avLst>
              <a:gd name="adj" fmla="val 3538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5418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11" name="Text 9"/>
          <p:cNvSpPr/>
          <p:nvPr/>
        </p:nvSpPr>
        <p:spPr>
          <a:xfrm>
            <a:off x="2655418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72614" y="1719072"/>
            <a:ext cx="13679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72614" y="2267712"/>
            <a:ext cx="136794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un mensaje de éxito con tu correo.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3796589" y="1097280"/>
            <a:ext cx="1550822" cy="3726180"/>
          </a:xfrm>
          <a:prstGeom prst="roundRect">
            <a:avLst>
              <a:gd name="adj" fmla="val 3538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0832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16" name="Text 14"/>
          <p:cNvSpPr/>
          <p:nvPr/>
        </p:nvSpPr>
        <p:spPr>
          <a:xfrm>
            <a:off x="4370832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88029" y="1719072"/>
            <a:ext cx="13679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automático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88029" y="2267712"/>
            <a:ext cx="136794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Coordinador recibe una notificación con los datos principales.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5512003" y="1097280"/>
            <a:ext cx="1550822" cy="3726180"/>
          </a:xfrm>
          <a:prstGeom prst="roundRect">
            <a:avLst>
              <a:gd name="adj" fmla="val 3538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6246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21" name="Text 19"/>
          <p:cNvSpPr/>
          <p:nvPr/>
        </p:nvSpPr>
        <p:spPr>
          <a:xfrm>
            <a:off x="6086246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03443" y="1719072"/>
            <a:ext cx="13679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03443" y="2267712"/>
            <a:ext cx="136794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coordinador la revisa y le asigna estatus (pendiente, en revisión, etc.).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7227418" y="1097280"/>
            <a:ext cx="1550822" cy="3726180"/>
          </a:xfrm>
          <a:prstGeom prst="roundRect">
            <a:avLst>
              <a:gd name="adj" fmla="val 3538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01661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26" name="Text 24"/>
          <p:cNvSpPr/>
          <p:nvPr/>
        </p:nvSpPr>
        <p:spPr>
          <a:xfrm>
            <a:off x="7801661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318858" y="1719072"/>
            <a:ext cx="136794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318858" y="2267712"/>
            <a:ext cx="136794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Recibes un correo cuando tu solicitud sea revisada.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383280"/>
            <a:ext cx="2011680" cy="2011680"/>
          </a:xfrm>
          <a:prstGeom prst="ellipse">
            <a:avLst/>
          </a:prstGeom>
          <a:solidFill>
            <a:srgbClr val="1A4B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MAS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Construcciones · Mejoras · Mantenimiento — El ticket formal que activa el proceso de autorización y seguimiento de cada trabajo con contratista o proveedor.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Ticket MAS?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78992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clave: la Solicitud es para PEDIR autorización de un proyecto. El Ticket MAS es para AUTORIZAR y EJECUTAR un trabajo ya definido, con cotizaciones y proveedor.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609344"/>
            <a:ext cx="4105656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19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2066544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formal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3831336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oficial que ampara cada trabajo de construcción, mejora o mantenimiento en los colegios de la red.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72584" y="1609344"/>
            <a:ext cx="4105656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7190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09744" y="2066544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cotizaciones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09744" y="2359152"/>
            <a:ext cx="3831336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de 1 a 3 cotizaciones de proveedores para elegir la opción más conveniente y justificar la elección.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316986"/>
            <a:ext cx="4105656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267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377418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4066794"/>
            <a:ext cx="3831336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→ En Revisión → Autorizado o Cancelado. El coordinador controla cada transición.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72584" y="3316986"/>
            <a:ext cx="4105656" cy="1506474"/>
          </a:xfrm>
          <a:prstGeom prst="roundRect">
            <a:avLst>
              <a:gd name="adj" fmla="val 364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34267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09744" y="377418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con firma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09744" y="4066794"/>
            <a:ext cx="3831336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autorizarse, genera un documento PDF formal con la firma del Coordinador de Obras para sus registros.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llenar el Ticket — Datos Generales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384048"/>
          </a:xfrm>
          <a:prstGeom prst="roundRect">
            <a:avLst>
              <a:gd name="adj" fmla="val 11905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78992"/>
            <a:ext cx="8083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seleccionar el colegio se llenan automáticamente: Razón Social, Sociedad, Centro Gestor, Territorio, Director, Administrador y Contador.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773936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elegirlo se auto-rellena toda la información institucional del plantel.</a:t>
            </a:r>
            <a:endParaRPr lang="en-US" sz="870" dirty="0"/>
          </a:p>
        </p:txBody>
      </p:sp>
      <p:sp>
        <p:nvSpPr>
          <p:cNvPr id="8" name="Text 6"/>
          <p:cNvSpPr/>
          <p:nvPr/>
        </p:nvSpPr>
        <p:spPr>
          <a:xfrm>
            <a:off x="365760" y="2396871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Solicitante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598039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 Administrador que genera el ticket, con su puesto y correo.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365760" y="322097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422142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trabajo: Construcción Nueva, Remodelación, Mantenimiento, Mejora, etc.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365760" y="4045077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Periodicidad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246245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 (atención inmediata) o NORMAL (tiempos habituales de obra).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4709160" y="1572768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Mantenimiento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1773936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aplica: PREVENTIVO (programado) o CORRECTIVO (respuesta a falla).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4709160" y="2396871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2598039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del trabajo: área, problema, alcance y datos técnicos relevantes.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4709160" y="322097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Interna  </a:t>
            </a:r>
            <a:r>
              <a:rPr lang="en-US" sz="750" b="1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/ No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3422142"/>
            <a:ext cx="4069080" cy="586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0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Sí, se activa el campo de número de orden y es obligatorio capturarlo.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Campo obligatorio    ·    Sistema RCMA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llenar el Ticket — Cotizaciones y Financiamiento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8760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 Cotizaciones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02920" y="1680210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e importe de cada una. La primera es obligatoria; el sistema formatea el monto automáticamente.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72584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9744" y="138760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de Selección *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09744" y="1680210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elegiste a ese proveedor: mejor precio, calidad, tiempo de entrega, confiabilidad.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8897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Financiamiento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3481578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Operación, FBC, Donativo u otra fuente.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72584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318897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Suplemento / Traspaso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09744" y="3481578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Eliges Sí o No en Suplemento; el sistema asigna Traspaso de forma inversa y automática.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Ticket MAS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9525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097280"/>
            <a:ext cx="8083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Vencimiento: si un ticket lleva más de 12 horas en Pendiente, el sistema muestra una alerta visual para recordar al coordinador que requiere atención.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1979676" cy="3250692"/>
          </a:xfrm>
          <a:prstGeom prst="roundRect">
            <a:avLst>
              <a:gd name="adj" fmla="val 277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4430" y="1719072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8" name="Text 6"/>
          <p:cNvSpPr/>
          <p:nvPr/>
        </p:nvSpPr>
        <p:spPr>
          <a:xfrm>
            <a:off x="115443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17967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Pendiente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1796796" cy="1970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ticket fue enviado y espera revisión del Coordinador.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2510028" y="1572768"/>
            <a:ext cx="1979676" cy="3250692"/>
          </a:xfrm>
          <a:prstGeom prst="roundRect">
            <a:avLst>
              <a:gd name="adj" fmla="val 277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8698" y="1719072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13" name="Text 11"/>
          <p:cNvSpPr/>
          <p:nvPr/>
        </p:nvSpPr>
        <p:spPr>
          <a:xfrm>
            <a:off x="3298698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01468" y="2194560"/>
            <a:ext cx="17967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 Revisión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01468" y="2743200"/>
            <a:ext cx="1796796" cy="1970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coordinador analiza el ticket y valida la información.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654296" y="1572768"/>
            <a:ext cx="1979676" cy="3250692"/>
          </a:xfrm>
          <a:prstGeom prst="roundRect">
            <a:avLst>
              <a:gd name="adj" fmla="val 277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2966" y="1719072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18" name="Text 16"/>
          <p:cNvSpPr/>
          <p:nvPr/>
        </p:nvSpPr>
        <p:spPr>
          <a:xfrm>
            <a:off x="5442966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45736" y="2194560"/>
            <a:ext cx="17967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Autorizado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45736" y="2743200"/>
            <a:ext cx="1796796" cy="1970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aprobado. Se genera el PDF firmado y se notifica al colegio.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6798564" y="1572768"/>
            <a:ext cx="1979676" cy="3250692"/>
          </a:xfrm>
          <a:prstGeom prst="roundRect">
            <a:avLst>
              <a:gd name="adj" fmla="val 277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7234" y="1719072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23" name="Text 21"/>
          <p:cNvSpPr/>
          <p:nvPr/>
        </p:nvSpPr>
        <p:spPr>
          <a:xfrm>
            <a:off x="7587234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90004" y="2194560"/>
            <a:ext cx="17967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Cancelado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90004" y="2743200"/>
            <a:ext cx="1796796" cy="1970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rechazado, con motivo registrado y aviso al colegio.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Impresión y PDF del Ticket MAS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está disponible?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los tickets con estatus AUTORIZADO generan el documento final, disponible en el detalle del ticket.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72584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09744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incluye?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09744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colegio, solicitante, clasificación, cotizaciones, motivo de selección y las firmas digitales.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del Coordinador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la firma digital del Coordinador de Obras RCMA pre-cargada en el sistema.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72584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09744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del Solicitante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9744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nombre, fecha/hora de envío y cargo del solicitante como constancia.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Contratos — Fase del Protocolo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autorizado el Ticket MAS, se procede a formalizar el contrato con Jurídico: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963674"/>
            <a:ext cx="8412480" cy="758952"/>
          </a:xfrm>
          <a:prstGeom prst="roundRect">
            <a:avLst>
              <a:gd name="adj" fmla="val 602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26085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D8A7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3674"/>
            <a:ext cx="7909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Ticket MAS autorizado: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validación técnica del equipo ECO y el proveedor ya elegido, el Coordinador habilita, revisa y autoriza el Ticket MAS.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832354"/>
            <a:ext cx="8412480" cy="758952"/>
          </a:xfrm>
          <a:prstGeom prst="roundRect">
            <a:avLst>
              <a:gd name="adj" fmla="val 602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12953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D8A7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32354"/>
            <a:ext cx="7909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Solicitud a Jurídico: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Ticket MAS ya autorizado, </a:t>
            </a:r>
            <a:r>
              <a:rPr lang="es-MX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colegio solicita a Jurídico la elaboración del contrato correspondiente.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701034"/>
            <a:ext cx="8412480" cy="758952"/>
          </a:xfrm>
          <a:prstGeom prst="roundRect">
            <a:avLst>
              <a:gd name="adj" fmla="val 602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99821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D8A7E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01034"/>
            <a:ext cx="7909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Envío de documentación: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colegio recaba la documentación del proveedor y la envía a Jurídico, con copia al Gerente, CAR del territorio y Coordinador de Obras.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 — Solicitud y Ticket MAS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264920" cy="3726180"/>
          </a:xfrm>
          <a:prstGeom prst="roundRect">
            <a:avLst>
              <a:gd name="adj" fmla="val 433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7052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6" name="Text 4"/>
          <p:cNvSpPr/>
          <p:nvPr/>
        </p:nvSpPr>
        <p:spPr>
          <a:xfrm>
            <a:off x="797052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108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Detecta la necesidad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1082040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o admin identifica la obra requerida.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1795272" y="1097280"/>
            <a:ext cx="1264920" cy="3726180"/>
          </a:xfrm>
          <a:prstGeom prst="roundRect">
            <a:avLst>
              <a:gd name="adj" fmla="val 433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6564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11" name="Text 9"/>
          <p:cNvSpPr/>
          <p:nvPr/>
        </p:nvSpPr>
        <p:spPr>
          <a:xfrm>
            <a:off x="2226564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886712" y="1719072"/>
            <a:ext cx="108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Envía Solicitud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86712" y="2267712"/>
            <a:ext cx="1082040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coordinador recibe notificación automática.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3224784" y="1097280"/>
            <a:ext cx="1264920" cy="3726180"/>
          </a:xfrm>
          <a:prstGeom prst="roundRect">
            <a:avLst>
              <a:gd name="adj" fmla="val 433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6076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16" name="Text 14"/>
          <p:cNvSpPr/>
          <p:nvPr/>
        </p:nvSpPr>
        <p:spPr>
          <a:xfrm>
            <a:off x="3656076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16224" y="1719072"/>
            <a:ext cx="108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Revisión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16224" y="2267712"/>
            <a:ext cx="1082040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 evalúa, define alcance y estatus.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4654296" y="1097280"/>
            <a:ext cx="1264920" cy="3726180"/>
          </a:xfrm>
          <a:prstGeom prst="roundRect">
            <a:avLst>
              <a:gd name="adj" fmla="val 433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85588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21" name="Text 19"/>
          <p:cNvSpPr/>
          <p:nvPr/>
        </p:nvSpPr>
        <p:spPr>
          <a:xfrm>
            <a:off x="5085588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45736" y="1719072"/>
            <a:ext cx="108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Cotizaciones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45736" y="2267712"/>
            <a:ext cx="1082040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recaban 3 cotizaciones y el equipo ECO las valida.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6083808" y="1097280"/>
            <a:ext cx="1264920" cy="3726180"/>
          </a:xfrm>
          <a:prstGeom prst="roundRect">
            <a:avLst>
              <a:gd name="adj" fmla="val 433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5100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26" name="Text 24"/>
          <p:cNvSpPr/>
          <p:nvPr/>
        </p:nvSpPr>
        <p:spPr>
          <a:xfrm>
            <a:off x="6515100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75248" y="1719072"/>
            <a:ext cx="108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Ticket MAS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75248" y="2267712"/>
            <a:ext cx="1082040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Coordinador lo habilita, se llena y se autoriza.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7513320" y="1097280"/>
            <a:ext cx="1264920" cy="3726180"/>
          </a:xfrm>
          <a:prstGeom prst="roundRect">
            <a:avLst>
              <a:gd name="adj" fmla="val 433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44612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31" name="Text 29"/>
          <p:cNvSpPr/>
          <p:nvPr/>
        </p:nvSpPr>
        <p:spPr>
          <a:xfrm>
            <a:off x="7944612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604760" y="1719072"/>
            <a:ext cx="108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Contrato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604760" y="2267712"/>
            <a:ext cx="1082040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autorizado el ticket, se solicita a Jurídico.</a:t>
            </a:r>
            <a:endParaRPr lang="en-US" sz="870" dirty="0"/>
          </a:p>
        </p:txBody>
      </p:sp>
      <p:sp>
        <p:nvSpPr>
          <p:cNvPr id="34" name="Text 32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383280"/>
            <a:ext cx="2011680" cy="2011680"/>
          </a:xfrm>
          <a:prstGeom prst="ellipse">
            <a:avLst/>
          </a:prstGeom>
          <a:solidFill>
            <a:srgbClr val="1A4B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de cada obra autorizada, en un solo lugar: presupuesto, avance, fechas y estatus — más las herramientas para recaudación y control financiero.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expediente central de cada obra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solo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cuanto autorizas un Ticket MAS, el sistema crea el Proyecto correspondiente automáticamente. También puedes crear uno manual si el origen es distinto.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Estatus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Espera → En Proceso → Pausado → Completado (o Cancelado). Así siempre sabes en qué punto va cada obra.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vs. Costo Real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proyecto guarda lo planeado y lo que realmente costó, para comparar en cualquier momento.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72584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09744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general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9744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listado de Proyectos filtras por colegio, territorio o estatus para ver el avance de toda la red.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ANTEPROYECTOS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propuestas en gestión de recaudación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espacio para dar seguimiento a proyectos que aún están en etapa de conseguir fondos, antes de contar con presupuesto asegurado.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anteproyecto consigue financiamiento, se convierte en un Proyecto formal dentro del sistema.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VS. REAL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financiero de toda la operación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consolidada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Compara, para todos los proyectos activos, lo presupuestado contra lo realmente ejercido.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 sirve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a tiempo sobrecostos o ahorros, y tomar decisiones informadas sobre el resto de la operación.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383280"/>
            <a:ext cx="2011680" cy="2011680"/>
          </a:xfrm>
          <a:prstGeom prst="ellipse">
            <a:avLst/>
          </a:prstGeom>
          <a:solidFill>
            <a:srgbClr val="1A4B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para coordinar, dar seguimiento y documentar el levantamiento de información en todos los planteles de la red a nivel nacional.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componentes de Levantamiento Nacional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listado de colegios en proceso de levantamiento, con su territorio, líder ECO asignado y fase actual.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72584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09744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09744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cada pago desde que llega la factura, se genera la ficha de pago, hasta quedar marcado como pagado.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y envía los comunicados oficiales a cada plantel conforme avanza el proceso.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72584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09744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Entregables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09744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diarios de avance y el control de entregables finales por plantel.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un Pago en Levantamiento Nacional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4432" cy="3726180"/>
          </a:xfrm>
          <a:prstGeom prst="roundRect">
            <a:avLst>
              <a:gd name="adj" fmla="val 203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11808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6" name="Text 4"/>
          <p:cNvSpPr/>
          <p:nvPr/>
        </p:nvSpPr>
        <p:spPr>
          <a:xfrm>
            <a:off x="1511808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51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Llega la factura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251155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captura el folio y monto de la factura recibida.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3224784" y="1097280"/>
            <a:ext cx="2694432" cy="3726180"/>
          </a:xfrm>
          <a:prstGeom prst="roundRect">
            <a:avLst>
              <a:gd name="adj" fmla="val 203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11" name="Text 9"/>
          <p:cNvSpPr/>
          <p:nvPr/>
        </p:nvSpPr>
        <p:spPr>
          <a:xfrm>
            <a:off x="4370832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16224" y="1719072"/>
            <a:ext cx="251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Ficha de pago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16224" y="2267712"/>
            <a:ext cx="251155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sube la ficha de pago correspondiente.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6083808" y="1097280"/>
            <a:ext cx="2694432" cy="3726180"/>
          </a:xfrm>
          <a:prstGeom prst="roundRect">
            <a:avLst>
              <a:gd name="adj" fmla="val 203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9856" y="1243584"/>
            <a:ext cx="402336" cy="402336"/>
          </a:xfrm>
          <a:prstGeom prst="ellipse">
            <a:avLst/>
          </a:prstGeom>
          <a:solidFill>
            <a:srgbClr val="0D8A7E"/>
          </a:solidFill>
          <a:ln/>
        </p:spPr>
      </p:sp>
      <p:sp>
        <p:nvSpPr>
          <p:cNvPr id="16" name="Text 14"/>
          <p:cNvSpPr/>
          <p:nvPr/>
        </p:nvSpPr>
        <p:spPr>
          <a:xfrm>
            <a:off x="7229856" y="1243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5248" y="1719072"/>
            <a:ext cx="2511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Pagado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75248" y="2267712"/>
            <a:ext cx="2511552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marca el pago como completado y queda en el historial.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383280"/>
            <a:ext cx="2011680" cy="2011680"/>
          </a:xfrm>
          <a:prstGeom prst="ellipse">
            <a:avLst/>
          </a:prstGeom>
          <a:solidFill>
            <a:srgbClr val="1A4B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Seguimiento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 y notas de campo en un repositorio central, y un espacio de pendientes y bitácora para no perder el hilo de ningún proyecto activo.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 Y NOTAS TÉCNICAS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repositorio oficial de documentos de reuniones y campo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 de Reunión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el PDF de cualquier junta institucional: qué se acordó, con quién y cuándo.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Técnica de Seguimiento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documentar visitas de campo o hallazgos técnicos, aunque no haya sido una reunión formal.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 a Proyecto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documento se puede ligar a un proyecto ya registrado, o dejarse libre si aún se está organizando.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72584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09744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opcional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9744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subir un documento, puedes avisar por correo a las personas que correspondan.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PENDIENTES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tareas y las de tu equipo, en un solo lugar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personales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propias, con prioridad y fecha límite, que puedes vincular a un proyecto.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compartidos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que involucran a más de una persona, con opción de avisar a quien corresponda.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pendiente lleva su propia conversación de seguimiento, sin perder el contexto.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72584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09744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9744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espacio adicional para apuntes rápidos, organizados por colegio o territorio.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— SEGUIMIENTO DE PROYECTOS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bitácora automática de cada obra activa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solo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cuanto un proyecto queda En Espera, En Proceso o Pausado, aparece aquí — sin que tengas que darlo de alta.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1250442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3601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🗒️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1707642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con fecha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000250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 registrando el avance como una bitácora: llamadas, acuerdos, cambios de alcance, lo que sea relevante.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Conviértelo en Pendiente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algo del seguimiento requiere una acción concreta, lo conviertes en un Pendiente con un clic, ya vinculado al proyecto.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72584" y="3051810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31615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09744" y="3509010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como evidencia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09744" y="3801618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completarse el proyecto, el seguimiento no se borra: pasa a un archivo de evidencia histórica.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383280"/>
            <a:ext cx="2011680" cy="2011680"/>
          </a:xfrm>
          <a:prstGeom prst="ellipse">
            <a:avLst/>
          </a:prstGeom>
          <a:solidFill>
            <a:srgbClr val="1A4B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Campo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necesitas cuando estás en el colegio: inspecciones, calendario de mantenimiento y control de compras.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Inspecciones y estándares mínimos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Inspecciones de obra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visitas técnicas con fotografías y observaciones por punto revisado.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Mínimos Indispensables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si un plantel cumple los estándares básicos de infraestructura de la red.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DE MANTENIMIENTO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para que nada se pase por alto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recurrentes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mantenimientos periódicos por colegio, con la frecuencia que corresponda.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automáticos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puede notificar a las personas indicadas cuando se acerca la fecha de cada actividad.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Requisiciones de compra, ordenadas y con respaldo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Requisición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los materiales o productos necesarios, con su cotización adjunta.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Visto Bueno (VoBo)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requisición pasa por autorización antes de proceder a la compra.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383280"/>
            <a:ext cx="2011680" cy="2011680"/>
          </a:xfrm>
          <a:prstGeom prst="ellipse">
            <a:avLst/>
          </a:prstGeom>
          <a:solidFill>
            <a:srgbClr val="1A4B8C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Sistema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3063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la información institucional, quién puede hacer qué, y cómo queda todo documentado.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fuente única de contactos institucionales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directorio, todo el sistema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Administrador, Gerente y Líder de Proyecto ECO por cada colegio, en un solo lugar.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actualiza solo en todos lados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alguien cambia de puesto o de colegio, lo editas aquí una sola vez — y se refleja automáticamente en Checklists, Proyectos, Tickets y Anteproyectos, sin que tengas que corregirlo en cada uno.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información consolidada, lista para exportar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por módulo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proyectos, anteproyectos y más, listos para analizar.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en PDF o Excel con el formato institucional, listo para compartir o imprimir.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 Y AUDITORÍA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puede hacer qué, y quién hizo qué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65760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tiene permisos específicos por módulo: ver, crear, editar o eliminar. Tú decides el nivel de cada quien.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72584" y="2151126"/>
            <a:ext cx="4105656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22608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09744" y="2608326"/>
            <a:ext cx="3831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09744" y="2900934"/>
            <a:ext cx="38313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bitácora completa de todo lo que ocurre en el sistema: quién hizo qué acción, en qué módulo y cuándo.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— Para no perderte nada importante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te avisa por dos canales, para que la información te llegue sin importar cómo estés trabajando: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2398014"/>
            <a:ext cx="8412480" cy="758952"/>
          </a:xfrm>
          <a:prstGeom prst="roundRect">
            <a:avLst>
              <a:gd name="adj" fmla="val 602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69519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D8A7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98014"/>
            <a:ext cx="7909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electrónico: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formales de las acciones más importantes: nuevos tickets, autorizaciones, cancelaciones y más.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3266694"/>
            <a:ext cx="8412480" cy="758952"/>
          </a:xfrm>
          <a:prstGeom prst="roundRect">
            <a:avLst>
              <a:gd name="adj" fmla="val 602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56387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0D8A7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66694"/>
            <a:ext cx="7909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Campanita interna: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aviso dentro del propio sistema, visible mientras navegas, para las notificaciones del día a día.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8A7E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749040" cy="1474470"/>
          </a:xfrm>
          <a:prstGeom prst="roundRect">
            <a:avLst>
              <a:gd name="adj" fmla="val 3721"/>
            </a:avLst>
          </a:prstGeom>
          <a:solidFill>
            <a:srgbClr val="1A4B8C">
              <a:alpha val="45000"/>
            </a:srgbClr>
          </a:solidFill>
          <a:ln w="9525">
            <a:solidFill>
              <a:srgbClr val="0D8A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70992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primero, Ticket después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50392" y="2002536"/>
            <a:ext cx="3419856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Pide autorización del proyecto y, una vez aprobado, ingresa el Ticket con las cotizaciones.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1600200"/>
            <a:ext cx="3749040" cy="1474470"/>
          </a:xfrm>
          <a:prstGeom prst="roundRect">
            <a:avLst>
              <a:gd name="adj" fmla="val 3721"/>
            </a:avLst>
          </a:prstGeom>
          <a:solidFill>
            <a:srgbClr val="1A4B8C">
              <a:alpha val="45000"/>
            </a:srgbClr>
          </a:solidFill>
          <a:ln w="9525">
            <a:solidFill>
              <a:srgbClr val="0D8A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3752" y="170992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es la fuente oficial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873752" y="2002536"/>
            <a:ext cx="3419856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cambio de personal se actualiza ahí una sola vez, y se refleja en todo el sistema.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5800" y="3348990"/>
            <a:ext cx="3749040" cy="1474470"/>
          </a:xfrm>
          <a:prstGeom prst="roundRect">
            <a:avLst>
              <a:gd name="adj" fmla="val 3721"/>
            </a:avLst>
          </a:prstGeom>
          <a:solidFill>
            <a:srgbClr val="1A4B8C">
              <a:alpha val="45000"/>
            </a:srgbClr>
          </a:solidFill>
          <a:ln w="9525">
            <a:solidFill>
              <a:srgbClr val="0D8A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345871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para no perder el hilo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0392" y="3751326"/>
            <a:ext cx="3419856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Pendientes y Seguimiento de Proyectos para dar continuidad a cada obra activa.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3348990"/>
            <a:ext cx="3749040" cy="1474470"/>
          </a:xfrm>
          <a:prstGeom prst="roundRect">
            <a:avLst>
              <a:gd name="adj" fmla="val 3721"/>
            </a:avLst>
          </a:prstGeom>
          <a:solidFill>
            <a:srgbClr val="1A4B8C">
              <a:alpha val="45000"/>
            </a:srgbClr>
          </a:solidFill>
          <a:ln w="9525">
            <a:solidFill>
              <a:srgbClr val="0D8A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3458718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queda documentado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73752" y="3751326"/>
            <a:ext cx="3419856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B7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Minutas, Notas Técnicas y Auditoría dejan constancia de cada paso del proceso.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481431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RCMA  ·  Coordinación de Obras  ·  Red de Colegios Mano Amiga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3082</Words>
  <Application>Microsoft Office PowerPoint</Application>
  <PresentationFormat>Presentación en pantalla (16:9)</PresentationFormat>
  <Paragraphs>446</Paragraphs>
  <Slides>37</Slides>
  <Notes>37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1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Ricardo Joanathan Reyes Medina</cp:lastModifiedBy>
  <cp:revision>2</cp:revision>
  <dcterms:created xsi:type="dcterms:W3CDTF">2026-07-14T15:07:03Z</dcterms:created>
  <dcterms:modified xsi:type="dcterms:W3CDTF">2026-07-14T15:15:21Z</dcterms:modified>
</cp:coreProperties>
</file>