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4" r:id="rId44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  <Relationship Id="rId44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71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 w="12700">
            <a:solidFill>
              <a:srgbClr val="0D8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63840" y="-457200"/>
            <a:ext cx="2286000" cy="2286000"/>
          </a:xfrm>
          <a:prstGeom prst="ellipse">
            <a:avLst/>
          </a:prstGeom>
          <a:solidFill>
            <a:srgbClr val="1A4B8C">
              <a:alpha val="40000"/>
            </a:srgbClr>
          </a:solidFill>
          <a:ln w="12700">
            <a:solidFill>
              <a:srgbClr val="1A4B8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06640" y="3474720"/>
            <a:ext cx="1645920" cy="1645920"/>
          </a:xfrm>
          <a:prstGeom prst="ellipse">
            <a:avLst/>
          </a:prstGeom>
          <a:solidFill>
            <a:srgbClr val="0D8A7E">
              <a:alpha val="30000"/>
            </a:srgbClr>
          </a:solidFill>
          <a:ln w="12700">
            <a:solidFill>
              <a:srgbClr val="0D8A7E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1" i="0" u="none" strike="noStrike" kern="0" cap="none" spc="300" normalizeH="0" baseline="0" noProof="0" dirty="0">
                <a:ln>
                  <a:noFill/>
                </a:ln>
                <a:solidFill>
                  <a:srgbClr val="0D8A7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Uso</a:t>
            </a:r>
            <a:endParaRPr kumimoji="0" lang="es-419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200" b="0" i="0" u="none" strike="noStrike" kern="1200" cap="none" spc="0" normalizeH="0" baseline="0" noProof="0" dirty="0">
                <a:ln>
                  <a:noFill/>
                </a:ln>
                <a:solidFill>
                  <a:srgbClr val="A8C4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kumimoji="0" lang="es-419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Obras y Mantenimientos ·  Red de Colegios Mano Amiga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D99AE1F-1F31-A89A-CFD2-B77B76621B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581734" y="158074"/>
            <a:ext cx="1213526" cy="1213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esta guía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07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de Proyecto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 autorización para una obra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307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Ticket MAS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94960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y ejecución del trabajo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267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Gestión de Proyectos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Proyectos, Anteproyectos y Presupuesto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2267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Levantamiento Nacional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9496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Planteles, pagos y comunicados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2278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154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Documentación y Seguimiento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" y="3447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Notas Técnicas y NEXUS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2278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154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Herramientas de Campo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94960" y="3447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Calendario e Insumos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4187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156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Administración del Sistema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51560" y="4407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Directorio, Reportes, Accesos y Auditoría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cómo solicitar un proyecto de construcción, mejora, remodelación o mantenimiento a través del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Solicitud de Proyecto?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oficial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digital, basado en el formato institucional de Solicitud de Inicio de Obra, para que directores y administradores presenten formalmente una necesidad ante la Coordinación de Obras.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inmediata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enviarla, el coordinador recibe un correo de alerta automático y la solicitud queda registrada para su revisión.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guardada en el sistema para consulta y seguimiento en cualquier momento.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desglose financiero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estimación de costo y las fuentes de financiamiento consideradas.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la Solicitud de Proyecto?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Utilízala cuando la necesidad corresponda a alguno de estos 9 tipos de iniciativa: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Nueva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desde cero en terreno o espacio sin uso previo.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36976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4136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 instalaciones o equipamiento existente.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45352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incluido en el portafolio oficial de la 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distribución o acabados de espacios.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36976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de Espacio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 un espacio a un uso diferente.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5352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cubiertos por garantía de contratista.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áreas o volumen del inmueble.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36976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Mant. Extraordinario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74136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mayor fuera del mantenimiento rutinario.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08192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5352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técnica de un elemento o sistema.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la Solicitud — Datos y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División, Fecha de Elaboración, Razón Social, Sociedad y Centro Gestor se llenan automáticamente al elegir el colegio.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Centro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colegio de la lista. La razón social, sociedad y centro gestor se llenan solos.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657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Solicitante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completo, tal como aparece en los registros institucionales.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657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cargo: Director, Administrador, Coordinador, etc.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657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donde recibirás la confirmación cuando la solicitud sea revisada.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claro. Ej: "Impermeabilización de techo Edificio A".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7091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Iniciativa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que mejor describe el proyecto (ver los 9 tipos anteriores).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7091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va a hacer, por qué es necesario, y qué problema resuelve.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47091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Propuestas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estimados. Son una propuesta; el coordinador las confirma.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obligatorio    ·    Sistema RCMA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la Solicitud — Financiamiento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automáticamente el porcentaje de cada fuente respecto al costo total.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Aproximado Total *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 estimado en pesos mexicanos. Ejemplo: $450,000.00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36976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4136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propios del colegio asignados a operación.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45352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Bajo Custodia. Solo aplica cuando el proyecto tiene este tipo de apoyo.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Donativos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Aportaciones de donadores externos, empresas o comunidad.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36976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Fuentes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otra fuente no contemplada arriba; se especifica en el campo.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5352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necesario completar todas las fuentes: captura el costo total y deja el resto para que el coordinador lo defina en revisión.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después de enviar la solicitud?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940003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formulario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valida los campos obligatorios y registra tu solicitud.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081174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541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265541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72614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72614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mensaje de éxito con tu correo.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796589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8029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automático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8029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recibe una notificación con los datos principales.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512003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624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608624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03443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03443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la revisa y le asigna estatus (pendiente, en revisión, etc.).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227418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1661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6" name="Text 24"/>
          <p:cNvSpPr/>
          <p:nvPr/>
        </p:nvSpPr>
        <p:spPr>
          <a:xfrm>
            <a:off x="7801661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8858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8858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 un correo cuando tu solicitud sea revisada.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Construcciones · Mejoras · Mantenimiento — El ticket formal que activa el proceso de autorización y seguimiento de cada trabajo con contratista o proveedor.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Ticket MAS?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 la Solicitud es para PEDIR autorización de un proyecto. El Ticket MAS es para AUTORIZAR y EJECUTAR un trabajo ya definido, con cotizaciones y proveedor.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formal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oficial que ampara cada trabajo de construcción, mejora o mantenimiento en los colegios de la 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2584" y="1609344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719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9744" y="2066544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cotizaciones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9744" y="2359152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 1 a 3 cotizaciones de proveedores para elegir la opción más conveniente y justificar la elección.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6986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267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77418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066794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→ En Revisión → Autorizado o Cancelado. El coordinador controla cada transición.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3316986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4267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9744" y="377418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firma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9744" y="4066794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autorizarse, genera un documento PDF formal con la firma del Coordinador de Obras para sus registros.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el Ticket — Datos Generales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seleccionar el colegio se llenan automáticamente: Razón Social, Sociedad, Centro Gestor, Territorio, Director, Administrador y Contador.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elegirlo se auto-rellena toda la información institucional del plantel.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657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 Administrador que genera el ticket, con su puesto y correo.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657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trabajo: Construcción Nueva, Remodelación, Mantenimiento, Mejora, etc.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657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(atención inmediata) o NORMAL (tiempos habituales de obra).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Mantenimiento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aplica: PREVENTIVO (programado) o CORRECTIVO (respuesta a falla).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7091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trabajo: área, problema, alcance y datos técnicos relevantes.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7091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Interna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/ 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Sí, se activa el campo de número de orden y es obligatorio capturarlo.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obligatorio    ·    Sistema RCMA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el Ticket — Cotizaciones y Financiamiento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760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Cotizaciones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68021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e importe de cada una. La primera es obligatoria; el sistema formatea el monto automáticamente.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8760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Selección *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68021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elegiste a ese proveedor: mejor precio, calidad, tiempo de entrega, confiabilidad.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897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Financiamiento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8157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Operación, FBC, Donativo u otra fuente.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18897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 / Traspaso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48157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Sí o No en Suplemento; el sistema asigna Traspaso de forma inversa y automática.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97280"/>
            <a:ext cx="8083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Vencimiento: si un ticket lleva más de 12 horas en Pendiente, el sistema muestra una alerta visual para recordar al coordinador que requiere atención.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4430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8" name="Text 6"/>
          <p:cNvSpPr/>
          <p:nvPr/>
        </p:nvSpPr>
        <p:spPr>
          <a:xfrm>
            <a:off x="115443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Pendiente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fue enviado y espera revisión del Coordinador.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510028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8698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869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1468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Revisión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1468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analiza el ticket y valida la información.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654296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2966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8" name="Text 16"/>
          <p:cNvSpPr/>
          <p:nvPr/>
        </p:nvSpPr>
        <p:spPr>
          <a:xfrm>
            <a:off x="544296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45736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Autorizado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45736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aprobado. Se genera el PDF firmado y se notifica al colegio.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798564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7234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3" name="Text 21"/>
          <p:cNvSpPr/>
          <p:nvPr/>
        </p:nvSpPr>
        <p:spPr>
          <a:xfrm>
            <a:off x="758723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0004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90004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rechazado, con motivo registrado y aviso al colegio.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y PDF del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está disponible?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tickets con estatus AUTORIZADO generan el documento final, disponible en el detalle del ticket.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colegio, solicitante, clasificación, cotizaciones, motivo de selección y las firmas digitales.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Coordinador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firma digital del Coordinador de Obras RCMA pre-cargada en el sistema.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Solicitante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nombre, fecha/hora de envío y cargo del solicitante como constancia.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Contratos — Fase del Protocolo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el proveedor pueda iniciar trabajos, es necesario formalizar el contrato con Jurídico: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6367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6085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367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de autorización: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validación técnica y el proveedor ya elegido, la Coordinación remite la solicitud a la Dirección para gestionar el contrato ante Jurídico.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83235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12953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235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Envío de documentación: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recaba la documentación del proveedor y la envía a Jurídico, con copia al Gerente, CAR del territorio y Coordinador de Obras.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0103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99821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103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Habilitación del Ticket MAS: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firmado el contrato por el proveedor, la Coordinación habilita el Ticket MAS. Sin contrato firmado, el ticket no puede registrarse.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— Solicitud y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05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79705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Detecta la necesidad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 admin identifica la obra requerida.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795272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6564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2226564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86712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Envía Solicitud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86712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recibe notificación automática.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224784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607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607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6224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6224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evalúa, define alcance y estatus.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654296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558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508558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45736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Cotizaciones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5736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recaban 3 cotizaciones y se validan.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083808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5100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6" name="Text 24"/>
          <p:cNvSpPr/>
          <p:nvPr/>
        </p:nvSpPr>
        <p:spPr>
          <a:xfrm>
            <a:off x="651510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75248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Contrato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5248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gestiona con Jurídico y se firma.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513320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4461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31" name="Text 29"/>
          <p:cNvSpPr/>
          <p:nvPr/>
        </p:nvSpPr>
        <p:spPr>
          <a:xfrm>
            <a:off x="794461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04760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Ticket MAS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04760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autoriza y genera el PDF oficial.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cada obra autorizada, en un solo lugar: presupuesto, avance, fechas y estatus — más las herramientas para recaudación y control financiero.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central de cada obra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autorizas un Ticket MAS, el sistema crea el Proyecto correspondiente automáticamente. También puedes crear uno manual si el origen es distinto.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 → En Proceso → Pausado → Completado (o Cancelado). Así siempre sabes en qué punto va cada obra.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Costo Real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guarda lo planeado y lo que realmente costó, para comparar en cualquier momento.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listado de Proyectos filtras por colegio, territorio o estatus para ver el avance de toda la red.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propuestas en gestión de recaudación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para dar seguimiento a proyectos que aún están en etapa de conseguir fondos, antes de contar con presupuesto asegurado.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anteproyecto consigue financiamiento, se convierte en un Proyecto formal dentro del sistema.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financiero de toda la operación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Compara, para todos los proyectos activos, lo presupuestado contra lo realmente ejercido.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tiempo sobrecostos o ahorros, y tomar decisiones informadas sobre el resto de la operación.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para coordinar, dar seguimiento y documentar el levantamiento de información en todos los planteles de la red a nivel nacional.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componentes de Levantamiento 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de colegios en proceso de levantamiento, con su territorio, líder ECO asignado y fase actual.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cada pago desde que llega la factura, se genera la ficha de pago, hasta quedar marcado como pagado.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envía los comunicados oficiales a cada plantel conforme avanza el proceso.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Entregables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diarios de avance y el control de entregables finales por plantel.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 Pago en Levantamiento 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180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151180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Llega la factura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captura el folio y monto de la factura recibida.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224784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6224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Ficha de pago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16224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la ficha de pago correspondiente.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083808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985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722985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5248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5248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marca el pago como completado y queda en el historial.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Seguimiento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de campo en un repositorio central, y un espacio de pendientes y bitácora para no perder el hilo de ningún proyecto activo.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TÉCNICAS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oficial de documentos de reuniones y campo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de Reunión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PDF de cualquier junta institucional: qué se acordó, con quién y cuándo.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de Seguimiento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documentar visitas de campo o hallazgos técnicos, aunque no haya sido una reunión formal.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a Proyecto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se puede ligar a un proyecto ya registrado, o dejarse libre si aún se está organizando.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opcional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subir un documento, puedes avisar por correo a las personas que correspondan.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PENDIENTES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tareas y las de tu equipo, en un solo lugar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personales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propias, con prioridad y fecha límite, que puedes vincular a un proyecto.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compartidos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involucran a más de una persona, con opción de avisar a quien corresponda.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pendiente lleva su propia conversación de seguimiento, sin perder el contexto.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adicional para apuntes rápidos, organizados por colegio o territorio.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SEGUIMIENTO DE 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automática de cada obra activa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un proyecto queda En Espera, En Proceso o Pausado, aparece aquí — sin que tengas que darlo de alta.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🗒️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con fecha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registrando el avance como una bitácora: llamadas, acuerdos, cambios de alcance, lo que sea relevante.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Conviértelo en Pendiente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del seguimiento requiere una acción concreta, lo conviertes en un Pendiente con un clic, ya vinculado al proyecto.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como evidencia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completarse el proyecto, el seguimiento no se borra: pasa a un archivo de evidencia histórica.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necesitas cuando estás en el colegio: inspecciones, calendario de mantenimiento y control de compras.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y estándares mínimos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 obra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visitas técnicas con fotografías y observaciones por punto revisado.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Indispensables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si un plantel cumple los estándares básicos de infraestructura de la red.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MANTENIMIENTO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para que nada se pase por alto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recurrentes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mantenimientos periódicos por colegio, con la frecuencia que corresponda.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automáticos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puede notificar a las personas indicadas cuando se acerca la fecha de cada actividad.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Requisiciones de compra, ordenadas y con respaldo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los materiales o productos necesarios, con su cotización adjunta.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 Bueno (VoBo)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requisición pasa por autorización antes de proceder a la compra.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información institucional, quién puede hacer qué, y cómo queda todo documentado.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única de contactos institucionales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directorio, todo el sistema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Administrador, Gerente y Líder de Proyecto ECO por cada colegio, en un solo lugar.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 en todos lados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cambia de puesto o de colegio, lo editas aquí una sola vez — y se refleja automáticamente en Checklists, Proyectos, Tickets y Anteproyectos, sin que tengas que corregirlo en cada uno.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consolidada, lista para exportar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módulo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proyectos, anteproyectos y más, listos para analizar.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en PDF o Excel con el formato institucional, listo para compartir o imprimir.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Y AUDITORÍA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qué, y quién hizo qué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permisos específicos por módulo: ver, crear, editar o eliminar. Tú decides el nivel de cada quien.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bitácora completa de todo lo que ocurre en el sistema: quién hizo qué acción, en qué módulo y cuándo.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— Para no perderte nada importante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avisa por dos canales, para que la información te llegue sin importar cómo estés trabajando: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39801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9519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9801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formales de las acciones más importantes: nuevos tickets, autorizaciones, cancelaciones y más.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6669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56387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6669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Campanita interna: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 dentro del propio sistema, visible mientras navegas, para las notificaciones del día a día.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099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primero, Ticket después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200253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autorización del proyecto y, una vez aprobado, ingresa el Ticket con las cotizaciones.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7099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es la fuente oficial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73752" y="200253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de personal se actualiza ahí una sola vez, y se refleja en todo el sistema.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34899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45871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para no perder el hilo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375132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Pendientes y Seguimiento de Proyectos para dar continuidad a cada obra activa.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34899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345871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documentado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73752" y="375132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Notas Técnicas y Auditoría dejan constancia de cada paso del proceso.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Problema — Ayúdanos a mejorar 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funciona como debería, repórtalo directo desde el sistema — así se corrige más rápido para todos: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39801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9519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9801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lo encuentro?: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abajo del menú principal, con el ícono de llave, junto a “Cerrar sesión” — disponible para cualquier usuario.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6669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56387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6669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lleno?: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el módulo donde ocurrió, el tipo de problema de una lista, y si no encaja, lo describes en la opción “Otro”.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4135374"/>
            <a:ext cx="8412480" cy="650000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36287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5374"/>
            <a:ext cx="790956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después?: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recibe tu reporte al instante, y te avisa por correo cuando lo esté revisando y cuando quede resuelto.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3089</Words>
  <Application>Microsoft Office PowerPoint</Application>
  <PresentationFormat>Presentación en pantalla (16:9)</PresentationFormat>
  <Paragraphs>448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Joanathan Reyes Medina</cp:lastModifiedBy>
  <cp:revision>2</cp:revision>
  <dcterms:created xsi:type="dcterms:W3CDTF">2026-07-14T14:35:28Z</dcterms:created>
  <dcterms:modified xsi:type="dcterms:W3CDTF">2026-07-14T15:07:51Z</dcterms:modified>
</cp:coreProperties>
</file>