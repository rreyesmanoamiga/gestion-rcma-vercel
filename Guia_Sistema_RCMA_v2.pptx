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1" r:id="rId18"/>
    <p:sldId id="272"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0" autoAdjust="0"/>
    <p:restoredTop sz="95706" autoAdjust="0"/>
  </p:normalViewPr>
  <p:slideViewPr>
    <p:cSldViewPr snapToGrid="0" snapToObjects="1">
      <p:cViewPr varScale="1">
        <p:scale>
          <a:sx n="146" d="100"/>
          <a:sy n="146" d="100"/>
        </p:scale>
        <p:origin x="34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3914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8A7E"/>
          </a:solidFill>
          <a:ln w="12700">
            <a:solidFill>
              <a:srgbClr val="0D8A7E"/>
            </a:solidFill>
            <a:prstDash val="solid"/>
          </a:ln>
        </p:spPr>
        <p:txBody>
          <a:bodyPr/>
          <a:lstStyle/>
          <a:p>
            <a:endParaRPr lang="es-419" noProof="0" dirty="0"/>
          </a:p>
        </p:txBody>
      </p:sp>
      <p:sp>
        <p:nvSpPr>
          <p:cNvPr id="3" name="Shape 1"/>
          <p:cNvSpPr/>
          <p:nvPr/>
        </p:nvSpPr>
        <p:spPr>
          <a:xfrm>
            <a:off x="7863840" y="-457200"/>
            <a:ext cx="2286000" cy="2286000"/>
          </a:xfrm>
          <a:prstGeom prst="ellipse">
            <a:avLst/>
          </a:prstGeom>
          <a:solidFill>
            <a:srgbClr val="1A4B8C">
              <a:alpha val="40000"/>
            </a:srgbClr>
          </a:solidFill>
          <a:ln w="12700">
            <a:solidFill>
              <a:srgbClr val="1A4B8C">
                <a:alpha val="40000"/>
              </a:srgbClr>
            </a:solidFill>
            <a:prstDash val="solid"/>
          </a:ln>
        </p:spPr>
        <p:txBody>
          <a:bodyPr/>
          <a:lstStyle/>
          <a:p>
            <a:endParaRPr lang="es-419" noProof="0" dirty="0"/>
          </a:p>
        </p:txBody>
      </p:sp>
      <p:sp>
        <p:nvSpPr>
          <p:cNvPr id="4" name="Shape 2"/>
          <p:cNvSpPr/>
          <p:nvPr/>
        </p:nvSpPr>
        <p:spPr>
          <a:xfrm>
            <a:off x="7406640" y="3474720"/>
            <a:ext cx="1645920" cy="1645920"/>
          </a:xfrm>
          <a:prstGeom prst="ellipse">
            <a:avLst/>
          </a:prstGeom>
          <a:solidFill>
            <a:srgbClr val="0D8A7E">
              <a:alpha val="30000"/>
            </a:srgbClr>
          </a:solidFill>
          <a:ln w="12700">
            <a:solidFill>
              <a:srgbClr val="0D8A7E">
                <a:alpha val="30000"/>
              </a:srgbClr>
            </a:solidFill>
            <a:prstDash val="solid"/>
          </a:ln>
        </p:spPr>
        <p:txBody>
          <a:bodyPr/>
          <a:lstStyle/>
          <a:p>
            <a:endParaRPr lang="es-419" noProof="0" dirty="0"/>
          </a:p>
        </p:txBody>
      </p:sp>
      <p:sp>
        <p:nvSpPr>
          <p:cNvPr id="5" name="Text 3"/>
          <p:cNvSpPr/>
          <p:nvPr/>
        </p:nvSpPr>
        <p:spPr>
          <a:xfrm>
            <a:off x="411480" y="640080"/>
            <a:ext cx="7315200" cy="457200"/>
          </a:xfrm>
          <a:prstGeom prst="rect">
            <a:avLst/>
          </a:prstGeom>
          <a:noFill/>
          <a:ln/>
        </p:spPr>
        <p:txBody>
          <a:bodyPr wrap="square" rtlCol="0" anchor="ctr"/>
          <a:lstStyle/>
          <a:p>
            <a:pPr marL="0" indent="0" algn="l">
              <a:buNone/>
            </a:pPr>
            <a:r>
              <a:rPr lang="es-419" sz="1100" b="1" kern="0" spc="300" noProof="0" dirty="0">
                <a:solidFill>
                  <a:srgbClr val="0D8A7E"/>
                </a:solidFill>
                <a:latin typeface="Calibri" pitchFamily="34" charset="0"/>
                <a:ea typeface="Calibri" pitchFamily="34" charset="-122"/>
                <a:cs typeface="Calibri" pitchFamily="34" charset="-120"/>
              </a:rPr>
              <a:t>SISTEMA RCMA</a:t>
            </a:r>
            <a:endParaRPr lang="es-419" sz="1100" noProof="0" dirty="0"/>
          </a:p>
        </p:txBody>
      </p:sp>
      <p:sp>
        <p:nvSpPr>
          <p:cNvPr id="6" name="Text 4"/>
          <p:cNvSpPr/>
          <p:nvPr/>
        </p:nvSpPr>
        <p:spPr>
          <a:xfrm>
            <a:off x="411480" y="1143000"/>
            <a:ext cx="7772400" cy="1097280"/>
          </a:xfrm>
          <a:prstGeom prst="rect">
            <a:avLst/>
          </a:prstGeom>
          <a:noFill/>
          <a:ln/>
        </p:spPr>
        <p:txBody>
          <a:bodyPr wrap="square" rtlCol="0" anchor="ctr"/>
          <a:lstStyle/>
          <a:p>
            <a:pPr marL="0" indent="0" algn="l">
              <a:buNone/>
            </a:pPr>
            <a:r>
              <a:rPr lang="es-419" sz="4200" b="1" noProof="0" dirty="0">
                <a:solidFill>
                  <a:srgbClr val="FFFFFF"/>
                </a:solidFill>
                <a:latin typeface="Calibri" pitchFamily="34" charset="0"/>
                <a:ea typeface="Calibri" pitchFamily="34" charset="-122"/>
                <a:cs typeface="Calibri" pitchFamily="34" charset="-120"/>
              </a:rPr>
              <a:t>Guía de Uso</a:t>
            </a:r>
            <a:endParaRPr lang="es-419" sz="4200" noProof="0" dirty="0"/>
          </a:p>
        </p:txBody>
      </p:sp>
      <p:sp>
        <p:nvSpPr>
          <p:cNvPr id="7" name="Text 5"/>
          <p:cNvSpPr/>
          <p:nvPr/>
        </p:nvSpPr>
        <p:spPr>
          <a:xfrm>
            <a:off x="411480" y="2286000"/>
            <a:ext cx="7315200" cy="1097280"/>
          </a:xfrm>
          <a:prstGeom prst="rect">
            <a:avLst/>
          </a:prstGeom>
          <a:noFill/>
          <a:ln/>
        </p:spPr>
        <p:txBody>
          <a:bodyPr wrap="square" rtlCol="0" anchor="ctr"/>
          <a:lstStyle/>
          <a:p>
            <a:pPr marL="0" indent="0" algn="l">
              <a:buNone/>
            </a:pPr>
            <a:r>
              <a:rPr lang="es-419" sz="2200" noProof="0" dirty="0">
                <a:solidFill>
                  <a:srgbClr val="A8C4E0"/>
                </a:solidFill>
                <a:latin typeface="Calibri" pitchFamily="34" charset="0"/>
                <a:ea typeface="Calibri" pitchFamily="34" charset="-122"/>
                <a:cs typeface="Calibri" pitchFamily="34" charset="-120"/>
              </a:rPr>
              <a:t>Solicitud de Proyecto</a:t>
            </a:r>
            <a:endParaRPr lang="es-419" sz="2200" noProof="0" dirty="0"/>
          </a:p>
          <a:p>
            <a:pPr marL="0" indent="0" algn="l">
              <a:buNone/>
            </a:pPr>
            <a:r>
              <a:rPr lang="es-419" sz="2200" noProof="0" dirty="0">
                <a:solidFill>
                  <a:srgbClr val="A8C4E0"/>
                </a:solidFill>
                <a:latin typeface="Calibri" pitchFamily="34" charset="0"/>
                <a:ea typeface="Calibri" pitchFamily="34" charset="-122"/>
                <a:cs typeface="Calibri" pitchFamily="34" charset="-120"/>
              </a:rPr>
              <a:t>y Ticket MAS</a:t>
            </a:r>
            <a:endParaRPr lang="es-419" sz="2200" noProof="0" dirty="0"/>
          </a:p>
        </p:txBody>
      </p:sp>
      <p:sp>
        <p:nvSpPr>
          <p:cNvPr id="8" name="Text 6"/>
          <p:cNvSpPr/>
          <p:nvPr/>
        </p:nvSpPr>
        <p:spPr>
          <a:xfrm>
            <a:off x="411480" y="4297680"/>
            <a:ext cx="7772400" cy="365760"/>
          </a:xfrm>
          <a:prstGeom prst="rect">
            <a:avLst/>
          </a:prstGeom>
          <a:noFill/>
          <a:ln/>
        </p:spPr>
        <p:txBody>
          <a:bodyPr wrap="square" rtlCol="0" anchor="ctr"/>
          <a:lstStyle/>
          <a:p>
            <a:pPr marL="0" indent="0" algn="l">
              <a:buNone/>
            </a:pPr>
            <a:r>
              <a:rPr lang="es-419" sz="1100" noProof="0" dirty="0">
                <a:solidFill>
                  <a:srgbClr val="64748B"/>
                </a:solidFill>
                <a:latin typeface="Calibri" pitchFamily="34" charset="0"/>
                <a:ea typeface="Calibri" pitchFamily="34" charset="-122"/>
                <a:cs typeface="Calibri" pitchFamily="34" charset="-120"/>
              </a:rPr>
              <a:t>Coordinación de Obras y Mantenimientos ·  Red de Colegios Mano Amiga</a:t>
            </a:r>
            <a:endParaRPr lang="es-419" sz="1100" noProof="0" dirty="0"/>
          </a:p>
        </p:txBody>
      </p:sp>
      <p:pic>
        <p:nvPicPr>
          <p:cNvPr id="10" name="Imagen 9">
            <a:extLst>
              <a:ext uri="{FF2B5EF4-FFF2-40B4-BE49-F238E27FC236}">
                <a16:creationId xmlns:a16="http://schemas.microsoft.com/office/drawing/2014/main" id="{8D99AE1F-1F31-A89A-CFD2-B77B76621B07}"/>
              </a:ext>
            </a:extLst>
          </p:cNvPr>
          <p:cNvPicPr>
            <a:picLocks noChangeAspect="1"/>
          </p:cNvPicPr>
          <p:nvPr/>
        </p:nvPicPr>
        <p:blipFill>
          <a:blip r:embed="rId3">
            <a:alphaModFix amt="35000"/>
          </a:blip>
          <a:stretch>
            <a:fillRect/>
          </a:stretch>
        </p:blipFill>
        <p:spPr>
          <a:xfrm>
            <a:off x="6581734" y="158074"/>
            <a:ext cx="1213526" cy="12135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s-419" noProof="0" dirty="0"/>
          </a:p>
        </p:txBody>
      </p:sp>
      <p:sp>
        <p:nvSpPr>
          <p:cNvPr id="3" name="Text 1"/>
          <p:cNvSpPr/>
          <p:nvPr/>
        </p:nvSpPr>
        <p:spPr>
          <a:xfrm>
            <a:off x="365760" y="91440"/>
            <a:ext cx="8412480" cy="731520"/>
          </a:xfrm>
          <a:prstGeom prst="rect">
            <a:avLst/>
          </a:prstGeom>
          <a:noFill/>
          <a:ln/>
        </p:spPr>
        <p:txBody>
          <a:bodyPr wrap="square" rtlCol="0" anchor="ctr"/>
          <a:lstStyle/>
          <a:p>
            <a:pPr marL="0" indent="0" algn="l">
              <a:buNone/>
            </a:pPr>
            <a:r>
              <a:rPr lang="es-419" sz="2200" b="1" noProof="0" dirty="0">
                <a:solidFill>
                  <a:srgbClr val="FFFFFF"/>
                </a:solidFill>
                <a:latin typeface="Calibri" pitchFamily="34" charset="0"/>
                <a:ea typeface="Calibri" pitchFamily="34" charset="-122"/>
                <a:cs typeface="Calibri" pitchFamily="34" charset="-120"/>
              </a:rPr>
              <a:t>Contenido de esta guía</a:t>
            </a:r>
            <a:endParaRPr lang="es-419" sz="2200" noProof="0" dirty="0"/>
          </a:p>
        </p:txBody>
      </p:sp>
      <p:sp>
        <p:nvSpPr>
          <p:cNvPr id="4" name="Shape 2"/>
          <p:cNvSpPr/>
          <p:nvPr/>
        </p:nvSpPr>
        <p:spPr>
          <a:xfrm>
            <a:off x="320040" y="1051560"/>
            <a:ext cx="4023360" cy="475488"/>
          </a:xfrm>
          <a:prstGeom prst="rect">
            <a:avLst/>
          </a:prstGeom>
          <a:solidFill>
            <a:srgbClr val="1A4B8C"/>
          </a:solidFill>
          <a:ln w="12700">
            <a:solidFill>
              <a:srgbClr val="1A4B8C"/>
            </a:solidFill>
            <a:prstDash val="solid"/>
          </a:ln>
        </p:spPr>
        <p:txBody>
          <a:bodyPr/>
          <a:lstStyle/>
          <a:p>
            <a:endParaRPr lang="es-419" noProof="0" dirty="0"/>
          </a:p>
        </p:txBody>
      </p:sp>
      <p:sp>
        <p:nvSpPr>
          <p:cNvPr id="5" name="Text 3"/>
          <p:cNvSpPr/>
          <p:nvPr/>
        </p:nvSpPr>
        <p:spPr>
          <a:xfrm>
            <a:off x="320040" y="1051560"/>
            <a:ext cx="2011680" cy="475488"/>
          </a:xfrm>
          <a:prstGeom prst="rect">
            <a:avLst/>
          </a:prstGeom>
          <a:noFill/>
          <a:ln/>
        </p:spPr>
        <p:txBody>
          <a:bodyPr wrap="square" rtlCol="0" anchor="ctr"/>
          <a:lstStyle/>
          <a:p>
            <a:pPr marL="0" indent="0" algn="ctr">
              <a:buNone/>
            </a:pPr>
            <a:r>
              <a:rPr lang="es-419" sz="1300" b="1" noProof="0" dirty="0">
                <a:solidFill>
                  <a:srgbClr val="FFFFFF"/>
                </a:solidFill>
                <a:latin typeface="Calibri" pitchFamily="34" charset="0"/>
                <a:ea typeface="Calibri" pitchFamily="34" charset="-122"/>
                <a:cs typeface="Calibri" pitchFamily="34" charset="-120"/>
              </a:rPr>
              <a:t>PARTE 1</a:t>
            </a:r>
            <a:endParaRPr lang="es-419" sz="1300" noProof="0" dirty="0"/>
          </a:p>
        </p:txBody>
      </p:sp>
      <p:sp>
        <p:nvSpPr>
          <p:cNvPr id="6" name="Text 4"/>
          <p:cNvSpPr/>
          <p:nvPr/>
        </p:nvSpPr>
        <p:spPr>
          <a:xfrm>
            <a:off x="2331720" y="1051560"/>
            <a:ext cx="2011680" cy="475488"/>
          </a:xfrm>
          <a:prstGeom prst="rect">
            <a:avLst/>
          </a:prstGeom>
          <a:noFill/>
          <a:ln/>
        </p:spPr>
        <p:txBody>
          <a:bodyPr wrap="square" rtlCol="0" anchor="ctr"/>
          <a:lstStyle/>
          <a:p>
            <a:pPr marL="0" indent="0" algn="ctr">
              <a:buNone/>
            </a:pPr>
            <a:r>
              <a:rPr lang="es-419" sz="1100" noProof="0" dirty="0">
                <a:solidFill>
                  <a:srgbClr val="FFFFFF"/>
                </a:solidFill>
                <a:latin typeface="Calibri" pitchFamily="34" charset="0"/>
                <a:ea typeface="Calibri" pitchFamily="34" charset="-122"/>
                <a:cs typeface="Calibri" pitchFamily="34" charset="-120"/>
              </a:rPr>
              <a:t>Solicitud de Proyecto</a:t>
            </a:r>
            <a:endParaRPr lang="es-419" sz="1100" noProof="0" dirty="0"/>
          </a:p>
        </p:txBody>
      </p:sp>
      <p:sp>
        <p:nvSpPr>
          <p:cNvPr id="7" name="Shape 5"/>
          <p:cNvSpPr/>
          <p:nvPr/>
        </p:nvSpPr>
        <p:spPr>
          <a:xfrm>
            <a:off x="320040" y="1627632"/>
            <a:ext cx="4023360" cy="402336"/>
          </a:xfrm>
          <a:prstGeom prst="rect">
            <a:avLst/>
          </a:prstGeom>
          <a:solidFill>
            <a:srgbClr val="F1F5F9"/>
          </a:solidFill>
          <a:ln w="12700">
            <a:solidFill>
              <a:srgbClr val="E2E8F0"/>
            </a:solidFill>
            <a:prstDash val="solid"/>
          </a:ln>
        </p:spPr>
        <p:txBody>
          <a:bodyPr/>
          <a:lstStyle/>
          <a:p>
            <a:endParaRPr lang="es-419" noProof="0" dirty="0"/>
          </a:p>
        </p:txBody>
      </p:sp>
      <p:sp>
        <p:nvSpPr>
          <p:cNvPr id="8" name="Shape 6"/>
          <p:cNvSpPr/>
          <p:nvPr/>
        </p:nvSpPr>
        <p:spPr>
          <a:xfrm>
            <a:off x="320040" y="1627632"/>
            <a:ext cx="64008" cy="402336"/>
          </a:xfrm>
          <a:prstGeom prst="rect">
            <a:avLst/>
          </a:prstGeom>
          <a:solidFill>
            <a:srgbClr val="1A4B8C"/>
          </a:solidFill>
          <a:ln w="12700">
            <a:solidFill>
              <a:srgbClr val="1A4B8C"/>
            </a:solidFill>
            <a:prstDash val="solid"/>
          </a:ln>
        </p:spPr>
        <p:txBody>
          <a:bodyPr/>
          <a:lstStyle/>
          <a:p>
            <a:endParaRPr lang="es-419" noProof="0" dirty="0"/>
          </a:p>
        </p:txBody>
      </p:sp>
      <p:sp>
        <p:nvSpPr>
          <p:cNvPr id="9" name="Text 7"/>
          <p:cNvSpPr/>
          <p:nvPr/>
        </p:nvSpPr>
        <p:spPr>
          <a:xfrm>
            <a:off x="448056" y="1627632"/>
            <a:ext cx="3840480" cy="402336"/>
          </a:xfrm>
          <a:prstGeom prst="rect">
            <a:avLst/>
          </a:prstGeom>
          <a:noFill/>
          <a:ln/>
        </p:spPr>
        <p:txBody>
          <a:bodyPr wrap="square" rtlCol="0" anchor="ctr"/>
          <a:lstStyle/>
          <a:p>
            <a:pPr marL="0" indent="0">
              <a:buNone/>
            </a:pPr>
            <a:r>
              <a:rPr lang="es-419" sz="1050" noProof="0" dirty="0">
                <a:solidFill>
                  <a:srgbClr val="334155"/>
                </a:solidFill>
                <a:latin typeface="Calibri" pitchFamily="34" charset="0"/>
                <a:ea typeface="Calibri" pitchFamily="34" charset="-122"/>
                <a:cs typeface="Calibri" pitchFamily="34" charset="-120"/>
              </a:rPr>
              <a:t>1.  ¿Qué es y para qué sirve?</a:t>
            </a:r>
            <a:endParaRPr lang="es-419" sz="1050" noProof="0" dirty="0"/>
          </a:p>
        </p:txBody>
      </p:sp>
      <p:sp>
        <p:nvSpPr>
          <p:cNvPr id="10" name="Shape 8"/>
          <p:cNvSpPr/>
          <p:nvPr/>
        </p:nvSpPr>
        <p:spPr>
          <a:xfrm>
            <a:off x="320040" y="2075688"/>
            <a:ext cx="4023360" cy="402336"/>
          </a:xfrm>
          <a:prstGeom prst="rect">
            <a:avLst/>
          </a:prstGeom>
          <a:solidFill>
            <a:srgbClr val="FFFFFF"/>
          </a:solidFill>
          <a:ln w="12700">
            <a:solidFill>
              <a:srgbClr val="E2E8F0"/>
            </a:solidFill>
            <a:prstDash val="solid"/>
          </a:ln>
        </p:spPr>
        <p:txBody>
          <a:bodyPr/>
          <a:lstStyle/>
          <a:p>
            <a:endParaRPr lang="es-419" noProof="0" dirty="0"/>
          </a:p>
        </p:txBody>
      </p:sp>
      <p:sp>
        <p:nvSpPr>
          <p:cNvPr id="11" name="Shape 9"/>
          <p:cNvSpPr/>
          <p:nvPr/>
        </p:nvSpPr>
        <p:spPr>
          <a:xfrm>
            <a:off x="320040" y="2075688"/>
            <a:ext cx="64008" cy="402336"/>
          </a:xfrm>
          <a:prstGeom prst="rect">
            <a:avLst/>
          </a:prstGeom>
          <a:solidFill>
            <a:srgbClr val="1A4B8C"/>
          </a:solidFill>
          <a:ln w="12700">
            <a:solidFill>
              <a:srgbClr val="1A4B8C"/>
            </a:solidFill>
            <a:prstDash val="solid"/>
          </a:ln>
        </p:spPr>
        <p:txBody>
          <a:bodyPr/>
          <a:lstStyle/>
          <a:p>
            <a:endParaRPr lang="es-419" noProof="0" dirty="0"/>
          </a:p>
        </p:txBody>
      </p:sp>
      <p:sp>
        <p:nvSpPr>
          <p:cNvPr id="12" name="Text 10"/>
          <p:cNvSpPr/>
          <p:nvPr/>
        </p:nvSpPr>
        <p:spPr>
          <a:xfrm>
            <a:off x="448056" y="2075688"/>
            <a:ext cx="3840480" cy="402336"/>
          </a:xfrm>
          <a:prstGeom prst="rect">
            <a:avLst/>
          </a:prstGeom>
          <a:noFill/>
          <a:ln/>
        </p:spPr>
        <p:txBody>
          <a:bodyPr wrap="square" rtlCol="0" anchor="ctr"/>
          <a:lstStyle/>
          <a:p>
            <a:pPr marL="0" indent="0">
              <a:buNone/>
            </a:pPr>
            <a:r>
              <a:rPr lang="es-419" sz="1050" noProof="0" dirty="0">
                <a:solidFill>
                  <a:srgbClr val="334155"/>
                </a:solidFill>
                <a:latin typeface="Calibri" pitchFamily="34" charset="0"/>
                <a:ea typeface="Calibri" pitchFamily="34" charset="-122"/>
                <a:cs typeface="Calibri" pitchFamily="34" charset="-120"/>
              </a:rPr>
              <a:t>2.  ¿Cuándo utilizarla?</a:t>
            </a:r>
            <a:endParaRPr lang="es-419" sz="1050" noProof="0" dirty="0"/>
          </a:p>
        </p:txBody>
      </p:sp>
      <p:sp>
        <p:nvSpPr>
          <p:cNvPr id="13" name="Shape 11"/>
          <p:cNvSpPr/>
          <p:nvPr/>
        </p:nvSpPr>
        <p:spPr>
          <a:xfrm>
            <a:off x="320040" y="2523744"/>
            <a:ext cx="4023360" cy="402336"/>
          </a:xfrm>
          <a:prstGeom prst="rect">
            <a:avLst/>
          </a:prstGeom>
          <a:solidFill>
            <a:srgbClr val="F1F5F9"/>
          </a:solidFill>
          <a:ln w="12700">
            <a:solidFill>
              <a:srgbClr val="E2E8F0"/>
            </a:solidFill>
            <a:prstDash val="solid"/>
          </a:ln>
        </p:spPr>
        <p:txBody>
          <a:bodyPr/>
          <a:lstStyle/>
          <a:p>
            <a:endParaRPr lang="es-419" noProof="0" dirty="0"/>
          </a:p>
        </p:txBody>
      </p:sp>
      <p:sp>
        <p:nvSpPr>
          <p:cNvPr id="14" name="Shape 12"/>
          <p:cNvSpPr/>
          <p:nvPr/>
        </p:nvSpPr>
        <p:spPr>
          <a:xfrm>
            <a:off x="320040" y="2523744"/>
            <a:ext cx="64008" cy="402336"/>
          </a:xfrm>
          <a:prstGeom prst="rect">
            <a:avLst/>
          </a:prstGeom>
          <a:solidFill>
            <a:srgbClr val="1A4B8C"/>
          </a:solidFill>
          <a:ln w="12700">
            <a:solidFill>
              <a:srgbClr val="1A4B8C"/>
            </a:solidFill>
            <a:prstDash val="solid"/>
          </a:ln>
        </p:spPr>
        <p:txBody>
          <a:bodyPr/>
          <a:lstStyle/>
          <a:p>
            <a:endParaRPr lang="es-419" noProof="0" dirty="0"/>
          </a:p>
        </p:txBody>
      </p:sp>
      <p:sp>
        <p:nvSpPr>
          <p:cNvPr id="15" name="Text 13"/>
          <p:cNvSpPr/>
          <p:nvPr/>
        </p:nvSpPr>
        <p:spPr>
          <a:xfrm>
            <a:off x="448056" y="2523744"/>
            <a:ext cx="3840480" cy="402336"/>
          </a:xfrm>
          <a:prstGeom prst="rect">
            <a:avLst/>
          </a:prstGeom>
          <a:noFill/>
          <a:ln/>
        </p:spPr>
        <p:txBody>
          <a:bodyPr wrap="square" rtlCol="0" anchor="ctr"/>
          <a:lstStyle/>
          <a:p>
            <a:pPr marL="0" indent="0">
              <a:buNone/>
            </a:pPr>
            <a:r>
              <a:rPr lang="es-419" sz="1050" noProof="0" dirty="0">
                <a:solidFill>
                  <a:srgbClr val="334155"/>
                </a:solidFill>
                <a:latin typeface="Calibri" pitchFamily="34" charset="0"/>
                <a:ea typeface="Calibri" pitchFamily="34" charset="-122"/>
                <a:cs typeface="Calibri" pitchFamily="34" charset="-120"/>
              </a:rPr>
              <a:t>3.  Cómo llenar el formulario</a:t>
            </a:r>
            <a:endParaRPr lang="es-419" sz="1050" noProof="0" dirty="0"/>
          </a:p>
        </p:txBody>
      </p:sp>
      <p:sp>
        <p:nvSpPr>
          <p:cNvPr id="16" name="Shape 14"/>
          <p:cNvSpPr/>
          <p:nvPr/>
        </p:nvSpPr>
        <p:spPr>
          <a:xfrm>
            <a:off x="320040" y="2971800"/>
            <a:ext cx="4023360" cy="402336"/>
          </a:xfrm>
          <a:prstGeom prst="rect">
            <a:avLst/>
          </a:prstGeom>
          <a:solidFill>
            <a:srgbClr val="FFFFFF"/>
          </a:solidFill>
          <a:ln w="12700">
            <a:solidFill>
              <a:srgbClr val="E2E8F0"/>
            </a:solidFill>
            <a:prstDash val="solid"/>
          </a:ln>
        </p:spPr>
        <p:txBody>
          <a:bodyPr/>
          <a:lstStyle/>
          <a:p>
            <a:endParaRPr lang="es-419" noProof="0" dirty="0"/>
          </a:p>
        </p:txBody>
      </p:sp>
      <p:sp>
        <p:nvSpPr>
          <p:cNvPr id="17" name="Shape 15"/>
          <p:cNvSpPr/>
          <p:nvPr/>
        </p:nvSpPr>
        <p:spPr>
          <a:xfrm>
            <a:off x="320040" y="2971800"/>
            <a:ext cx="64008" cy="402336"/>
          </a:xfrm>
          <a:prstGeom prst="rect">
            <a:avLst/>
          </a:prstGeom>
          <a:solidFill>
            <a:srgbClr val="1A4B8C"/>
          </a:solidFill>
          <a:ln w="12700">
            <a:solidFill>
              <a:srgbClr val="1A4B8C"/>
            </a:solidFill>
            <a:prstDash val="solid"/>
          </a:ln>
        </p:spPr>
        <p:txBody>
          <a:bodyPr/>
          <a:lstStyle/>
          <a:p>
            <a:endParaRPr lang="es-419" noProof="0" dirty="0"/>
          </a:p>
        </p:txBody>
      </p:sp>
      <p:sp>
        <p:nvSpPr>
          <p:cNvPr id="18" name="Text 16"/>
          <p:cNvSpPr/>
          <p:nvPr/>
        </p:nvSpPr>
        <p:spPr>
          <a:xfrm>
            <a:off x="448056" y="2971800"/>
            <a:ext cx="3840480" cy="402336"/>
          </a:xfrm>
          <a:prstGeom prst="rect">
            <a:avLst/>
          </a:prstGeom>
          <a:noFill/>
          <a:ln/>
        </p:spPr>
        <p:txBody>
          <a:bodyPr wrap="square" rtlCol="0" anchor="ctr"/>
          <a:lstStyle/>
          <a:p>
            <a:pPr marL="0" indent="0">
              <a:buNone/>
            </a:pPr>
            <a:r>
              <a:rPr lang="es-419" sz="1050" noProof="0" dirty="0">
                <a:solidFill>
                  <a:srgbClr val="334155"/>
                </a:solidFill>
                <a:latin typeface="Calibri" pitchFamily="34" charset="0"/>
                <a:ea typeface="Calibri" pitchFamily="34" charset="-122"/>
                <a:cs typeface="Calibri" pitchFamily="34" charset="-120"/>
              </a:rPr>
              <a:t>4.  Sección I: Identificación</a:t>
            </a:r>
            <a:endParaRPr lang="es-419" sz="1050" noProof="0" dirty="0"/>
          </a:p>
        </p:txBody>
      </p:sp>
      <p:sp>
        <p:nvSpPr>
          <p:cNvPr id="19" name="Shape 17"/>
          <p:cNvSpPr/>
          <p:nvPr/>
        </p:nvSpPr>
        <p:spPr>
          <a:xfrm>
            <a:off x="320040" y="3419856"/>
            <a:ext cx="4023360" cy="402336"/>
          </a:xfrm>
          <a:prstGeom prst="rect">
            <a:avLst/>
          </a:prstGeom>
          <a:solidFill>
            <a:srgbClr val="F1F5F9"/>
          </a:solidFill>
          <a:ln w="12700">
            <a:solidFill>
              <a:srgbClr val="E2E8F0"/>
            </a:solidFill>
            <a:prstDash val="solid"/>
          </a:ln>
        </p:spPr>
        <p:txBody>
          <a:bodyPr/>
          <a:lstStyle/>
          <a:p>
            <a:endParaRPr lang="es-419" noProof="0" dirty="0"/>
          </a:p>
        </p:txBody>
      </p:sp>
      <p:sp>
        <p:nvSpPr>
          <p:cNvPr id="20" name="Shape 18"/>
          <p:cNvSpPr/>
          <p:nvPr/>
        </p:nvSpPr>
        <p:spPr>
          <a:xfrm>
            <a:off x="320040" y="3419856"/>
            <a:ext cx="64008" cy="402336"/>
          </a:xfrm>
          <a:prstGeom prst="rect">
            <a:avLst/>
          </a:prstGeom>
          <a:solidFill>
            <a:srgbClr val="1A4B8C"/>
          </a:solidFill>
          <a:ln w="12700">
            <a:solidFill>
              <a:srgbClr val="1A4B8C"/>
            </a:solidFill>
            <a:prstDash val="solid"/>
          </a:ln>
        </p:spPr>
        <p:txBody>
          <a:bodyPr/>
          <a:lstStyle/>
          <a:p>
            <a:endParaRPr lang="es-419" noProof="0" dirty="0"/>
          </a:p>
        </p:txBody>
      </p:sp>
      <p:sp>
        <p:nvSpPr>
          <p:cNvPr id="21" name="Text 19"/>
          <p:cNvSpPr/>
          <p:nvPr/>
        </p:nvSpPr>
        <p:spPr>
          <a:xfrm>
            <a:off x="448056" y="3419856"/>
            <a:ext cx="3840480" cy="402336"/>
          </a:xfrm>
          <a:prstGeom prst="rect">
            <a:avLst/>
          </a:prstGeom>
          <a:noFill/>
          <a:ln/>
        </p:spPr>
        <p:txBody>
          <a:bodyPr wrap="square" rtlCol="0" anchor="ctr"/>
          <a:lstStyle/>
          <a:p>
            <a:pPr marL="0" indent="0">
              <a:buNone/>
            </a:pPr>
            <a:r>
              <a:rPr lang="es-419" sz="1050" noProof="0" dirty="0">
                <a:solidFill>
                  <a:srgbClr val="334155"/>
                </a:solidFill>
                <a:latin typeface="Calibri" pitchFamily="34" charset="0"/>
                <a:ea typeface="Calibri" pitchFamily="34" charset="-122"/>
                <a:cs typeface="Calibri" pitchFamily="34" charset="-120"/>
              </a:rPr>
              <a:t>5.  Sección II: Datos del proyecto</a:t>
            </a:r>
            <a:endParaRPr lang="es-419" sz="1050" noProof="0" dirty="0"/>
          </a:p>
        </p:txBody>
      </p:sp>
      <p:sp>
        <p:nvSpPr>
          <p:cNvPr id="22" name="Shape 20"/>
          <p:cNvSpPr/>
          <p:nvPr/>
        </p:nvSpPr>
        <p:spPr>
          <a:xfrm>
            <a:off x="320040" y="3867912"/>
            <a:ext cx="4023360" cy="402336"/>
          </a:xfrm>
          <a:prstGeom prst="rect">
            <a:avLst/>
          </a:prstGeom>
          <a:solidFill>
            <a:srgbClr val="FFFFFF"/>
          </a:solidFill>
          <a:ln w="12700">
            <a:solidFill>
              <a:srgbClr val="E2E8F0"/>
            </a:solidFill>
            <a:prstDash val="solid"/>
          </a:ln>
        </p:spPr>
        <p:txBody>
          <a:bodyPr/>
          <a:lstStyle/>
          <a:p>
            <a:endParaRPr lang="es-419" noProof="0" dirty="0"/>
          </a:p>
        </p:txBody>
      </p:sp>
      <p:sp>
        <p:nvSpPr>
          <p:cNvPr id="23" name="Shape 21"/>
          <p:cNvSpPr/>
          <p:nvPr/>
        </p:nvSpPr>
        <p:spPr>
          <a:xfrm>
            <a:off x="320040" y="3867912"/>
            <a:ext cx="64008" cy="402336"/>
          </a:xfrm>
          <a:prstGeom prst="rect">
            <a:avLst/>
          </a:prstGeom>
          <a:solidFill>
            <a:srgbClr val="1A4B8C"/>
          </a:solidFill>
          <a:ln w="12700">
            <a:solidFill>
              <a:srgbClr val="1A4B8C"/>
            </a:solidFill>
            <a:prstDash val="solid"/>
          </a:ln>
        </p:spPr>
        <p:txBody>
          <a:bodyPr/>
          <a:lstStyle/>
          <a:p>
            <a:endParaRPr lang="es-419" noProof="0" dirty="0"/>
          </a:p>
        </p:txBody>
      </p:sp>
      <p:sp>
        <p:nvSpPr>
          <p:cNvPr id="24" name="Text 22"/>
          <p:cNvSpPr/>
          <p:nvPr/>
        </p:nvSpPr>
        <p:spPr>
          <a:xfrm>
            <a:off x="448056" y="3867912"/>
            <a:ext cx="3840480" cy="402336"/>
          </a:xfrm>
          <a:prstGeom prst="rect">
            <a:avLst/>
          </a:prstGeom>
          <a:noFill/>
          <a:ln/>
        </p:spPr>
        <p:txBody>
          <a:bodyPr wrap="square" rtlCol="0" anchor="ctr"/>
          <a:lstStyle/>
          <a:p>
            <a:pPr marL="0" indent="0">
              <a:buNone/>
            </a:pPr>
            <a:r>
              <a:rPr lang="es-419" sz="1050" noProof="0" dirty="0">
                <a:solidFill>
                  <a:srgbClr val="334155"/>
                </a:solidFill>
                <a:latin typeface="Calibri" pitchFamily="34" charset="0"/>
                <a:ea typeface="Calibri" pitchFamily="34" charset="-122"/>
                <a:cs typeface="Calibri" pitchFamily="34" charset="-120"/>
              </a:rPr>
              <a:t>6.  Sección III: Financiamiento</a:t>
            </a:r>
            <a:endParaRPr lang="es-419" sz="1050" noProof="0" dirty="0"/>
          </a:p>
        </p:txBody>
      </p:sp>
      <p:sp>
        <p:nvSpPr>
          <p:cNvPr id="25" name="Shape 23"/>
          <p:cNvSpPr/>
          <p:nvPr/>
        </p:nvSpPr>
        <p:spPr>
          <a:xfrm>
            <a:off x="320040" y="4315968"/>
            <a:ext cx="4023360" cy="402336"/>
          </a:xfrm>
          <a:prstGeom prst="rect">
            <a:avLst/>
          </a:prstGeom>
          <a:solidFill>
            <a:srgbClr val="F1F5F9"/>
          </a:solidFill>
          <a:ln w="12700">
            <a:solidFill>
              <a:srgbClr val="E2E8F0"/>
            </a:solidFill>
            <a:prstDash val="solid"/>
          </a:ln>
        </p:spPr>
        <p:txBody>
          <a:bodyPr/>
          <a:lstStyle/>
          <a:p>
            <a:endParaRPr lang="es-419" noProof="0" dirty="0"/>
          </a:p>
        </p:txBody>
      </p:sp>
      <p:sp>
        <p:nvSpPr>
          <p:cNvPr id="26" name="Shape 24"/>
          <p:cNvSpPr/>
          <p:nvPr/>
        </p:nvSpPr>
        <p:spPr>
          <a:xfrm>
            <a:off x="320040" y="4315968"/>
            <a:ext cx="64008" cy="402336"/>
          </a:xfrm>
          <a:prstGeom prst="rect">
            <a:avLst/>
          </a:prstGeom>
          <a:solidFill>
            <a:srgbClr val="1A4B8C"/>
          </a:solidFill>
          <a:ln w="12700">
            <a:solidFill>
              <a:srgbClr val="1A4B8C"/>
            </a:solidFill>
            <a:prstDash val="solid"/>
          </a:ln>
        </p:spPr>
        <p:txBody>
          <a:bodyPr/>
          <a:lstStyle/>
          <a:p>
            <a:endParaRPr lang="es-419" noProof="0" dirty="0"/>
          </a:p>
        </p:txBody>
      </p:sp>
      <p:sp>
        <p:nvSpPr>
          <p:cNvPr id="27" name="Text 25"/>
          <p:cNvSpPr/>
          <p:nvPr/>
        </p:nvSpPr>
        <p:spPr>
          <a:xfrm>
            <a:off x="448056" y="4315968"/>
            <a:ext cx="3840480" cy="402336"/>
          </a:xfrm>
          <a:prstGeom prst="rect">
            <a:avLst/>
          </a:prstGeom>
          <a:noFill/>
          <a:ln/>
        </p:spPr>
        <p:txBody>
          <a:bodyPr wrap="square" rtlCol="0" anchor="ctr"/>
          <a:lstStyle/>
          <a:p>
            <a:pPr marL="0" indent="0">
              <a:buNone/>
            </a:pPr>
            <a:r>
              <a:rPr lang="es-419" sz="1050" noProof="0" dirty="0">
                <a:solidFill>
                  <a:srgbClr val="334155"/>
                </a:solidFill>
                <a:latin typeface="Calibri" pitchFamily="34" charset="0"/>
                <a:ea typeface="Calibri" pitchFamily="34" charset="-122"/>
                <a:cs typeface="Calibri" pitchFamily="34" charset="-120"/>
              </a:rPr>
              <a:t>7.  ¿Qué pasa al enviarla?</a:t>
            </a:r>
            <a:endParaRPr lang="es-419" sz="1050" noProof="0" dirty="0"/>
          </a:p>
        </p:txBody>
      </p:sp>
      <p:sp>
        <p:nvSpPr>
          <p:cNvPr id="28" name="Shape 26"/>
          <p:cNvSpPr/>
          <p:nvPr/>
        </p:nvSpPr>
        <p:spPr>
          <a:xfrm>
            <a:off x="4709160" y="1051560"/>
            <a:ext cx="4023360" cy="475488"/>
          </a:xfrm>
          <a:prstGeom prst="rect">
            <a:avLst/>
          </a:prstGeom>
          <a:solidFill>
            <a:srgbClr val="0D8A7E"/>
          </a:solidFill>
          <a:ln w="12700">
            <a:solidFill>
              <a:srgbClr val="0D8A7E"/>
            </a:solidFill>
            <a:prstDash val="solid"/>
          </a:ln>
        </p:spPr>
        <p:txBody>
          <a:bodyPr/>
          <a:lstStyle/>
          <a:p>
            <a:endParaRPr lang="es-419" noProof="0" dirty="0"/>
          </a:p>
        </p:txBody>
      </p:sp>
      <p:sp>
        <p:nvSpPr>
          <p:cNvPr id="29" name="Text 27"/>
          <p:cNvSpPr/>
          <p:nvPr/>
        </p:nvSpPr>
        <p:spPr>
          <a:xfrm>
            <a:off x="4709160" y="1051560"/>
            <a:ext cx="2011680" cy="475488"/>
          </a:xfrm>
          <a:prstGeom prst="rect">
            <a:avLst/>
          </a:prstGeom>
          <a:noFill/>
          <a:ln/>
        </p:spPr>
        <p:txBody>
          <a:bodyPr wrap="square" rtlCol="0" anchor="ctr"/>
          <a:lstStyle/>
          <a:p>
            <a:pPr marL="0" indent="0" algn="ctr">
              <a:buNone/>
            </a:pPr>
            <a:r>
              <a:rPr lang="es-419" sz="1300" b="1" noProof="0" dirty="0">
                <a:solidFill>
                  <a:srgbClr val="FFFFFF"/>
                </a:solidFill>
                <a:latin typeface="Calibri" pitchFamily="34" charset="0"/>
                <a:ea typeface="Calibri" pitchFamily="34" charset="-122"/>
                <a:cs typeface="Calibri" pitchFamily="34" charset="-120"/>
              </a:rPr>
              <a:t>PARTE 2</a:t>
            </a:r>
            <a:endParaRPr lang="es-419" sz="1300" noProof="0" dirty="0"/>
          </a:p>
        </p:txBody>
      </p:sp>
      <p:sp>
        <p:nvSpPr>
          <p:cNvPr id="30" name="Text 28"/>
          <p:cNvSpPr/>
          <p:nvPr/>
        </p:nvSpPr>
        <p:spPr>
          <a:xfrm>
            <a:off x="6720840" y="1051560"/>
            <a:ext cx="2011680" cy="475488"/>
          </a:xfrm>
          <a:prstGeom prst="rect">
            <a:avLst/>
          </a:prstGeom>
          <a:noFill/>
          <a:ln/>
        </p:spPr>
        <p:txBody>
          <a:bodyPr wrap="square" rtlCol="0" anchor="ctr"/>
          <a:lstStyle/>
          <a:p>
            <a:pPr marL="0" indent="0" algn="ctr">
              <a:buNone/>
            </a:pPr>
            <a:r>
              <a:rPr lang="es-419" sz="1100" noProof="0" dirty="0">
                <a:solidFill>
                  <a:srgbClr val="FFFFFF"/>
                </a:solidFill>
                <a:latin typeface="Calibri" pitchFamily="34" charset="0"/>
                <a:ea typeface="Calibri" pitchFamily="34" charset="-122"/>
                <a:cs typeface="Calibri" pitchFamily="34" charset="-120"/>
              </a:rPr>
              <a:t>Ticket MAS</a:t>
            </a:r>
            <a:endParaRPr lang="es-419" sz="1100" noProof="0" dirty="0"/>
          </a:p>
        </p:txBody>
      </p:sp>
      <p:sp>
        <p:nvSpPr>
          <p:cNvPr id="31" name="Shape 29"/>
          <p:cNvSpPr/>
          <p:nvPr/>
        </p:nvSpPr>
        <p:spPr>
          <a:xfrm>
            <a:off x="4709160" y="1627632"/>
            <a:ext cx="4023360" cy="402336"/>
          </a:xfrm>
          <a:prstGeom prst="rect">
            <a:avLst/>
          </a:prstGeom>
          <a:solidFill>
            <a:srgbClr val="F1F5F9"/>
          </a:solidFill>
          <a:ln w="12700">
            <a:solidFill>
              <a:srgbClr val="E2E8F0"/>
            </a:solidFill>
            <a:prstDash val="solid"/>
          </a:ln>
        </p:spPr>
        <p:txBody>
          <a:bodyPr/>
          <a:lstStyle/>
          <a:p>
            <a:endParaRPr lang="es-419" noProof="0" dirty="0"/>
          </a:p>
        </p:txBody>
      </p:sp>
      <p:sp>
        <p:nvSpPr>
          <p:cNvPr id="32" name="Shape 30"/>
          <p:cNvSpPr/>
          <p:nvPr/>
        </p:nvSpPr>
        <p:spPr>
          <a:xfrm>
            <a:off x="4709160" y="1627632"/>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33" name="Text 31"/>
          <p:cNvSpPr/>
          <p:nvPr/>
        </p:nvSpPr>
        <p:spPr>
          <a:xfrm>
            <a:off x="4837176" y="1627632"/>
            <a:ext cx="3840480" cy="402336"/>
          </a:xfrm>
          <a:prstGeom prst="rect">
            <a:avLst/>
          </a:prstGeom>
          <a:noFill/>
          <a:ln/>
        </p:spPr>
        <p:txBody>
          <a:bodyPr wrap="square" rtlCol="0" anchor="ctr"/>
          <a:lstStyle/>
          <a:p>
            <a:pPr marL="0" indent="0">
              <a:buNone/>
            </a:pPr>
            <a:r>
              <a:rPr lang="es-419" sz="1050" noProof="0" dirty="0">
                <a:solidFill>
                  <a:srgbClr val="334155"/>
                </a:solidFill>
                <a:latin typeface="Calibri" pitchFamily="34" charset="0"/>
                <a:ea typeface="Calibri" pitchFamily="34" charset="-122"/>
                <a:cs typeface="Calibri" pitchFamily="34" charset="-120"/>
              </a:rPr>
              <a:t>1.  ¿Qué es el Ticket MAS?</a:t>
            </a:r>
            <a:endParaRPr lang="es-419" sz="1050" noProof="0" dirty="0"/>
          </a:p>
        </p:txBody>
      </p:sp>
      <p:sp>
        <p:nvSpPr>
          <p:cNvPr id="34" name="Shape 32"/>
          <p:cNvSpPr/>
          <p:nvPr/>
        </p:nvSpPr>
        <p:spPr>
          <a:xfrm>
            <a:off x="4709160" y="2075688"/>
            <a:ext cx="4023360" cy="402336"/>
          </a:xfrm>
          <a:prstGeom prst="rect">
            <a:avLst/>
          </a:prstGeom>
          <a:solidFill>
            <a:srgbClr val="FFFFFF"/>
          </a:solidFill>
          <a:ln w="12700">
            <a:solidFill>
              <a:srgbClr val="E2E8F0"/>
            </a:solidFill>
            <a:prstDash val="solid"/>
          </a:ln>
        </p:spPr>
        <p:txBody>
          <a:bodyPr/>
          <a:lstStyle/>
          <a:p>
            <a:endParaRPr lang="es-419" noProof="0" dirty="0"/>
          </a:p>
        </p:txBody>
      </p:sp>
      <p:sp>
        <p:nvSpPr>
          <p:cNvPr id="35" name="Shape 33"/>
          <p:cNvSpPr/>
          <p:nvPr/>
        </p:nvSpPr>
        <p:spPr>
          <a:xfrm>
            <a:off x="4709160" y="2075688"/>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36" name="Text 34"/>
          <p:cNvSpPr/>
          <p:nvPr/>
        </p:nvSpPr>
        <p:spPr>
          <a:xfrm>
            <a:off x="4837176" y="2075688"/>
            <a:ext cx="3840480" cy="402336"/>
          </a:xfrm>
          <a:prstGeom prst="rect">
            <a:avLst/>
          </a:prstGeom>
          <a:noFill/>
          <a:ln/>
        </p:spPr>
        <p:txBody>
          <a:bodyPr wrap="square" rtlCol="0" anchor="ctr"/>
          <a:lstStyle/>
          <a:p>
            <a:pPr marL="0" indent="0">
              <a:buNone/>
            </a:pPr>
            <a:r>
              <a:rPr lang="es-419" sz="1050" noProof="0" dirty="0">
                <a:solidFill>
                  <a:srgbClr val="334155"/>
                </a:solidFill>
                <a:latin typeface="Calibri" pitchFamily="34" charset="0"/>
                <a:ea typeface="Calibri" pitchFamily="34" charset="-122"/>
                <a:cs typeface="Calibri" pitchFamily="34" charset="-120"/>
              </a:rPr>
              <a:t>2.  ¿Cuándo usarlo?</a:t>
            </a:r>
            <a:endParaRPr lang="es-419" sz="1050" noProof="0" dirty="0"/>
          </a:p>
        </p:txBody>
      </p:sp>
      <p:sp>
        <p:nvSpPr>
          <p:cNvPr id="37" name="Shape 35"/>
          <p:cNvSpPr/>
          <p:nvPr/>
        </p:nvSpPr>
        <p:spPr>
          <a:xfrm>
            <a:off x="4709160" y="2523744"/>
            <a:ext cx="4023360" cy="402336"/>
          </a:xfrm>
          <a:prstGeom prst="rect">
            <a:avLst/>
          </a:prstGeom>
          <a:solidFill>
            <a:srgbClr val="F1F5F9"/>
          </a:solidFill>
          <a:ln w="12700">
            <a:solidFill>
              <a:srgbClr val="E2E8F0"/>
            </a:solidFill>
            <a:prstDash val="solid"/>
          </a:ln>
        </p:spPr>
        <p:txBody>
          <a:bodyPr/>
          <a:lstStyle/>
          <a:p>
            <a:endParaRPr lang="es-419" noProof="0" dirty="0"/>
          </a:p>
        </p:txBody>
      </p:sp>
      <p:sp>
        <p:nvSpPr>
          <p:cNvPr id="38" name="Shape 36"/>
          <p:cNvSpPr/>
          <p:nvPr/>
        </p:nvSpPr>
        <p:spPr>
          <a:xfrm>
            <a:off x="4709160" y="2523744"/>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39" name="Text 37"/>
          <p:cNvSpPr/>
          <p:nvPr/>
        </p:nvSpPr>
        <p:spPr>
          <a:xfrm>
            <a:off x="4837176" y="2523744"/>
            <a:ext cx="3840480" cy="402336"/>
          </a:xfrm>
          <a:prstGeom prst="rect">
            <a:avLst/>
          </a:prstGeom>
          <a:noFill/>
          <a:ln/>
        </p:spPr>
        <p:txBody>
          <a:bodyPr wrap="square" rtlCol="0" anchor="ctr"/>
          <a:lstStyle/>
          <a:p>
            <a:pPr marL="0" indent="0">
              <a:buNone/>
            </a:pPr>
            <a:r>
              <a:rPr lang="es-419" sz="1050" noProof="0" dirty="0">
                <a:solidFill>
                  <a:srgbClr val="334155"/>
                </a:solidFill>
                <a:latin typeface="Calibri" pitchFamily="34" charset="0"/>
                <a:ea typeface="Calibri" pitchFamily="34" charset="-122"/>
                <a:cs typeface="Calibri" pitchFamily="34" charset="-120"/>
              </a:rPr>
              <a:t>3.  Datos generales del ticket</a:t>
            </a:r>
            <a:endParaRPr lang="es-419" sz="1050" noProof="0" dirty="0"/>
          </a:p>
        </p:txBody>
      </p:sp>
      <p:sp>
        <p:nvSpPr>
          <p:cNvPr id="40" name="Shape 38"/>
          <p:cNvSpPr/>
          <p:nvPr/>
        </p:nvSpPr>
        <p:spPr>
          <a:xfrm>
            <a:off x="4709160" y="2971800"/>
            <a:ext cx="4023360" cy="402336"/>
          </a:xfrm>
          <a:prstGeom prst="rect">
            <a:avLst/>
          </a:prstGeom>
          <a:solidFill>
            <a:srgbClr val="FFFFFF"/>
          </a:solidFill>
          <a:ln w="12700">
            <a:solidFill>
              <a:srgbClr val="E2E8F0"/>
            </a:solidFill>
            <a:prstDash val="solid"/>
          </a:ln>
        </p:spPr>
        <p:txBody>
          <a:bodyPr/>
          <a:lstStyle/>
          <a:p>
            <a:endParaRPr lang="es-419" noProof="0" dirty="0"/>
          </a:p>
        </p:txBody>
      </p:sp>
      <p:sp>
        <p:nvSpPr>
          <p:cNvPr id="41" name="Shape 39"/>
          <p:cNvSpPr/>
          <p:nvPr/>
        </p:nvSpPr>
        <p:spPr>
          <a:xfrm>
            <a:off x="4709160" y="2971800"/>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42" name="Text 40"/>
          <p:cNvSpPr/>
          <p:nvPr/>
        </p:nvSpPr>
        <p:spPr>
          <a:xfrm>
            <a:off x="4837176" y="2971800"/>
            <a:ext cx="3840480" cy="402336"/>
          </a:xfrm>
          <a:prstGeom prst="rect">
            <a:avLst/>
          </a:prstGeom>
          <a:noFill/>
          <a:ln/>
        </p:spPr>
        <p:txBody>
          <a:bodyPr wrap="square" rtlCol="0" anchor="ctr"/>
          <a:lstStyle/>
          <a:p>
            <a:pPr marL="0" indent="0">
              <a:buNone/>
            </a:pPr>
            <a:r>
              <a:rPr lang="es-419" sz="1050" noProof="0" dirty="0">
                <a:solidFill>
                  <a:srgbClr val="334155"/>
                </a:solidFill>
                <a:latin typeface="Calibri" pitchFamily="34" charset="0"/>
                <a:ea typeface="Calibri" pitchFamily="34" charset="-122"/>
                <a:cs typeface="Calibri" pitchFamily="34" charset="-120"/>
              </a:rPr>
              <a:t>4.  Cotizaciones</a:t>
            </a:r>
            <a:endParaRPr lang="es-419" sz="1050" noProof="0" dirty="0"/>
          </a:p>
        </p:txBody>
      </p:sp>
      <p:sp>
        <p:nvSpPr>
          <p:cNvPr id="43" name="Shape 41"/>
          <p:cNvSpPr/>
          <p:nvPr/>
        </p:nvSpPr>
        <p:spPr>
          <a:xfrm>
            <a:off x="4709160" y="3419856"/>
            <a:ext cx="4023360" cy="402336"/>
          </a:xfrm>
          <a:prstGeom prst="rect">
            <a:avLst/>
          </a:prstGeom>
          <a:solidFill>
            <a:srgbClr val="F1F5F9"/>
          </a:solidFill>
          <a:ln w="12700">
            <a:solidFill>
              <a:srgbClr val="E2E8F0"/>
            </a:solidFill>
            <a:prstDash val="solid"/>
          </a:ln>
        </p:spPr>
        <p:txBody>
          <a:bodyPr/>
          <a:lstStyle/>
          <a:p>
            <a:endParaRPr lang="es-419" noProof="0" dirty="0"/>
          </a:p>
        </p:txBody>
      </p:sp>
      <p:sp>
        <p:nvSpPr>
          <p:cNvPr id="44" name="Shape 42"/>
          <p:cNvSpPr/>
          <p:nvPr/>
        </p:nvSpPr>
        <p:spPr>
          <a:xfrm>
            <a:off x="4709160" y="3419856"/>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45" name="Text 43"/>
          <p:cNvSpPr/>
          <p:nvPr/>
        </p:nvSpPr>
        <p:spPr>
          <a:xfrm>
            <a:off x="4837176" y="3419856"/>
            <a:ext cx="3840480" cy="402336"/>
          </a:xfrm>
          <a:prstGeom prst="rect">
            <a:avLst/>
          </a:prstGeom>
          <a:noFill/>
          <a:ln/>
        </p:spPr>
        <p:txBody>
          <a:bodyPr wrap="square" rtlCol="0" anchor="ctr"/>
          <a:lstStyle/>
          <a:p>
            <a:pPr marL="0" indent="0">
              <a:buNone/>
            </a:pPr>
            <a:r>
              <a:rPr lang="es-419" sz="1050" noProof="0" dirty="0">
                <a:solidFill>
                  <a:srgbClr val="334155"/>
                </a:solidFill>
                <a:latin typeface="Calibri" pitchFamily="34" charset="0"/>
                <a:ea typeface="Calibri" pitchFamily="34" charset="-122"/>
                <a:cs typeface="Calibri" pitchFamily="34" charset="-120"/>
              </a:rPr>
              <a:t>5.  Solicitud de Contratos</a:t>
            </a:r>
            <a:endParaRPr lang="es-419" sz="1050" noProof="0" dirty="0"/>
          </a:p>
        </p:txBody>
      </p:sp>
      <p:sp>
        <p:nvSpPr>
          <p:cNvPr id="46" name="Shape 44"/>
          <p:cNvSpPr/>
          <p:nvPr/>
        </p:nvSpPr>
        <p:spPr>
          <a:xfrm>
            <a:off x="4709160" y="3867912"/>
            <a:ext cx="4023360" cy="402336"/>
          </a:xfrm>
          <a:prstGeom prst="rect">
            <a:avLst/>
          </a:prstGeom>
          <a:solidFill>
            <a:srgbClr val="FFFFFF"/>
          </a:solidFill>
          <a:ln w="12700">
            <a:solidFill>
              <a:srgbClr val="E2E8F0"/>
            </a:solidFill>
            <a:prstDash val="solid"/>
          </a:ln>
        </p:spPr>
        <p:txBody>
          <a:bodyPr/>
          <a:lstStyle/>
          <a:p>
            <a:endParaRPr lang="es-419" noProof="0" dirty="0"/>
          </a:p>
        </p:txBody>
      </p:sp>
      <p:sp>
        <p:nvSpPr>
          <p:cNvPr id="47" name="Shape 45"/>
          <p:cNvSpPr/>
          <p:nvPr/>
        </p:nvSpPr>
        <p:spPr>
          <a:xfrm>
            <a:off x="4709160" y="3867912"/>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48" name="Text 46"/>
          <p:cNvSpPr/>
          <p:nvPr/>
        </p:nvSpPr>
        <p:spPr>
          <a:xfrm>
            <a:off x="4837176" y="3867912"/>
            <a:ext cx="3840480" cy="402336"/>
          </a:xfrm>
          <a:prstGeom prst="rect">
            <a:avLst/>
          </a:prstGeom>
          <a:noFill/>
          <a:ln/>
        </p:spPr>
        <p:txBody>
          <a:bodyPr wrap="square" rtlCol="0" anchor="ctr"/>
          <a:lstStyle/>
          <a:p>
            <a:pPr marL="0" indent="0">
              <a:buNone/>
            </a:pPr>
            <a:r>
              <a:rPr lang="es-419" sz="1050" noProof="0" dirty="0">
                <a:solidFill>
                  <a:srgbClr val="334155"/>
                </a:solidFill>
                <a:latin typeface="Calibri" pitchFamily="34" charset="0"/>
                <a:ea typeface="Calibri" pitchFamily="34" charset="-122"/>
                <a:cs typeface="Calibri" pitchFamily="34" charset="-120"/>
              </a:rPr>
              <a:t>6.  Ciclo de vida / Estatus</a:t>
            </a:r>
            <a:endParaRPr lang="es-419" sz="1050" noProof="0" dirty="0"/>
          </a:p>
        </p:txBody>
      </p:sp>
      <p:sp>
        <p:nvSpPr>
          <p:cNvPr id="49" name="Shape 47"/>
          <p:cNvSpPr/>
          <p:nvPr/>
        </p:nvSpPr>
        <p:spPr>
          <a:xfrm>
            <a:off x="4709160" y="4315968"/>
            <a:ext cx="4023360" cy="402336"/>
          </a:xfrm>
          <a:prstGeom prst="rect">
            <a:avLst/>
          </a:prstGeom>
          <a:solidFill>
            <a:srgbClr val="F1F5F9"/>
          </a:solidFill>
          <a:ln w="12700">
            <a:solidFill>
              <a:srgbClr val="E2E8F0"/>
            </a:solidFill>
            <a:prstDash val="solid"/>
          </a:ln>
        </p:spPr>
        <p:txBody>
          <a:bodyPr/>
          <a:lstStyle/>
          <a:p>
            <a:endParaRPr lang="es-419" noProof="0" dirty="0"/>
          </a:p>
        </p:txBody>
      </p:sp>
      <p:sp>
        <p:nvSpPr>
          <p:cNvPr id="50" name="Shape 48"/>
          <p:cNvSpPr/>
          <p:nvPr/>
        </p:nvSpPr>
        <p:spPr>
          <a:xfrm>
            <a:off x="4709160" y="4315968"/>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51" name="Text 49"/>
          <p:cNvSpPr/>
          <p:nvPr/>
        </p:nvSpPr>
        <p:spPr>
          <a:xfrm>
            <a:off x="4837176" y="4315968"/>
            <a:ext cx="3840480" cy="402336"/>
          </a:xfrm>
          <a:prstGeom prst="rect">
            <a:avLst/>
          </a:prstGeom>
          <a:noFill/>
          <a:ln/>
        </p:spPr>
        <p:txBody>
          <a:bodyPr wrap="square" rtlCol="0" anchor="ctr"/>
          <a:lstStyle/>
          <a:p>
            <a:pPr marL="0" indent="0">
              <a:buNone/>
            </a:pPr>
            <a:r>
              <a:rPr lang="es-419" sz="1050" noProof="0" dirty="0">
                <a:solidFill>
                  <a:srgbClr val="334155"/>
                </a:solidFill>
                <a:latin typeface="Calibri" pitchFamily="34" charset="0"/>
                <a:ea typeface="Calibri" pitchFamily="34" charset="-122"/>
                <a:cs typeface="Calibri" pitchFamily="34" charset="-120"/>
              </a:rPr>
              <a:t>7.  Impresión y PDF</a:t>
            </a:r>
            <a:endParaRPr lang="es-419" sz="105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4B8C"/>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FFFFF">
              <a:alpha val="20000"/>
            </a:srgbClr>
          </a:solidFill>
          <a:ln w="12700">
            <a:solidFill>
              <a:srgbClr val="FFFFFF">
                <a:alpha val="20000"/>
              </a:srgbClr>
            </a:solidFill>
            <a:prstDash val="solid"/>
          </a:ln>
        </p:spPr>
        <p:txBody>
          <a:bodyPr/>
          <a:lstStyle/>
          <a:p>
            <a:endParaRPr lang="es-419" noProof="0" dirty="0"/>
          </a:p>
        </p:txBody>
      </p:sp>
      <p:sp>
        <p:nvSpPr>
          <p:cNvPr id="3" name="Text 1"/>
          <p:cNvSpPr/>
          <p:nvPr/>
        </p:nvSpPr>
        <p:spPr>
          <a:xfrm>
            <a:off x="457200" y="1280160"/>
            <a:ext cx="8229600" cy="457200"/>
          </a:xfrm>
          <a:prstGeom prst="rect">
            <a:avLst/>
          </a:prstGeom>
          <a:noFill/>
          <a:ln/>
        </p:spPr>
        <p:txBody>
          <a:bodyPr wrap="square" rtlCol="0" anchor="ctr"/>
          <a:lstStyle/>
          <a:p>
            <a:pPr marL="0" indent="0" algn="l">
              <a:buNone/>
            </a:pPr>
            <a:r>
              <a:rPr lang="es-419" sz="1300" b="1" kern="0" spc="500" noProof="0" dirty="0">
                <a:solidFill>
                  <a:srgbClr val="FFFFFF"/>
                </a:solidFill>
                <a:latin typeface="Calibri" pitchFamily="34" charset="0"/>
                <a:ea typeface="Calibri" pitchFamily="34" charset="-122"/>
                <a:cs typeface="Calibri" pitchFamily="34" charset="-120"/>
              </a:rPr>
              <a:t>PARTE 1</a:t>
            </a:r>
            <a:endParaRPr lang="es-419" sz="1300" noProof="0" dirty="0"/>
          </a:p>
        </p:txBody>
      </p:sp>
      <p:sp>
        <p:nvSpPr>
          <p:cNvPr id="4" name="Text 2"/>
          <p:cNvSpPr/>
          <p:nvPr/>
        </p:nvSpPr>
        <p:spPr>
          <a:xfrm>
            <a:off x="457200" y="1783080"/>
            <a:ext cx="8229600" cy="1737360"/>
          </a:xfrm>
          <a:prstGeom prst="rect">
            <a:avLst/>
          </a:prstGeom>
          <a:noFill/>
          <a:ln/>
        </p:spPr>
        <p:txBody>
          <a:bodyPr wrap="square" rtlCol="0" anchor="ctr"/>
          <a:lstStyle/>
          <a:p>
            <a:pPr marL="0" indent="0" algn="l">
              <a:buNone/>
            </a:pPr>
            <a:r>
              <a:rPr lang="es-419" sz="4800" b="1" noProof="0" dirty="0">
                <a:solidFill>
                  <a:srgbClr val="FFFFFF"/>
                </a:solidFill>
                <a:latin typeface="Calibri" pitchFamily="34" charset="0"/>
                <a:ea typeface="Calibri" pitchFamily="34" charset="-122"/>
                <a:cs typeface="Calibri" pitchFamily="34" charset="-120"/>
              </a:rPr>
              <a:t>Solicitud de</a:t>
            </a:r>
            <a:endParaRPr lang="es-419" sz="4800" noProof="0" dirty="0"/>
          </a:p>
          <a:p>
            <a:pPr marL="0" indent="0" algn="l">
              <a:buNone/>
            </a:pPr>
            <a:r>
              <a:rPr lang="es-419" sz="4800" b="1" noProof="0" dirty="0">
                <a:solidFill>
                  <a:srgbClr val="FFFFFF"/>
                </a:solidFill>
                <a:latin typeface="Calibri" pitchFamily="34" charset="0"/>
                <a:ea typeface="Calibri" pitchFamily="34" charset="-122"/>
                <a:cs typeface="Calibri" pitchFamily="34" charset="-120"/>
              </a:rPr>
              <a:t>Proyecto</a:t>
            </a:r>
            <a:endParaRPr lang="es-419" sz="4800" noProof="0" dirty="0"/>
          </a:p>
        </p:txBody>
      </p:sp>
      <p:sp>
        <p:nvSpPr>
          <p:cNvPr id="5" name="Text 3"/>
          <p:cNvSpPr/>
          <p:nvPr/>
        </p:nvSpPr>
        <p:spPr>
          <a:xfrm>
            <a:off x="457200" y="3566160"/>
            <a:ext cx="7315200" cy="822960"/>
          </a:xfrm>
          <a:prstGeom prst="rect">
            <a:avLst/>
          </a:prstGeom>
          <a:noFill/>
          <a:ln/>
        </p:spPr>
        <p:txBody>
          <a:bodyPr wrap="square" rtlCol="0" anchor="ctr"/>
          <a:lstStyle/>
          <a:p>
            <a:pPr marL="0" indent="0" algn="l">
              <a:buNone/>
            </a:pPr>
            <a:r>
              <a:rPr lang="es-419" sz="1300" noProof="0" dirty="0">
                <a:solidFill>
                  <a:srgbClr val="BDD4F0"/>
                </a:solidFill>
                <a:latin typeface="Calibri" pitchFamily="34" charset="0"/>
                <a:ea typeface="Calibri" pitchFamily="34" charset="-122"/>
                <a:cs typeface="Calibri" pitchFamily="34" charset="-120"/>
              </a:rPr>
              <a:t>Aprende cómo solicitar un proyecto de construcción, mejora,</a:t>
            </a:r>
            <a:endParaRPr lang="es-419" sz="1300" noProof="0" dirty="0"/>
          </a:p>
          <a:p>
            <a:pPr marL="0" indent="0" algn="l">
              <a:buNone/>
            </a:pPr>
            <a:r>
              <a:rPr lang="es-419" sz="1300" noProof="0" dirty="0">
                <a:solidFill>
                  <a:srgbClr val="BDD4F0"/>
                </a:solidFill>
                <a:latin typeface="Calibri" pitchFamily="34" charset="0"/>
                <a:ea typeface="Calibri" pitchFamily="34" charset="-122"/>
                <a:cs typeface="Calibri" pitchFamily="34" charset="-120"/>
              </a:rPr>
              <a:t>remodelación o mantenimiento a través del sistema.</a:t>
            </a:r>
            <a:endParaRPr lang="es-419" sz="13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4B8C"/>
          </a:solidFill>
          <a:ln w="12700">
            <a:solidFill>
              <a:srgbClr val="1A4B8C"/>
            </a:solidFill>
            <a:prstDash val="solid"/>
          </a:ln>
        </p:spPr>
        <p:txBody>
          <a:bodyPr/>
          <a:lstStyle/>
          <a:p>
            <a:endParaRPr lang="es-419" noProof="0" dirty="0"/>
          </a:p>
        </p:txBody>
      </p:sp>
      <p:sp>
        <p:nvSpPr>
          <p:cNvPr id="3" name="Text 1"/>
          <p:cNvSpPr/>
          <p:nvPr/>
        </p:nvSpPr>
        <p:spPr>
          <a:xfrm>
            <a:off x="365760" y="91440"/>
            <a:ext cx="8412480" cy="731520"/>
          </a:xfrm>
          <a:prstGeom prst="rect">
            <a:avLst/>
          </a:prstGeom>
          <a:noFill/>
          <a:ln/>
        </p:spPr>
        <p:txBody>
          <a:bodyPr wrap="square" rtlCol="0" anchor="ctr"/>
          <a:lstStyle/>
          <a:p>
            <a:pPr marL="0" indent="0" algn="l">
              <a:buNone/>
            </a:pPr>
            <a:r>
              <a:rPr lang="es-419" sz="2100" b="1" noProof="0" dirty="0">
                <a:solidFill>
                  <a:srgbClr val="FFFFFF"/>
                </a:solidFill>
                <a:latin typeface="Calibri" pitchFamily="34" charset="0"/>
                <a:ea typeface="Calibri" pitchFamily="34" charset="-122"/>
                <a:cs typeface="Calibri" pitchFamily="34" charset="-120"/>
              </a:rPr>
              <a:t>¿Qué es la Solicitud de Proyecto?</a:t>
            </a:r>
            <a:endParaRPr lang="es-419" sz="2100" noProof="0" dirty="0"/>
          </a:p>
        </p:txBody>
      </p:sp>
      <p:sp>
        <p:nvSpPr>
          <p:cNvPr id="4" name="Shape 2"/>
          <p:cNvSpPr/>
          <p:nvPr/>
        </p:nvSpPr>
        <p:spPr>
          <a:xfrm>
            <a:off x="274320" y="1051560"/>
            <a:ext cx="4572000" cy="3566160"/>
          </a:xfrm>
          <a:prstGeom prst="rect">
            <a:avLst/>
          </a:prstGeom>
          <a:solidFill>
            <a:srgbClr val="F1F5F9"/>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5" name="Text 3"/>
          <p:cNvSpPr/>
          <p:nvPr/>
        </p:nvSpPr>
        <p:spPr>
          <a:xfrm>
            <a:off x="457200" y="1188720"/>
            <a:ext cx="4206240" cy="365760"/>
          </a:xfrm>
          <a:prstGeom prst="rect">
            <a:avLst/>
          </a:prstGeom>
          <a:noFill/>
          <a:ln/>
        </p:spPr>
        <p:txBody>
          <a:bodyPr wrap="square" rtlCol="0" anchor="ctr"/>
          <a:lstStyle/>
          <a:p>
            <a:pPr marL="0" indent="0">
              <a:buNone/>
            </a:pPr>
            <a:r>
              <a:rPr lang="es-419" sz="1400" b="1" noProof="0" dirty="0">
                <a:solidFill>
                  <a:srgbClr val="1A4B8C"/>
                </a:solidFill>
                <a:latin typeface="Calibri" pitchFamily="34" charset="0"/>
                <a:ea typeface="Calibri" pitchFamily="34" charset="-122"/>
                <a:cs typeface="Calibri" pitchFamily="34" charset="-120"/>
              </a:rPr>
              <a:t>¿Qué es?</a:t>
            </a:r>
            <a:endParaRPr lang="es-419" sz="1400" noProof="0" dirty="0"/>
          </a:p>
        </p:txBody>
      </p:sp>
      <p:sp>
        <p:nvSpPr>
          <p:cNvPr id="6" name="Text 4"/>
          <p:cNvSpPr/>
          <p:nvPr/>
        </p:nvSpPr>
        <p:spPr>
          <a:xfrm>
            <a:off x="457200" y="1600200"/>
            <a:ext cx="4206240" cy="2560320"/>
          </a:xfrm>
          <a:prstGeom prst="rect">
            <a:avLst/>
          </a:prstGeom>
          <a:noFill/>
          <a:ln/>
        </p:spPr>
        <p:txBody>
          <a:bodyPr wrap="square" rtlCol="0" anchor="t"/>
          <a:lstStyle/>
          <a:p>
            <a:pPr marL="0" indent="0">
              <a:buNone/>
            </a:pPr>
            <a:r>
              <a:rPr lang="es-419" sz="1150" noProof="0" dirty="0">
                <a:solidFill>
                  <a:srgbClr val="334155"/>
                </a:solidFill>
                <a:latin typeface="Calibri" pitchFamily="34" charset="0"/>
                <a:ea typeface="Calibri" pitchFamily="34" charset="-122"/>
                <a:cs typeface="Calibri" pitchFamily="34" charset="-120"/>
              </a:rPr>
              <a:t>Es un formulario digital que permite a directores y administradores de colegio presentar formalmente una necesidad de obra, mejora o mantenimiento ante la Coordinación de Obras RCMA.</a:t>
            </a:r>
            <a:endParaRPr lang="es-419" sz="1150" noProof="0" dirty="0"/>
          </a:p>
          <a:p>
            <a:pPr marL="0" indent="0">
              <a:buNone/>
            </a:pPr>
            <a:endParaRPr lang="es-419" sz="1150" noProof="0" dirty="0"/>
          </a:p>
          <a:p>
            <a:pPr marL="0" indent="0">
              <a:buNone/>
            </a:pPr>
            <a:r>
              <a:rPr lang="es-419" sz="1150" noProof="0" dirty="0">
                <a:solidFill>
                  <a:srgbClr val="334155"/>
                </a:solidFill>
                <a:latin typeface="Calibri" pitchFamily="34" charset="0"/>
                <a:ea typeface="Calibri" pitchFamily="34" charset="-122"/>
                <a:cs typeface="Calibri" pitchFamily="34" charset="-120"/>
              </a:rPr>
              <a:t>Al enviarla, el sistema notifica automáticamente al coordinador y registra la solicitud para su revisión.</a:t>
            </a:r>
            <a:endParaRPr lang="es-419" sz="1150" noProof="0" dirty="0"/>
          </a:p>
        </p:txBody>
      </p:sp>
      <p:sp>
        <p:nvSpPr>
          <p:cNvPr id="7" name="Shape 5"/>
          <p:cNvSpPr/>
          <p:nvPr/>
        </p:nvSpPr>
        <p:spPr>
          <a:xfrm>
            <a:off x="5120640" y="1051560"/>
            <a:ext cx="3749040" cy="7772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8" name="Shape 6"/>
          <p:cNvSpPr/>
          <p:nvPr/>
        </p:nvSpPr>
        <p:spPr>
          <a:xfrm>
            <a:off x="5120640" y="1051560"/>
            <a:ext cx="64008" cy="777240"/>
          </a:xfrm>
          <a:prstGeom prst="rect">
            <a:avLst/>
          </a:prstGeom>
          <a:solidFill>
            <a:srgbClr val="1A4B8C"/>
          </a:solidFill>
          <a:ln w="12700">
            <a:solidFill>
              <a:srgbClr val="1A4B8C"/>
            </a:solidFill>
            <a:prstDash val="solid"/>
          </a:ln>
        </p:spPr>
        <p:txBody>
          <a:bodyPr/>
          <a:lstStyle/>
          <a:p>
            <a:endParaRPr lang="es-419" noProof="0" dirty="0"/>
          </a:p>
        </p:txBody>
      </p:sp>
      <p:sp>
        <p:nvSpPr>
          <p:cNvPr id="9" name="Text 7"/>
          <p:cNvSpPr/>
          <p:nvPr/>
        </p:nvSpPr>
        <p:spPr>
          <a:xfrm>
            <a:off x="5257800" y="1124712"/>
            <a:ext cx="3566160" cy="274320"/>
          </a:xfrm>
          <a:prstGeom prst="rect">
            <a:avLst/>
          </a:prstGeom>
          <a:noFill/>
          <a:ln/>
        </p:spPr>
        <p:txBody>
          <a:bodyPr wrap="square" rtlCol="0" anchor="ctr"/>
          <a:lstStyle/>
          <a:p>
            <a:pPr marL="0" indent="0">
              <a:buNone/>
            </a:pPr>
            <a:r>
              <a:rPr lang="es-419" sz="1100" b="1" noProof="0" dirty="0">
                <a:solidFill>
                  <a:srgbClr val="1A4B8C"/>
                </a:solidFill>
                <a:latin typeface="Calibri" pitchFamily="34" charset="0"/>
                <a:ea typeface="Calibri" pitchFamily="34" charset="-122"/>
                <a:cs typeface="Calibri" pitchFamily="34" charset="-120"/>
              </a:rPr>
              <a:t>📋  Formato oficial</a:t>
            </a:r>
            <a:endParaRPr lang="es-419" sz="1100" noProof="0" dirty="0"/>
          </a:p>
        </p:txBody>
      </p:sp>
      <p:sp>
        <p:nvSpPr>
          <p:cNvPr id="10" name="Text 8"/>
          <p:cNvSpPr/>
          <p:nvPr/>
        </p:nvSpPr>
        <p:spPr>
          <a:xfrm>
            <a:off x="5257800" y="1417320"/>
            <a:ext cx="3566160" cy="365760"/>
          </a:xfrm>
          <a:prstGeom prst="rect">
            <a:avLst/>
          </a:prstGeom>
          <a:noFill/>
          <a:ln/>
        </p:spPr>
        <p:txBody>
          <a:bodyPr wrap="square" rtlCol="0" anchor="ctr"/>
          <a:lstStyle/>
          <a:p>
            <a:pPr marL="0" indent="0">
              <a:buNone/>
            </a:pPr>
            <a:r>
              <a:rPr lang="es-419" sz="1000" noProof="0" dirty="0">
                <a:solidFill>
                  <a:srgbClr val="64748B"/>
                </a:solidFill>
                <a:latin typeface="Calibri" pitchFamily="34" charset="0"/>
                <a:ea typeface="Calibri" pitchFamily="34" charset="-122"/>
                <a:cs typeface="Calibri" pitchFamily="34" charset="-120"/>
              </a:rPr>
              <a:t>Basado en el formato de Solicitud de Inicio de Obra de la Red.</a:t>
            </a:r>
            <a:endParaRPr lang="es-419" sz="1000" noProof="0" dirty="0"/>
          </a:p>
        </p:txBody>
      </p:sp>
      <p:sp>
        <p:nvSpPr>
          <p:cNvPr id="11" name="Shape 9"/>
          <p:cNvSpPr/>
          <p:nvPr/>
        </p:nvSpPr>
        <p:spPr>
          <a:xfrm>
            <a:off x="5120640" y="1920240"/>
            <a:ext cx="3749040" cy="7772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2" name="Shape 10"/>
          <p:cNvSpPr/>
          <p:nvPr/>
        </p:nvSpPr>
        <p:spPr>
          <a:xfrm>
            <a:off x="5120640" y="1920240"/>
            <a:ext cx="64008" cy="777240"/>
          </a:xfrm>
          <a:prstGeom prst="rect">
            <a:avLst/>
          </a:prstGeom>
          <a:solidFill>
            <a:srgbClr val="1A4B8C"/>
          </a:solidFill>
          <a:ln w="12700">
            <a:solidFill>
              <a:srgbClr val="1A4B8C"/>
            </a:solidFill>
            <a:prstDash val="solid"/>
          </a:ln>
        </p:spPr>
        <p:txBody>
          <a:bodyPr/>
          <a:lstStyle/>
          <a:p>
            <a:endParaRPr lang="es-419" noProof="0" dirty="0"/>
          </a:p>
        </p:txBody>
      </p:sp>
      <p:sp>
        <p:nvSpPr>
          <p:cNvPr id="13" name="Text 11"/>
          <p:cNvSpPr/>
          <p:nvPr/>
        </p:nvSpPr>
        <p:spPr>
          <a:xfrm>
            <a:off x="5257800" y="1993392"/>
            <a:ext cx="3566160" cy="274320"/>
          </a:xfrm>
          <a:prstGeom prst="rect">
            <a:avLst/>
          </a:prstGeom>
          <a:noFill/>
          <a:ln/>
        </p:spPr>
        <p:txBody>
          <a:bodyPr wrap="square" rtlCol="0" anchor="ctr"/>
          <a:lstStyle/>
          <a:p>
            <a:pPr marL="0" indent="0">
              <a:buNone/>
            </a:pPr>
            <a:r>
              <a:rPr lang="es-419" sz="1100" b="1" noProof="0" dirty="0">
                <a:solidFill>
                  <a:srgbClr val="1A4B8C"/>
                </a:solidFill>
                <a:latin typeface="Calibri" pitchFamily="34" charset="0"/>
                <a:ea typeface="Calibri" pitchFamily="34" charset="-122"/>
                <a:cs typeface="Calibri" pitchFamily="34" charset="-120"/>
              </a:rPr>
              <a:t>✉️  Notificación inmediata</a:t>
            </a:r>
            <a:endParaRPr lang="es-419" sz="1100" noProof="0" dirty="0"/>
          </a:p>
        </p:txBody>
      </p:sp>
      <p:sp>
        <p:nvSpPr>
          <p:cNvPr id="14" name="Text 12"/>
          <p:cNvSpPr/>
          <p:nvPr/>
        </p:nvSpPr>
        <p:spPr>
          <a:xfrm>
            <a:off x="5257800" y="2286000"/>
            <a:ext cx="3566160" cy="365760"/>
          </a:xfrm>
          <a:prstGeom prst="rect">
            <a:avLst/>
          </a:prstGeom>
          <a:noFill/>
          <a:ln/>
        </p:spPr>
        <p:txBody>
          <a:bodyPr wrap="square" rtlCol="0" anchor="ctr"/>
          <a:lstStyle/>
          <a:p>
            <a:pPr marL="0" indent="0">
              <a:buNone/>
            </a:pPr>
            <a:r>
              <a:rPr lang="es-419" sz="1000" noProof="0" dirty="0">
                <a:solidFill>
                  <a:srgbClr val="64748B"/>
                </a:solidFill>
                <a:latin typeface="Calibri" pitchFamily="34" charset="0"/>
                <a:ea typeface="Calibri" pitchFamily="34" charset="-122"/>
                <a:cs typeface="Calibri" pitchFamily="34" charset="-120"/>
              </a:rPr>
              <a:t>Al enviar, el coordinador recibe un correo de alerta automático.</a:t>
            </a:r>
            <a:endParaRPr lang="es-419" sz="1000" noProof="0" dirty="0"/>
          </a:p>
        </p:txBody>
      </p:sp>
      <p:sp>
        <p:nvSpPr>
          <p:cNvPr id="15" name="Shape 13"/>
          <p:cNvSpPr/>
          <p:nvPr/>
        </p:nvSpPr>
        <p:spPr>
          <a:xfrm>
            <a:off x="5120640" y="2788920"/>
            <a:ext cx="3749040" cy="7772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6" name="Shape 14"/>
          <p:cNvSpPr/>
          <p:nvPr/>
        </p:nvSpPr>
        <p:spPr>
          <a:xfrm>
            <a:off x="5120640" y="2788920"/>
            <a:ext cx="64008" cy="777240"/>
          </a:xfrm>
          <a:prstGeom prst="rect">
            <a:avLst/>
          </a:prstGeom>
          <a:solidFill>
            <a:srgbClr val="1A4B8C"/>
          </a:solidFill>
          <a:ln w="12700">
            <a:solidFill>
              <a:srgbClr val="1A4B8C"/>
            </a:solidFill>
            <a:prstDash val="solid"/>
          </a:ln>
        </p:spPr>
        <p:txBody>
          <a:bodyPr/>
          <a:lstStyle/>
          <a:p>
            <a:endParaRPr lang="es-419" noProof="0" dirty="0"/>
          </a:p>
        </p:txBody>
      </p:sp>
      <p:sp>
        <p:nvSpPr>
          <p:cNvPr id="17" name="Text 15"/>
          <p:cNvSpPr/>
          <p:nvPr/>
        </p:nvSpPr>
        <p:spPr>
          <a:xfrm>
            <a:off x="5257800" y="2862072"/>
            <a:ext cx="3566160" cy="274320"/>
          </a:xfrm>
          <a:prstGeom prst="rect">
            <a:avLst/>
          </a:prstGeom>
          <a:noFill/>
          <a:ln/>
        </p:spPr>
        <p:txBody>
          <a:bodyPr wrap="square" rtlCol="0" anchor="ctr"/>
          <a:lstStyle/>
          <a:p>
            <a:pPr marL="0" indent="0">
              <a:buNone/>
            </a:pPr>
            <a:r>
              <a:rPr lang="es-419" sz="1100" b="1" noProof="0" dirty="0">
                <a:solidFill>
                  <a:srgbClr val="1A4B8C"/>
                </a:solidFill>
                <a:latin typeface="Calibri" pitchFamily="34" charset="0"/>
                <a:ea typeface="Calibri" pitchFamily="34" charset="-122"/>
                <a:cs typeface="Calibri" pitchFamily="34" charset="-120"/>
              </a:rPr>
              <a:t>🔒  Registro permanente</a:t>
            </a:r>
            <a:endParaRPr lang="es-419" sz="1100" noProof="0" dirty="0"/>
          </a:p>
        </p:txBody>
      </p:sp>
      <p:sp>
        <p:nvSpPr>
          <p:cNvPr id="18" name="Text 16"/>
          <p:cNvSpPr/>
          <p:nvPr/>
        </p:nvSpPr>
        <p:spPr>
          <a:xfrm>
            <a:off x="5257800" y="3154680"/>
            <a:ext cx="3566160" cy="365760"/>
          </a:xfrm>
          <a:prstGeom prst="rect">
            <a:avLst/>
          </a:prstGeom>
          <a:noFill/>
          <a:ln/>
        </p:spPr>
        <p:txBody>
          <a:bodyPr wrap="square" rtlCol="0" anchor="ctr"/>
          <a:lstStyle/>
          <a:p>
            <a:pPr marL="0" indent="0">
              <a:buNone/>
            </a:pPr>
            <a:r>
              <a:rPr lang="es-419" sz="1000" noProof="0" dirty="0">
                <a:solidFill>
                  <a:srgbClr val="64748B"/>
                </a:solidFill>
                <a:latin typeface="Calibri" pitchFamily="34" charset="0"/>
                <a:ea typeface="Calibri" pitchFamily="34" charset="-122"/>
                <a:cs typeface="Calibri" pitchFamily="34" charset="-120"/>
              </a:rPr>
              <a:t>Queda guardada en el sistema para consulta y seguimiento.</a:t>
            </a:r>
            <a:endParaRPr lang="es-419" sz="1000" noProof="0" dirty="0"/>
          </a:p>
        </p:txBody>
      </p:sp>
      <p:sp>
        <p:nvSpPr>
          <p:cNvPr id="19" name="Shape 17"/>
          <p:cNvSpPr/>
          <p:nvPr/>
        </p:nvSpPr>
        <p:spPr>
          <a:xfrm>
            <a:off x="5120640" y="3657600"/>
            <a:ext cx="3749040" cy="7772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20" name="Shape 18"/>
          <p:cNvSpPr/>
          <p:nvPr/>
        </p:nvSpPr>
        <p:spPr>
          <a:xfrm>
            <a:off x="5120640" y="3657600"/>
            <a:ext cx="64008" cy="777240"/>
          </a:xfrm>
          <a:prstGeom prst="rect">
            <a:avLst/>
          </a:prstGeom>
          <a:solidFill>
            <a:srgbClr val="1A4B8C"/>
          </a:solidFill>
          <a:ln w="12700">
            <a:solidFill>
              <a:srgbClr val="1A4B8C"/>
            </a:solidFill>
            <a:prstDash val="solid"/>
          </a:ln>
        </p:spPr>
        <p:txBody>
          <a:bodyPr/>
          <a:lstStyle/>
          <a:p>
            <a:endParaRPr lang="es-419" noProof="0" dirty="0"/>
          </a:p>
        </p:txBody>
      </p:sp>
      <p:sp>
        <p:nvSpPr>
          <p:cNvPr id="21" name="Text 19"/>
          <p:cNvSpPr/>
          <p:nvPr/>
        </p:nvSpPr>
        <p:spPr>
          <a:xfrm>
            <a:off x="5257800" y="3730752"/>
            <a:ext cx="3566160" cy="274320"/>
          </a:xfrm>
          <a:prstGeom prst="rect">
            <a:avLst/>
          </a:prstGeom>
          <a:noFill/>
          <a:ln/>
        </p:spPr>
        <p:txBody>
          <a:bodyPr wrap="square" rtlCol="0" anchor="ctr"/>
          <a:lstStyle/>
          <a:p>
            <a:pPr marL="0" indent="0">
              <a:buNone/>
            </a:pPr>
            <a:r>
              <a:rPr lang="es-419" sz="1100" b="1" noProof="0" dirty="0">
                <a:solidFill>
                  <a:srgbClr val="1A4B8C"/>
                </a:solidFill>
                <a:latin typeface="Calibri" pitchFamily="34" charset="0"/>
                <a:ea typeface="Calibri" pitchFamily="34" charset="-122"/>
                <a:cs typeface="Calibri" pitchFamily="34" charset="-120"/>
              </a:rPr>
              <a:t>💰  Con desglose financiero</a:t>
            </a:r>
            <a:endParaRPr lang="es-419" sz="1100" noProof="0" dirty="0"/>
          </a:p>
        </p:txBody>
      </p:sp>
      <p:sp>
        <p:nvSpPr>
          <p:cNvPr id="22" name="Text 20"/>
          <p:cNvSpPr/>
          <p:nvPr/>
        </p:nvSpPr>
        <p:spPr>
          <a:xfrm>
            <a:off x="5257800" y="4023360"/>
            <a:ext cx="3566160" cy="365760"/>
          </a:xfrm>
          <a:prstGeom prst="rect">
            <a:avLst/>
          </a:prstGeom>
          <a:noFill/>
          <a:ln/>
        </p:spPr>
        <p:txBody>
          <a:bodyPr wrap="square" rtlCol="0" anchor="ctr"/>
          <a:lstStyle/>
          <a:p>
            <a:pPr marL="0" indent="0">
              <a:buNone/>
            </a:pPr>
            <a:r>
              <a:rPr lang="es-419" sz="1000" noProof="0" dirty="0">
                <a:solidFill>
                  <a:srgbClr val="64748B"/>
                </a:solidFill>
                <a:latin typeface="Calibri" pitchFamily="34" charset="0"/>
                <a:ea typeface="Calibri" pitchFamily="34" charset="-122"/>
                <a:cs typeface="Calibri" pitchFamily="34" charset="-120"/>
              </a:rPr>
              <a:t>Incluye estimación de costo y fuentes de financiamiento.</a:t>
            </a:r>
            <a:endParaRPr lang="es-419" sz="10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4B8C"/>
          </a:solidFill>
          <a:ln w="12700">
            <a:solidFill>
              <a:srgbClr val="1A4B8C"/>
            </a:solidFill>
            <a:prstDash val="solid"/>
          </a:ln>
        </p:spPr>
        <p:txBody>
          <a:bodyPr/>
          <a:lstStyle/>
          <a:p>
            <a:endParaRPr lang="es-419" noProof="0" dirty="0"/>
          </a:p>
        </p:txBody>
      </p:sp>
      <p:sp>
        <p:nvSpPr>
          <p:cNvPr id="3" name="Text 1"/>
          <p:cNvSpPr/>
          <p:nvPr/>
        </p:nvSpPr>
        <p:spPr>
          <a:xfrm>
            <a:off x="365760" y="91440"/>
            <a:ext cx="8412480" cy="731520"/>
          </a:xfrm>
          <a:prstGeom prst="rect">
            <a:avLst/>
          </a:prstGeom>
          <a:noFill/>
          <a:ln/>
        </p:spPr>
        <p:txBody>
          <a:bodyPr wrap="square" rtlCol="0" anchor="ctr"/>
          <a:lstStyle/>
          <a:p>
            <a:pPr marL="0" indent="0" algn="l">
              <a:buNone/>
            </a:pPr>
            <a:r>
              <a:rPr lang="es-419" sz="2100" b="1" noProof="0" dirty="0">
                <a:solidFill>
                  <a:srgbClr val="FFFFFF"/>
                </a:solidFill>
                <a:latin typeface="Calibri" pitchFamily="34" charset="0"/>
                <a:ea typeface="Calibri" pitchFamily="34" charset="-122"/>
                <a:cs typeface="Calibri" pitchFamily="34" charset="-120"/>
              </a:rPr>
              <a:t>¿Cuándo usar la Solicitud de Proyecto?</a:t>
            </a:r>
            <a:endParaRPr lang="es-419" sz="2100" noProof="0" dirty="0"/>
          </a:p>
        </p:txBody>
      </p:sp>
      <p:sp>
        <p:nvSpPr>
          <p:cNvPr id="4" name="Text 2"/>
          <p:cNvSpPr/>
          <p:nvPr/>
        </p:nvSpPr>
        <p:spPr>
          <a:xfrm>
            <a:off x="365760" y="1005840"/>
            <a:ext cx="8412480" cy="320040"/>
          </a:xfrm>
          <a:prstGeom prst="rect">
            <a:avLst/>
          </a:prstGeom>
          <a:noFill/>
          <a:ln/>
        </p:spPr>
        <p:txBody>
          <a:bodyPr wrap="square" rtlCol="0" anchor="ctr"/>
          <a:lstStyle/>
          <a:p>
            <a:pPr marL="0" indent="0">
              <a:buNone/>
            </a:pPr>
            <a:r>
              <a:rPr lang="es-419" sz="1100" noProof="0" dirty="0">
                <a:solidFill>
                  <a:srgbClr val="64748B"/>
                </a:solidFill>
                <a:latin typeface="Calibri" pitchFamily="34" charset="0"/>
                <a:ea typeface="Calibri" pitchFamily="34" charset="-122"/>
                <a:cs typeface="Calibri" pitchFamily="34" charset="-120"/>
              </a:rPr>
              <a:t>Utiliza la Solicitud de Proyecto cuando la necesidad corresponda a alguno de estos 9 tipos de iniciativa:</a:t>
            </a:r>
            <a:endParaRPr lang="es-419" sz="1100" noProof="0" dirty="0"/>
          </a:p>
        </p:txBody>
      </p:sp>
      <p:sp>
        <p:nvSpPr>
          <p:cNvPr id="5" name="Shape 3"/>
          <p:cNvSpPr/>
          <p:nvPr/>
        </p:nvSpPr>
        <p:spPr>
          <a:xfrm>
            <a:off x="274320" y="1417320"/>
            <a:ext cx="2743200" cy="10058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6" name="Shape 4"/>
          <p:cNvSpPr/>
          <p:nvPr/>
        </p:nvSpPr>
        <p:spPr>
          <a:xfrm>
            <a:off x="274320" y="1417320"/>
            <a:ext cx="2743200" cy="347472"/>
          </a:xfrm>
          <a:prstGeom prst="rect">
            <a:avLst/>
          </a:prstGeom>
          <a:solidFill>
            <a:srgbClr val="0D1B3E"/>
          </a:solidFill>
          <a:ln w="12700">
            <a:solidFill>
              <a:srgbClr val="0D1B3E"/>
            </a:solidFill>
            <a:prstDash val="solid"/>
          </a:ln>
        </p:spPr>
        <p:txBody>
          <a:bodyPr/>
          <a:lstStyle/>
          <a:p>
            <a:endParaRPr lang="es-419" noProof="0" dirty="0"/>
          </a:p>
        </p:txBody>
      </p:sp>
      <p:sp>
        <p:nvSpPr>
          <p:cNvPr id="7" name="Text 5"/>
          <p:cNvSpPr/>
          <p:nvPr/>
        </p:nvSpPr>
        <p:spPr>
          <a:xfrm>
            <a:off x="365760" y="1417320"/>
            <a:ext cx="2560320" cy="347472"/>
          </a:xfrm>
          <a:prstGeom prst="rect">
            <a:avLst/>
          </a:prstGeom>
          <a:noFill/>
          <a:ln/>
        </p:spPr>
        <p:txBody>
          <a:bodyPr wrap="square" rtlCol="0" anchor="ctr"/>
          <a:lstStyle/>
          <a:p>
            <a:pPr marL="0" indent="0">
              <a:buNone/>
            </a:pPr>
            <a:r>
              <a:rPr lang="es-419" sz="1050" b="1" noProof="0" dirty="0">
                <a:solidFill>
                  <a:srgbClr val="FFFFFF"/>
                </a:solidFill>
                <a:latin typeface="Calibri" pitchFamily="34" charset="0"/>
                <a:ea typeface="Calibri" pitchFamily="34" charset="-122"/>
                <a:cs typeface="Calibri" pitchFamily="34" charset="-120"/>
              </a:rPr>
              <a:t>Construcción Nueva</a:t>
            </a:r>
            <a:endParaRPr lang="es-419" sz="1050" noProof="0" dirty="0"/>
          </a:p>
        </p:txBody>
      </p:sp>
      <p:sp>
        <p:nvSpPr>
          <p:cNvPr id="8" name="Text 6"/>
          <p:cNvSpPr/>
          <p:nvPr/>
        </p:nvSpPr>
        <p:spPr>
          <a:xfrm>
            <a:off x="365760" y="1801368"/>
            <a:ext cx="2560320" cy="566928"/>
          </a:xfrm>
          <a:prstGeom prst="rect">
            <a:avLst/>
          </a:prstGeom>
          <a:noFill/>
          <a:ln/>
        </p:spPr>
        <p:txBody>
          <a:bodyPr wrap="square" rtlCol="0" anchor="t"/>
          <a:lstStyle/>
          <a:p>
            <a:pPr marL="0" indent="0">
              <a:buNone/>
            </a:pPr>
            <a:r>
              <a:rPr lang="es-419" sz="950" noProof="0" dirty="0">
                <a:solidFill>
                  <a:srgbClr val="334155"/>
                </a:solidFill>
                <a:latin typeface="Calibri" pitchFamily="34" charset="0"/>
                <a:ea typeface="Calibri" pitchFamily="34" charset="-122"/>
                <a:cs typeface="Calibri" pitchFamily="34" charset="-120"/>
              </a:rPr>
              <a:t>Obra desde cero en terreno o espacio sin uso previo.</a:t>
            </a:r>
            <a:endParaRPr lang="es-419" sz="950" noProof="0" dirty="0"/>
          </a:p>
        </p:txBody>
      </p:sp>
      <p:sp>
        <p:nvSpPr>
          <p:cNvPr id="9" name="Shape 7"/>
          <p:cNvSpPr/>
          <p:nvPr/>
        </p:nvSpPr>
        <p:spPr>
          <a:xfrm>
            <a:off x="3227832" y="1417320"/>
            <a:ext cx="2743200" cy="10058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0" name="Shape 8"/>
          <p:cNvSpPr/>
          <p:nvPr/>
        </p:nvSpPr>
        <p:spPr>
          <a:xfrm>
            <a:off x="3227832" y="1417320"/>
            <a:ext cx="2743200" cy="347472"/>
          </a:xfrm>
          <a:prstGeom prst="rect">
            <a:avLst/>
          </a:prstGeom>
          <a:solidFill>
            <a:srgbClr val="1A4B8C"/>
          </a:solidFill>
          <a:ln w="12700">
            <a:solidFill>
              <a:srgbClr val="1A4B8C"/>
            </a:solidFill>
            <a:prstDash val="solid"/>
          </a:ln>
        </p:spPr>
        <p:txBody>
          <a:bodyPr/>
          <a:lstStyle/>
          <a:p>
            <a:endParaRPr lang="es-419" noProof="0" dirty="0"/>
          </a:p>
        </p:txBody>
      </p:sp>
      <p:sp>
        <p:nvSpPr>
          <p:cNvPr id="11" name="Text 9"/>
          <p:cNvSpPr/>
          <p:nvPr/>
        </p:nvSpPr>
        <p:spPr>
          <a:xfrm>
            <a:off x="3319272" y="1417320"/>
            <a:ext cx="2560320" cy="347472"/>
          </a:xfrm>
          <a:prstGeom prst="rect">
            <a:avLst/>
          </a:prstGeom>
          <a:noFill/>
          <a:ln/>
        </p:spPr>
        <p:txBody>
          <a:bodyPr wrap="square" rtlCol="0" anchor="ctr"/>
          <a:lstStyle/>
          <a:p>
            <a:pPr marL="0" indent="0">
              <a:buNone/>
            </a:pPr>
            <a:r>
              <a:rPr lang="es-419" sz="1050" b="1" noProof="0" dirty="0">
                <a:solidFill>
                  <a:srgbClr val="FFFFFF"/>
                </a:solidFill>
                <a:latin typeface="Calibri" pitchFamily="34" charset="0"/>
                <a:ea typeface="Calibri" pitchFamily="34" charset="-122"/>
                <a:cs typeface="Calibri" pitchFamily="34" charset="-120"/>
              </a:rPr>
              <a:t>Mejora</a:t>
            </a:r>
            <a:endParaRPr lang="es-419" sz="1050" noProof="0" dirty="0"/>
          </a:p>
        </p:txBody>
      </p:sp>
      <p:sp>
        <p:nvSpPr>
          <p:cNvPr id="12" name="Text 10"/>
          <p:cNvSpPr/>
          <p:nvPr/>
        </p:nvSpPr>
        <p:spPr>
          <a:xfrm>
            <a:off x="3319272" y="1801368"/>
            <a:ext cx="2560320" cy="566928"/>
          </a:xfrm>
          <a:prstGeom prst="rect">
            <a:avLst/>
          </a:prstGeom>
          <a:noFill/>
          <a:ln/>
        </p:spPr>
        <p:txBody>
          <a:bodyPr wrap="square" rtlCol="0" anchor="t"/>
          <a:lstStyle/>
          <a:p>
            <a:pPr marL="0" indent="0">
              <a:buNone/>
            </a:pPr>
            <a:r>
              <a:rPr lang="es-419" sz="950" noProof="0" dirty="0">
                <a:solidFill>
                  <a:srgbClr val="334155"/>
                </a:solidFill>
                <a:latin typeface="Calibri" pitchFamily="34" charset="0"/>
                <a:ea typeface="Calibri" pitchFamily="34" charset="-122"/>
                <a:cs typeface="Calibri" pitchFamily="34" charset="-120"/>
              </a:rPr>
              <a:t>Mejoras a instalaciones o equipamiento existente.</a:t>
            </a:r>
            <a:endParaRPr lang="es-419" sz="950" noProof="0" dirty="0"/>
          </a:p>
        </p:txBody>
      </p:sp>
      <p:sp>
        <p:nvSpPr>
          <p:cNvPr id="13" name="Shape 11"/>
          <p:cNvSpPr/>
          <p:nvPr/>
        </p:nvSpPr>
        <p:spPr>
          <a:xfrm>
            <a:off x="6181344" y="1417320"/>
            <a:ext cx="2743200" cy="10058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4" name="Shape 12"/>
          <p:cNvSpPr/>
          <p:nvPr/>
        </p:nvSpPr>
        <p:spPr>
          <a:xfrm>
            <a:off x="6181344" y="1417320"/>
            <a:ext cx="2743200" cy="347472"/>
          </a:xfrm>
          <a:prstGeom prst="rect">
            <a:avLst/>
          </a:prstGeom>
          <a:solidFill>
            <a:srgbClr val="0D8A7E"/>
          </a:solidFill>
          <a:ln w="12700">
            <a:solidFill>
              <a:srgbClr val="0D8A7E"/>
            </a:solidFill>
            <a:prstDash val="solid"/>
          </a:ln>
        </p:spPr>
        <p:txBody>
          <a:bodyPr/>
          <a:lstStyle/>
          <a:p>
            <a:endParaRPr lang="es-419" noProof="0" dirty="0"/>
          </a:p>
        </p:txBody>
      </p:sp>
      <p:sp>
        <p:nvSpPr>
          <p:cNvPr id="15" name="Text 13"/>
          <p:cNvSpPr/>
          <p:nvPr/>
        </p:nvSpPr>
        <p:spPr>
          <a:xfrm>
            <a:off x="6272784" y="1417320"/>
            <a:ext cx="2560320" cy="347472"/>
          </a:xfrm>
          <a:prstGeom prst="rect">
            <a:avLst/>
          </a:prstGeom>
          <a:noFill/>
          <a:ln/>
        </p:spPr>
        <p:txBody>
          <a:bodyPr wrap="square" rtlCol="0" anchor="ctr"/>
          <a:lstStyle/>
          <a:p>
            <a:pPr marL="0" indent="0">
              <a:buNone/>
            </a:pPr>
            <a:r>
              <a:rPr lang="es-419" sz="1050" b="1" noProof="0" dirty="0">
                <a:solidFill>
                  <a:srgbClr val="FFFFFF"/>
                </a:solidFill>
                <a:latin typeface="Calibri" pitchFamily="34" charset="0"/>
                <a:ea typeface="Calibri" pitchFamily="34" charset="-122"/>
                <a:cs typeface="Calibri" pitchFamily="34" charset="-120"/>
              </a:rPr>
              <a:t>Portafolio</a:t>
            </a:r>
            <a:endParaRPr lang="es-419" sz="1050" noProof="0" dirty="0"/>
          </a:p>
        </p:txBody>
      </p:sp>
      <p:sp>
        <p:nvSpPr>
          <p:cNvPr id="16" name="Text 14"/>
          <p:cNvSpPr/>
          <p:nvPr/>
        </p:nvSpPr>
        <p:spPr>
          <a:xfrm>
            <a:off x="6272784" y="1801368"/>
            <a:ext cx="2560320" cy="566928"/>
          </a:xfrm>
          <a:prstGeom prst="rect">
            <a:avLst/>
          </a:prstGeom>
          <a:noFill/>
          <a:ln/>
        </p:spPr>
        <p:txBody>
          <a:bodyPr wrap="square" rtlCol="0" anchor="t"/>
          <a:lstStyle/>
          <a:p>
            <a:pPr marL="0" indent="0">
              <a:buNone/>
            </a:pPr>
            <a:r>
              <a:rPr lang="es-419" sz="950" noProof="0" dirty="0">
                <a:solidFill>
                  <a:srgbClr val="334155"/>
                </a:solidFill>
                <a:latin typeface="Calibri" pitchFamily="34" charset="0"/>
                <a:ea typeface="Calibri" pitchFamily="34" charset="-122"/>
                <a:cs typeface="Calibri" pitchFamily="34" charset="-120"/>
              </a:rPr>
              <a:t>Proyecto incluido en el portafolio oficial de la red.</a:t>
            </a:r>
            <a:endParaRPr lang="es-419" sz="950" noProof="0" dirty="0"/>
          </a:p>
        </p:txBody>
      </p:sp>
      <p:sp>
        <p:nvSpPr>
          <p:cNvPr id="17" name="Shape 15"/>
          <p:cNvSpPr/>
          <p:nvPr/>
        </p:nvSpPr>
        <p:spPr>
          <a:xfrm>
            <a:off x="274320" y="2560320"/>
            <a:ext cx="2743200" cy="10058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8" name="Shape 16"/>
          <p:cNvSpPr/>
          <p:nvPr/>
        </p:nvSpPr>
        <p:spPr>
          <a:xfrm>
            <a:off x="274320" y="2560320"/>
            <a:ext cx="2743200" cy="347472"/>
          </a:xfrm>
          <a:prstGeom prst="rect">
            <a:avLst/>
          </a:prstGeom>
          <a:solidFill>
            <a:srgbClr val="5B21B6"/>
          </a:solidFill>
          <a:ln w="12700">
            <a:solidFill>
              <a:srgbClr val="5B21B6"/>
            </a:solidFill>
            <a:prstDash val="solid"/>
          </a:ln>
        </p:spPr>
        <p:txBody>
          <a:bodyPr/>
          <a:lstStyle/>
          <a:p>
            <a:endParaRPr lang="es-419" noProof="0" dirty="0"/>
          </a:p>
        </p:txBody>
      </p:sp>
      <p:sp>
        <p:nvSpPr>
          <p:cNvPr id="19" name="Text 17"/>
          <p:cNvSpPr/>
          <p:nvPr/>
        </p:nvSpPr>
        <p:spPr>
          <a:xfrm>
            <a:off x="365760" y="2560320"/>
            <a:ext cx="2560320" cy="347472"/>
          </a:xfrm>
          <a:prstGeom prst="rect">
            <a:avLst/>
          </a:prstGeom>
          <a:noFill/>
          <a:ln/>
        </p:spPr>
        <p:txBody>
          <a:bodyPr wrap="square" rtlCol="0" anchor="ctr"/>
          <a:lstStyle/>
          <a:p>
            <a:pPr marL="0" indent="0">
              <a:buNone/>
            </a:pPr>
            <a:r>
              <a:rPr lang="es-419" sz="1050" b="1" noProof="0" dirty="0">
                <a:solidFill>
                  <a:srgbClr val="FFFFFF"/>
                </a:solidFill>
                <a:latin typeface="Calibri" pitchFamily="34" charset="0"/>
                <a:ea typeface="Calibri" pitchFamily="34" charset="-122"/>
                <a:cs typeface="Calibri" pitchFamily="34" charset="-120"/>
              </a:rPr>
              <a:t>Remodelación</a:t>
            </a:r>
            <a:endParaRPr lang="es-419" sz="1050" noProof="0" dirty="0"/>
          </a:p>
        </p:txBody>
      </p:sp>
      <p:sp>
        <p:nvSpPr>
          <p:cNvPr id="20" name="Text 18"/>
          <p:cNvSpPr/>
          <p:nvPr/>
        </p:nvSpPr>
        <p:spPr>
          <a:xfrm>
            <a:off x="365760" y="2944368"/>
            <a:ext cx="2560320" cy="566928"/>
          </a:xfrm>
          <a:prstGeom prst="rect">
            <a:avLst/>
          </a:prstGeom>
          <a:noFill/>
          <a:ln/>
        </p:spPr>
        <p:txBody>
          <a:bodyPr wrap="square" rtlCol="0" anchor="t"/>
          <a:lstStyle/>
          <a:p>
            <a:pPr marL="0" indent="0">
              <a:buNone/>
            </a:pPr>
            <a:r>
              <a:rPr lang="es-419" sz="950" noProof="0" dirty="0">
                <a:solidFill>
                  <a:srgbClr val="334155"/>
                </a:solidFill>
                <a:latin typeface="Calibri" pitchFamily="34" charset="0"/>
                <a:ea typeface="Calibri" pitchFamily="34" charset="-122"/>
                <a:cs typeface="Calibri" pitchFamily="34" charset="-120"/>
              </a:rPr>
              <a:t>Cambios en distribución o acabados de espacios.</a:t>
            </a:r>
            <a:endParaRPr lang="es-419" sz="950" noProof="0" dirty="0"/>
          </a:p>
        </p:txBody>
      </p:sp>
      <p:sp>
        <p:nvSpPr>
          <p:cNvPr id="21" name="Shape 19"/>
          <p:cNvSpPr/>
          <p:nvPr/>
        </p:nvSpPr>
        <p:spPr>
          <a:xfrm>
            <a:off x="3227832" y="2560320"/>
            <a:ext cx="2743200" cy="10058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22" name="Shape 20"/>
          <p:cNvSpPr/>
          <p:nvPr/>
        </p:nvSpPr>
        <p:spPr>
          <a:xfrm>
            <a:off x="3227832" y="2560320"/>
            <a:ext cx="2743200" cy="347472"/>
          </a:xfrm>
          <a:prstGeom prst="rect">
            <a:avLst/>
          </a:prstGeom>
          <a:solidFill>
            <a:srgbClr val="D97706"/>
          </a:solidFill>
          <a:ln w="12700">
            <a:solidFill>
              <a:srgbClr val="D97706"/>
            </a:solidFill>
            <a:prstDash val="solid"/>
          </a:ln>
        </p:spPr>
        <p:txBody>
          <a:bodyPr/>
          <a:lstStyle/>
          <a:p>
            <a:endParaRPr lang="es-419" noProof="0" dirty="0"/>
          </a:p>
        </p:txBody>
      </p:sp>
      <p:sp>
        <p:nvSpPr>
          <p:cNvPr id="23" name="Text 21"/>
          <p:cNvSpPr/>
          <p:nvPr/>
        </p:nvSpPr>
        <p:spPr>
          <a:xfrm>
            <a:off x="3319272" y="2560320"/>
            <a:ext cx="2560320" cy="347472"/>
          </a:xfrm>
          <a:prstGeom prst="rect">
            <a:avLst/>
          </a:prstGeom>
          <a:noFill/>
          <a:ln/>
        </p:spPr>
        <p:txBody>
          <a:bodyPr wrap="square" rtlCol="0" anchor="ctr"/>
          <a:lstStyle/>
          <a:p>
            <a:pPr marL="0" indent="0">
              <a:buNone/>
            </a:pPr>
            <a:r>
              <a:rPr lang="es-419" sz="1050" b="1" noProof="0" dirty="0">
                <a:solidFill>
                  <a:srgbClr val="FFFFFF"/>
                </a:solidFill>
                <a:latin typeface="Calibri" pitchFamily="34" charset="0"/>
                <a:ea typeface="Calibri" pitchFamily="34" charset="-122"/>
                <a:cs typeface="Calibri" pitchFamily="34" charset="-120"/>
              </a:rPr>
              <a:t>Adecuación de Espacio</a:t>
            </a:r>
            <a:endParaRPr lang="es-419" sz="1050" noProof="0" dirty="0"/>
          </a:p>
        </p:txBody>
      </p:sp>
      <p:sp>
        <p:nvSpPr>
          <p:cNvPr id="24" name="Text 22"/>
          <p:cNvSpPr/>
          <p:nvPr/>
        </p:nvSpPr>
        <p:spPr>
          <a:xfrm>
            <a:off x="3319272" y="2944368"/>
            <a:ext cx="2560320" cy="566928"/>
          </a:xfrm>
          <a:prstGeom prst="rect">
            <a:avLst/>
          </a:prstGeom>
          <a:noFill/>
          <a:ln/>
        </p:spPr>
        <p:txBody>
          <a:bodyPr wrap="square" rtlCol="0" anchor="t"/>
          <a:lstStyle/>
          <a:p>
            <a:pPr marL="0" indent="0">
              <a:buNone/>
            </a:pPr>
            <a:r>
              <a:rPr lang="es-419" sz="950" noProof="0" dirty="0">
                <a:solidFill>
                  <a:srgbClr val="334155"/>
                </a:solidFill>
                <a:latin typeface="Calibri" pitchFamily="34" charset="0"/>
                <a:ea typeface="Calibri" pitchFamily="34" charset="-122"/>
                <a:cs typeface="Calibri" pitchFamily="34" charset="-120"/>
              </a:rPr>
              <a:t>Adaptación de un espacio a un uso diferente.</a:t>
            </a:r>
            <a:endParaRPr lang="es-419" sz="950" noProof="0" dirty="0"/>
          </a:p>
        </p:txBody>
      </p:sp>
      <p:sp>
        <p:nvSpPr>
          <p:cNvPr id="25" name="Shape 23"/>
          <p:cNvSpPr/>
          <p:nvPr/>
        </p:nvSpPr>
        <p:spPr>
          <a:xfrm>
            <a:off x="6181344" y="2560320"/>
            <a:ext cx="2743200" cy="10058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26" name="Shape 24"/>
          <p:cNvSpPr/>
          <p:nvPr/>
        </p:nvSpPr>
        <p:spPr>
          <a:xfrm>
            <a:off x="6181344" y="2560320"/>
            <a:ext cx="2743200" cy="347472"/>
          </a:xfrm>
          <a:prstGeom prst="rect">
            <a:avLst/>
          </a:prstGeom>
          <a:solidFill>
            <a:srgbClr val="166534"/>
          </a:solidFill>
          <a:ln w="12700">
            <a:solidFill>
              <a:srgbClr val="166534"/>
            </a:solidFill>
            <a:prstDash val="solid"/>
          </a:ln>
        </p:spPr>
        <p:txBody>
          <a:bodyPr/>
          <a:lstStyle/>
          <a:p>
            <a:endParaRPr lang="es-419" noProof="0" dirty="0"/>
          </a:p>
        </p:txBody>
      </p:sp>
      <p:sp>
        <p:nvSpPr>
          <p:cNvPr id="27" name="Text 25"/>
          <p:cNvSpPr/>
          <p:nvPr/>
        </p:nvSpPr>
        <p:spPr>
          <a:xfrm>
            <a:off x="6272784" y="2560320"/>
            <a:ext cx="2560320" cy="347472"/>
          </a:xfrm>
          <a:prstGeom prst="rect">
            <a:avLst/>
          </a:prstGeom>
          <a:noFill/>
          <a:ln/>
        </p:spPr>
        <p:txBody>
          <a:bodyPr wrap="square" rtlCol="0" anchor="ctr"/>
          <a:lstStyle/>
          <a:p>
            <a:pPr marL="0" indent="0">
              <a:buNone/>
            </a:pPr>
            <a:r>
              <a:rPr lang="es-419" sz="1050" b="1" noProof="0" dirty="0">
                <a:solidFill>
                  <a:srgbClr val="FFFFFF"/>
                </a:solidFill>
                <a:latin typeface="Calibri" pitchFamily="34" charset="0"/>
                <a:ea typeface="Calibri" pitchFamily="34" charset="-122"/>
                <a:cs typeface="Calibri" pitchFamily="34" charset="-120"/>
              </a:rPr>
              <a:t>Garantías</a:t>
            </a:r>
            <a:endParaRPr lang="es-419" sz="1050" noProof="0" dirty="0"/>
          </a:p>
        </p:txBody>
      </p:sp>
      <p:sp>
        <p:nvSpPr>
          <p:cNvPr id="28" name="Text 26"/>
          <p:cNvSpPr/>
          <p:nvPr/>
        </p:nvSpPr>
        <p:spPr>
          <a:xfrm>
            <a:off x="6272784" y="2944368"/>
            <a:ext cx="2560320" cy="566928"/>
          </a:xfrm>
          <a:prstGeom prst="rect">
            <a:avLst/>
          </a:prstGeom>
          <a:noFill/>
          <a:ln/>
        </p:spPr>
        <p:txBody>
          <a:bodyPr wrap="square" rtlCol="0" anchor="t"/>
          <a:lstStyle/>
          <a:p>
            <a:pPr marL="0" indent="0">
              <a:buNone/>
            </a:pPr>
            <a:r>
              <a:rPr lang="es-419" sz="950" noProof="0" dirty="0">
                <a:solidFill>
                  <a:srgbClr val="334155"/>
                </a:solidFill>
                <a:latin typeface="Calibri" pitchFamily="34" charset="0"/>
                <a:ea typeface="Calibri" pitchFamily="34" charset="-122"/>
                <a:cs typeface="Calibri" pitchFamily="34" charset="-120"/>
              </a:rPr>
              <a:t>Trabajos cubiertos por garantía de contratista.</a:t>
            </a:r>
            <a:endParaRPr lang="es-419" sz="950" noProof="0" dirty="0"/>
          </a:p>
        </p:txBody>
      </p:sp>
      <p:sp>
        <p:nvSpPr>
          <p:cNvPr id="29" name="Shape 27"/>
          <p:cNvSpPr/>
          <p:nvPr/>
        </p:nvSpPr>
        <p:spPr>
          <a:xfrm>
            <a:off x="274320" y="3703320"/>
            <a:ext cx="2743200" cy="10058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30" name="Shape 28"/>
          <p:cNvSpPr/>
          <p:nvPr/>
        </p:nvSpPr>
        <p:spPr>
          <a:xfrm>
            <a:off x="274320" y="3703320"/>
            <a:ext cx="2743200" cy="347472"/>
          </a:xfrm>
          <a:prstGeom prst="rect">
            <a:avLst/>
          </a:prstGeom>
          <a:solidFill>
            <a:srgbClr val="1A4B8C"/>
          </a:solidFill>
          <a:ln w="12700">
            <a:solidFill>
              <a:srgbClr val="1A4B8C"/>
            </a:solidFill>
            <a:prstDash val="solid"/>
          </a:ln>
        </p:spPr>
        <p:txBody>
          <a:bodyPr/>
          <a:lstStyle/>
          <a:p>
            <a:endParaRPr lang="es-419" noProof="0" dirty="0"/>
          </a:p>
        </p:txBody>
      </p:sp>
      <p:sp>
        <p:nvSpPr>
          <p:cNvPr id="31" name="Text 29"/>
          <p:cNvSpPr/>
          <p:nvPr/>
        </p:nvSpPr>
        <p:spPr>
          <a:xfrm>
            <a:off x="365760" y="3703320"/>
            <a:ext cx="2560320" cy="347472"/>
          </a:xfrm>
          <a:prstGeom prst="rect">
            <a:avLst/>
          </a:prstGeom>
          <a:noFill/>
          <a:ln/>
        </p:spPr>
        <p:txBody>
          <a:bodyPr wrap="square" rtlCol="0" anchor="ctr"/>
          <a:lstStyle/>
          <a:p>
            <a:pPr marL="0" indent="0">
              <a:buNone/>
            </a:pPr>
            <a:r>
              <a:rPr lang="es-419" sz="1050" b="1" noProof="0" dirty="0">
                <a:solidFill>
                  <a:srgbClr val="FFFFFF"/>
                </a:solidFill>
                <a:latin typeface="Calibri" pitchFamily="34" charset="0"/>
                <a:ea typeface="Calibri" pitchFamily="34" charset="-122"/>
                <a:cs typeface="Calibri" pitchFamily="34" charset="-120"/>
              </a:rPr>
              <a:t>Ampliación</a:t>
            </a:r>
            <a:endParaRPr lang="es-419" sz="1050" noProof="0" dirty="0"/>
          </a:p>
        </p:txBody>
      </p:sp>
      <p:sp>
        <p:nvSpPr>
          <p:cNvPr id="32" name="Text 30"/>
          <p:cNvSpPr/>
          <p:nvPr/>
        </p:nvSpPr>
        <p:spPr>
          <a:xfrm>
            <a:off x="365760" y="4087368"/>
            <a:ext cx="2560320" cy="566928"/>
          </a:xfrm>
          <a:prstGeom prst="rect">
            <a:avLst/>
          </a:prstGeom>
          <a:noFill/>
          <a:ln/>
        </p:spPr>
        <p:txBody>
          <a:bodyPr wrap="square" rtlCol="0" anchor="t"/>
          <a:lstStyle/>
          <a:p>
            <a:pPr marL="0" indent="0">
              <a:buNone/>
            </a:pPr>
            <a:r>
              <a:rPr lang="es-419" sz="950" noProof="0" dirty="0">
                <a:solidFill>
                  <a:srgbClr val="334155"/>
                </a:solidFill>
                <a:latin typeface="Calibri" pitchFamily="34" charset="0"/>
                <a:ea typeface="Calibri" pitchFamily="34" charset="-122"/>
                <a:cs typeface="Calibri" pitchFamily="34" charset="-120"/>
              </a:rPr>
              <a:t>Extensión de áreas o volumen del inmueble.</a:t>
            </a:r>
            <a:endParaRPr lang="es-419" sz="950" noProof="0" dirty="0"/>
          </a:p>
        </p:txBody>
      </p:sp>
      <p:sp>
        <p:nvSpPr>
          <p:cNvPr id="33" name="Shape 31"/>
          <p:cNvSpPr/>
          <p:nvPr/>
        </p:nvSpPr>
        <p:spPr>
          <a:xfrm>
            <a:off x="3227832" y="3703320"/>
            <a:ext cx="2743200" cy="10058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34" name="Shape 32"/>
          <p:cNvSpPr/>
          <p:nvPr/>
        </p:nvSpPr>
        <p:spPr>
          <a:xfrm>
            <a:off x="3227832" y="3703320"/>
            <a:ext cx="2743200" cy="347472"/>
          </a:xfrm>
          <a:prstGeom prst="rect">
            <a:avLst/>
          </a:prstGeom>
          <a:solidFill>
            <a:srgbClr val="991B1B"/>
          </a:solidFill>
          <a:ln w="12700">
            <a:solidFill>
              <a:srgbClr val="991B1B"/>
            </a:solidFill>
            <a:prstDash val="solid"/>
          </a:ln>
        </p:spPr>
        <p:txBody>
          <a:bodyPr/>
          <a:lstStyle/>
          <a:p>
            <a:endParaRPr lang="es-419" noProof="0" dirty="0"/>
          </a:p>
        </p:txBody>
      </p:sp>
      <p:sp>
        <p:nvSpPr>
          <p:cNvPr id="35" name="Text 33"/>
          <p:cNvSpPr/>
          <p:nvPr/>
        </p:nvSpPr>
        <p:spPr>
          <a:xfrm>
            <a:off x="3319272" y="3703320"/>
            <a:ext cx="2560320" cy="347472"/>
          </a:xfrm>
          <a:prstGeom prst="rect">
            <a:avLst/>
          </a:prstGeom>
          <a:noFill/>
          <a:ln/>
        </p:spPr>
        <p:txBody>
          <a:bodyPr wrap="square" rtlCol="0" anchor="ctr"/>
          <a:lstStyle/>
          <a:p>
            <a:pPr marL="0" indent="0">
              <a:buNone/>
            </a:pPr>
            <a:r>
              <a:rPr lang="es-419" sz="1050" b="1" noProof="0" dirty="0">
                <a:solidFill>
                  <a:srgbClr val="FFFFFF"/>
                </a:solidFill>
                <a:latin typeface="Calibri" pitchFamily="34" charset="0"/>
                <a:ea typeface="Calibri" pitchFamily="34" charset="-122"/>
                <a:cs typeface="Calibri" pitchFamily="34" charset="-120"/>
              </a:rPr>
              <a:t>Mant. Extraordinario</a:t>
            </a:r>
            <a:endParaRPr lang="es-419" sz="1050" noProof="0" dirty="0"/>
          </a:p>
        </p:txBody>
      </p:sp>
      <p:sp>
        <p:nvSpPr>
          <p:cNvPr id="36" name="Text 34"/>
          <p:cNvSpPr/>
          <p:nvPr/>
        </p:nvSpPr>
        <p:spPr>
          <a:xfrm>
            <a:off x="3319272" y="4087368"/>
            <a:ext cx="2560320" cy="566928"/>
          </a:xfrm>
          <a:prstGeom prst="rect">
            <a:avLst/>
          </a:prstGeom>
          <a:noFill/>
          <a:ln/>
        </p:spPr>
        <p:txBody>
          <a:bodyPr wrap="square" rtlCol="0" anchor="t"/>
          <a:lstStyle/>
          <a:p>
            <a:pPr marL="0" indent="0">
              <a:buNone/>
            </a:pPr>
            <a:r>
              <a:rPr lang="es-419" sz="950" noProof="0" dirty="0">
                <a:solidFill>
                  <a:srgbClr val="334155"/>
                </a:solidFill>
                <a:latin typeface="Calibri" pitchFamily="34" charset="0"/>
                <a:ea typeface="Calibri" pitchFamily="34" charset="-122"/>
                <a:cs typeface="Calibri" pitchFamily="34" charset="-120"/>
              </a:rPr>
              <a:t>Reparación mayor fuera del mantenimiento rutinario.</a:t>
            </a:r>
            <a:endParaRPr lang="es-419" sz="950" noProof="0" dirty="0"/>
          </a:p>
        </p:txBody>
      </p:sp>
      <p:sp>
        <p:nvSpPr>
          <p:cNvPr id="37" name="Shape 35"/>
          <p:cNvSpPr/>
          <p:nvPr/>
        </p:nvSpPr>
        <p:spPr>
          <a:xfrm>
            <a:off x="6181344" y="3703320"/>
            <a:ext cx="2743200" cy="10058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38" name="Shape 36"/>
          <p:cNvSpPr/>
          <p:nvPr/>
        </p:nvSpPr>
        <p:spPr>
          <a:xfrm>
            <a:off x="6181344" y="3703320"/>
            <a:ext cx="2743200" cy="347472"/>
          </a:xfrm>
          <a:prstGeom prst="rect">
            <a:avLst/>
          </a:prstGeom>
          <a:solidFill>
            <a:srgbClr val="64748B"/>
          </a:solidFill>
          <a:ln w="12700">
            <a:solidFill>
              <a:srgbClr val="64748B"/>
            </a:solidFill>
            <a:prstDash val="solid"/>
          </a:ln>
        </p:spPr>
        <p:txBody>
          <a:bodyPr/>
          <a:lstStyle/>
          <a:p>
            <a:endParaRPr lang="es-419" noProof="0" dirty="0"/>
          </a:p>
        </p:txBody>
      </p:sp>
      <p:sp>
        <p:nvSpPr>
          <p:cNvPr id="39" name="Text 37"/>
          <p:cNvSpPr/>
          <p:nvPr/>
        </p:nvSpPr>
        <p:spPr>
          <a:xfrm>
            <a:off x="6272784" y="3703320"/>
            <a:ext cx="2560320" cy="347472"/>
          </a:xfrm>
          <a:prstGeom prst="rect">
            <a:avLst/>
          </a:prstGeom>
          <a:noFill/>
          <a:ln/>
        </p:spPr>
        <p:txBody>
          <a:bodyPr wrap="square" rtlCol="0" anchor="ctr"/>
          <a:lstStyle/>
          <a:p>
            <a:pPr marL="0" indent="0">
              <a:buNone/>
            </a:pPr>
            <a:r>
              <a:rPr lang="es-419" sz="1050" b="1" noProof="0" dirty="0">
                <a:solidFill>
                  <a:srgbClr val="FFFFFF"/>
                </a:solidFill>
                <a:latin typeface="Calibri" pitchFamily="34" charset="0"/>
                <a:ea typeface="Calibri" pitchFamily="34" charset="-122"/>
                <a:cs typeface="Calibri" pitchFamily="34" charset="-120"/>
              </a:rPr>
              <a:t>Revisión</a:t>
            </a:r>
            <a:endParaRPr lang="es-419" sz="1050" noProof="0" dirty="0"/>
          </a:p>
        </p:txBody>
      </p:sp>
      <p:sp>
        <p:nvSpPr>
          <p:cNvPr id="40" name="Text 38"/>
          <p:cNvSpPr/>
          <p:nvPr/>
        </p:nvSpPr>
        <p:spPr>
          <a:xfrm>
            <a:off x="6272784" y="4087368"/>
            <a:ext cx="2560320" cy="566928"/>
          </a:xfrm>
          <a:prstGeom prst="rect">
            <a:avLst/>
          </a:prstGeom>
          <a:noFill/>
          <a:ln/>
        </p:spPr>
        <p:txBody>
          <a:bodyPr wrap="square" rtlCol="0" anchor="t"/>
          <a:lstStyle/>
          <a:p>
            <a:pPr marL="0" indent="0">
              <a:buNone/>
            </a:pPr>
            <a:r>
              <a:rPr lang="es-419" sz="950" noProof="0" dirty="0">
                <a:solidFill>
                  <a:srgbClr val="334155"/>
                </a:solidFill>
                <a:latin typeface="Calibri" pitchFamily="34" charset="0"/>
                <a:ea typeface="Calibri" pitchFamily="34" charset="-122"/>
                <a:cs typeface="Calibri" pitchFamily="34" charset="-120"/>
              </a:rPr>
              <a:t>Inspección técnica de un elemento o sistema.</a:t>
            </a:r>
            <a:endParaRPr lang="es-419" sz="95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4B8C"/>
          </a:solidFill>
          <a:ln w="12700">
            <a:solidFill>
              <a:srgbClr val="1A4B8C"/>
            </a:solidFill>
            <a:prstDash val="solid"/>
          </a:ln>
        </p:spPr>
        <p:txBody>
          <a:bodyPr/>
          <a:lstStyle/>
          <a:p>
            <a:endParaRPr lang="es-419" noProof="0" dirty="0"/>
          </a:p>
        </p:txBody>
      </p:sp>
      <p:sp>
        <p:nvSpPr>
          <p:cNvPr id="3" name="Text 1"/>
          <p:cNvSpPr/>
          <p:nvPr/>
        </p:nvSpPr>
        <p:spPr>
          <a:xfrm>
            <a:off x="365760" y="91440"/>
            <a:ext cx="8412480" cy="731520"/>
          </a:xfrm>
          <a:prstGeom prst="rect">
            <a:avLst/>
          </a:prstGeom>
          <a:noFill/>
          <a:ln/>
        </p:spPr>
        <p:txBody>
          <a:bodyPr wrap="square" rtlCol="0" anchor="ctr"/>
          <a:lstStyle/>
          <a:p>
            <a:pPr marL="0" indent="0" algn="l">
              <a:buNone/>
            </a:pPr>
            <a:r>
              <a:rPr lang="es-419" sz="1900" b="1" noProof="0" dirty="0">
                <a:solidFill>
                  <a:srgbClr val="FFFFFF"/>
                </a:solidFill>
                <a:latin typeface="Calibri" pitchFamily="34" charset="0"/>
                <a:ea typeface="Calibri" pitchFamily="34" charset="-122"/>
                <a:cs typeface="Calibri" pitchFamily="34" charset="-120"/>
              </a:rPr>
              <a:t>Cómo llenar la Solicitud — Sección I: Identificación</a:t>
            </a:r>
            <a:endParaRPr lang="es-419" sz="1900" noProof="0" dirty="0"/>
          </a:p>
        </p:txBody>
      </p:sp>
      <p:sp>
        <p:nvSpPr>
          <p:cNvPr id="4" name="Shape 2"/>
          <p:cNvSpPr/>
          <p:nvPr/>
        </p:nvSpPr>
        <p:spPr>
          <a:xfrm>
            <a:off x="274320" y="1005840"/>
            <a:ext cx="8595360" cy="457200"/>
          </a:xfrm>
          <a:prstGeom prst="roundRect">
            <a:avLst>
              <a:gd name="adj" fmla="val 10000"/>
            </a:avLst>
          </a:prstGeom>
          <a:solidFill>
            <a:srgbClr val="EFF6FF"/>
          </a:solidFill>
          <a:ln w="12700">
            <a:solidFill>
              <a:srgbClr val="BFDBFE"/>
            </a:solidFill>
            <a:prstDash val="solid"/>
          </a:ln>
        </p:spPr>
        <p:txBody>
          <a:bodyPr/>
          <a:lstStyle/>
          <a:p>
            <a:endParaRPr lang="es-419" noProof="0" dirty="0"/>
          </a:p>
        </p:txBody>
      </p:sp>
      <p:sp>
        <p:nvSpPr>
          <p:cNvPr id="5" name="Text 3"/>
          <p:cNvSpPr/>
          <p:nvPr/>
        </p:nvSpPr>
        <p:spPr>
          <a:xfrm>
            <a:off x="457200" y="1024128"/>
            <a:ext cx="8321040" cy="420624"/>
          </a:xfrm>
          <a:prstGeom prst="rect">
            <a:avLst/>
          </a:prstGeom>
          <a:noFill/>
          <a:ln/>
        </p:spPr>
        <p:txBody>
          <a:bodyPr wrap="square" rtlCol="0" anchor="ctr"/>
          <a:lstStyle/>
          <a:p>
            <a:pPr marL="0" indent="0">
              <a:buNone/>
            </a:pPr>
            <a:r>
              <a:rPr lang="es-419" sz="1050" noProof="0" dirty="0">
                <a:solidFill>
                  <a:srgbClr val="1A4B8C"/>
                </a:solidFill>
                <a:latin typeface="Calibri" pitchFamily="34" charset="0"/>
                <a:ea typeface="Calibri" pitchFamily="34" charset="-122"/>
                <a:cs typeface="Calibri" pitchFamily="34" charset="-120"/>
              </a:rPr>
              <a:t>💡  Los campos División, Fecha de Elaboración, Razón Social, Sociedad y Centro Gestor se llenan automáticamente — no requieren acción.</a:t>
            </a:r>
            <a:endParaRPr lang="es-419" sz="1050" noProof="0" dirty="0"/>
          </a:p>
        </p:txBody>
      </p:sp>
      <p:sp>
        <p:nvSpPr>
          <p:cNvPr id="6" name="Shape 4"/>
          <p:cNvSpPr/>
          <p:nvPr/>
        </p:nvSpPr>
        <p:spPr>
          <a:xfrm>
            <a:off x="274320" y="1572768"/>
            <a:ext cx="8595360" cy="594360"/>
          </a:xfrm>
          <a:prstGeom prst="rect">
            <a:avLst/>
          </a:prstGeom>
          <a:solidFill>
            <a:srgbClr val="F1F5F9"/>
          </a:solidFill>
          <a:ln w="12700">
            <a:solidFill>
              <a:srgbClr val="E2E8F0"/>
            </a:solidFill>
            <a:prstDash val="solid"/>
          </a:ln>
        </p:spPr>
        <p:txBody>
          <a:bodyPr/>
          <a:lstStyle/>
          <a:p>
            <a:endParaRPr lang="es-419" noProof="0" dirty="0"/>
          </a:p>
        </p:txBody>
      </p:sp>
      <p:sp>
        <p:nvSpPr>
          <p:cNvPr id="7" name="Shape 5"/>
          <p:cNvSpPr/>
          <p:nvPr/>
        </p:nvSpPr>
        <p:spPr>
          <a:xfrm>
            <a:off x="274320" y="1572768"/>
            <a:ext cx="64008" cy="594360"/>
          </a:xfrm>
          <a:prstGeom prst="rect">
            <a:avLst/>
          </a:prstGeom>
          <a:solidFill>
            <a:srgbClr val="1A4B8C"/>
          </a:solidFill>
          <a:ln w="12700">
            <a:solidFill>
              <a:srgbClr val="1A4B8C"/>
            </a:solidFill>
            <a:prstDash val="solid"/>
          </a:ln>
        </p:spPr>
        <p:txBody>
          <a:bodyPr/>
          <a:lstStyle/>
          <a:p>
            <a:endParaRPr lang="es-419" noProof="0" dirty="0"/>
          </a:p>
        </p:txBody>
      </p:sp>
      <p:sp>
        <p:nvSpPr>
          <p:cNvPr id="8" name="Text 6"/>
          <p:cNvSpPr/>
          <p:nvPr/>
        </p:nvSpPr>
        <p:spPr>
          <a:xfrm>
            <a:off x="411480" y="1609344"/>
            <a:ext cx="2011680" cy="27432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Nombre del Centro *</a:t>
            </a:r>
            <a:endParaRPr lang="es-419" sz="1100" noProof="0" dirty="0"/>
          </a:p>
        </p:txBody>
      </p:sp>
      <p:sp>
        <p:nvSpPr>
          <p:cNvPr id="9" name="Shape 7"/>
          <p:cNvSpPr/>
          <p:nvPr/>
        </p:nvSpPr>
        <p:spPr>
          <a:xfrm>
            <a:off x="411480" y="1892808"/>
            <a:ext cx="1005840" cy="201168"/>
          </a:xfrm>
          <a:prstGeom prst="roundRect">
            <a:avLst>
              <a:gd name="adj" fmla="val 13636"/>
            </a:avLst>
          </a:prstGeom>
          <a:solidFill>
            <a:srgbClr val="1A4B8C"/>
          </a:solidFill>
          <a:ln w="12700">
            <a:solidFill>
              <a:srgbClr val="1A4B8C"/>
            </a:solidFill>
            <a:prstDash val="solid"/>
          </a:ln>
        </p:spPr>
        <p:txBody>
          <a:bodyPr/>
          <a:lstStyle/>
          <a:p>
            <a:endParaRPr lang="es-419" noProof="0" dirty="0"/>
          </a:p>
        </p:txBody>
      </p:sp>
      <p:sp>
        <p:nvSpPr>
          <p:cNvPr id="10" name="Text 8"/>
          <p:cNvSpPr/>
          <p:nvPr/>
        </p:nvSpPr>
        <p:spPr>
          <a:xfrm>
            <a:off x="411480" y="1892808"/>
            <a:ext cx="1005840" cy="201168"/>
          </a:xfrm>
          <a:prstGeom prst="rect">
            <a:avLst/>
          </a:prstGeom>
          <a:noFill/>
          <a:ln/>
        </p:spPr>
        <p:txBody>
          <a:bodyPr wrap="square" rtlCol="0" anchor="ctr"/>
          <a:lstStyle/>
          <a:p>
            <a:pPr marL="0" indent="0" algn="ctr">
              <a:buNone/>
            </a:pPr>
            <a:r>
              <a:rPr lang="es-419" sz="800" b="1" noProof="0" dirty="0">
                <a:solidFill>
                  <a:srgbClr val="FFFFFF"/>
                </a:solidFill>
                <a:latin typeface="Calibri" pitchFamily="34" charset="0"/>
                <a:ea typeface="Calibri" pitchFamily="34" charset="-122"/>
                <a:cs typeface="Calibri" pitchFamily="34" charset="-120"/>
              </a:rPr>
              <a:t>Selección</a:t>
            </a:r>
            <a:endParaRPr lang="es-419" sz="800" noProof="0" dirty="0"/>
          </a:p>
        </p:txBody>
      </p:sp>
      <p:sp>
        <p:nvSpPr>
          <p:cNvPr id="11" name="Text 9"/>
          <p:cNvSpPr/>
          <p:nvPr/>
        </p:nvSpPr>
        <p:spPr>
          <a:xfrm>
            <a:off x="2514600" y="1627632"/>
            <a:ext cx="6309360" cy="475488"/>
          </a:xfrm>
          <a:prstGeom prst="rect">
            <a:avLst/>
          </a:prstGeom>
          <a:noFill/>
          <a:ln/>
        </p:spPr>
        <p:txBody>
          <a:bodyPr wrap="square" rtlCol="0" anchor="ctr"/>
          <a:lstStyle/>
          <a:p>
            <a:pPr marL="0" indent="0">
              <a:buNone/>
            </a:pPr>
            <a:r>
              <a:rPr lang="es-419" sz="1050" noProof="0" dirty="0">
                <a:solidFill>
                  <a:srgbClr val="64748B"/>
                </a:solidFill>
                <a:latin typeface="Calibri" pitchFamily="34" charset="0"/>
                <a:ea typeface="Calibri" pitchFamily="34" charset="-122"/>
                <a:cs typeface="Calibri" pitchFamily="34" charset="-120"/>
              </a:rPr>
              <a:t>Elige tu colegio de la lista desplegable. Al seleccionarlo, la razón social, sociedad y centro gestor se llenan solos.</a:t>
            </a:r>
            <a:endParaRPr lang="es-419" sz="1050" noProof="0" dirty="0"/>
          </a:p>
        </p:txBody>
      </p:sp>
      <p:sp>
        <p:nvSpPr>
          <p:cNvPr id="12" name="Shape 10"/>
          <p:cNvSpPr/>
          <p:nvPr/>
        </p:nvSpPr>
        <p:spPr>
          <a:xfrm>
            <a:off x="274320" y="2240280"/>
            <a:ext cx="8595360" cy="594360"/>
          </a:xfrm>
          <a:prstGeom prst="rect">
            <a:avLst/>
          </a:prstGeom>
          <a:solidFill>
            <a:srgbClr val="FFFFFF"/>
          </a:solidFill>
          <a:ln w="12700">
            <a:solidFill>
              <a:srgbClr val="E2E8F0"/>
            </a:solidFill>
            <a:prstDash val="solid"/>
          </a:ln>
        </p:spPr>
        <p:txBody>
          <a:bodyPr/>
          <a:lstStyle/>
          <a:p>
            <a:endParaRPr lang="es-419" noProof="0" dirty="0"/>
          </a:p>
        </p:txBody>
      </p:sp>
      <p:sp>
        <p:nvSpPr>
          <p:cNvPr id="13" name="Shape 11"/>
          <p:cNvSpPr/>
          <p:nvPr/>
        </p:nvSpPr>
        <p:spPr>
          <a:xfrm>
            <a:off x="274320" y="2240280"/>
            <a:ext cx="64008" cy="594360"/>
          </a:xfrm>
          <a:prstGeom prst="rect">
            <a:avLst/>
          </a:prstGeom>
          <a:solidFill>
            <a:srgbClr val="1A4B8C"/>
          </a:solidFill>
          <a:ln w="12700">
            <a:solidFill>
              <a:srgbClr val="1A4B8C"/>
            </a:solidFill>
            <a:prstDash val="solid"/>
          </a:ln>
        </p:spPr>
        <p:txBody>
          <a:bodyPr/>
          <a:lstStyle/>
          <a:p>
            <a:endParaRPr lang="es-419" noProof="0" dirty="0"/>
          </a:p>
        </p:txBody>
      </p:sp>
      <p:sp>
        <p:nvSpPr>
          <p:cNvPr id="14" name="Text 12"/>
          <p:cNvSpPr/>
          <p:nvPr/>
        </p:nvSpPr>
        <p:spPr>
          <a:xfrm>
            <a:off x="411480" y="2276856"/>
            <a:ext cx="2011680" cy="27432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Ciclo / Año Fiscal</a:t>
            </a:r>
            <a:endParaRPr lang="es-419" sz="1100" noProof="0" dirty="0"/>
          </a:p>
        </p:txBody>
      </p:sp>
      <p:sp>
        <p:nvSpPr>
          <p:cNvPr id="15" name="Shape 13"/>
          <p:cNvSpPr/>
          <p:nvPr/>
        </p:nvSpPr>
        <p:spPr>
          <a:xfrm>
            <a:off x="411480" y="2560320"/>
            <a:ext cx="1005840" cy="201168"/>
          </a:xfrm>
          <a:prstGeom prst="roundRect">
            <a:avLst>
              <a:gd name="adj" fmla="val 13636"/>
            </a:avLst>
          </a:prstGeom>
          <a:solidFill>
            <a:srgbClr val="0D8A7E"/>
          </a:solidFill>
          <a:ln w="12700">
            <a:solidFill>
              <a:srgbClr val="0D8A7E"/>
            </a:solidFill>
            <a:prstDash val="solid"/>
          </a:ln>
        </p:spPr>
        <p:txBody>
          <a:bodyPr/>
          <a:lstStyle/>
          <a:p>
            <a:endParaRPr lang="es-419" noProof="0" dirty="0"/>
          </a:p>
        </p:txBody>
      </p:sp>
      <p:sp>
        <p:nvSpPr>
          <p:cNvPr id="16" name="Text 14"/>
          <p:cNvSpPr/>
          <p:nvPr/>
        </p:nvSpPr>
        <p:spPr>
          <a:xfrm>
            <a:off x="411480" y="2560320"/>
            <a:ext cx="1005840" cy="201168"/>
          </a:xfrm>
          <a:prstGeom prst="rect">
            <a:avLst/>
          </a:prstGeom>
          <a:noFill/>
          <a:ln/>
        </p:spPr>
        <p:txBody>
          <a:bodyPr wrap="square" rtlCol="0" anchor="ctr"/>
          <a:lstStyle/>
          <a:p>
            <a:pPr marL="0" indent="0" algn="ctr">
              <a:buNone/>
            </a:pPr>
            <a:r>
              <a:rPr lang="es-419" sz="800" b="1" noProof="0" dirty="0">
                <a:solidFill>
                  <a:srgbClr val="FFFFFF"/>
                </a:solidFill>
                <a:latin typeface="Calibri" pitchFamily="34" charset="0"/>
                <a:ea typeface="Calibri" pitchFamily="34" charset="-122"/>
                <a:cs typeface="Calibri" pitchFamily="34" charset="-120"/>
              </a:rPr>
              <a:t>Automático</a:t>
            </a:r>
            <a:endParaRPr lang="es-419" sz="800" noProof="0" dirty="0"/>
          </a:p>
        </p:txBody>
      </p:sp>
      <p:sp>
        <p:nvSpPr>
          <p:cNvPr id="17" name="Text 15"/>
          <p:cNvSpPr/>
          <p:nvPr/>
        </p:nvSpPr>
        <p:spPr>
          <a:xfrm>
            <a:off x="2514600" y="2295144"/>
            <a:ext cx="6309360" cy="475488"/>
          </a:xfrm>
          <a:prstGeom prst="rect">
            <a:avLst/>
          </a:prstGeom>
          <a:noFill/>
          <a:ln/>
        </p:spPr>
        <p:txBody>
          <a:bodyPr wrap="square" rtlCol="0" anchor="ctr"/>
          <a:lstStyle/>
          <a:p>
            <a:pPr marL="0" indent="0">
              <a:buNone/>
            </a:pPr>
            <a:r>
              <a:rPr lang="es-419" sz="1050" noProof="0" dirty="0">
                <a:solidFill>
                  <a:srgbClr val="64748B"/>
                </a:solidFill>
                <a:latin typeface="Calibri" pitchFamily="34" charset="0"/>
                <a:ea typeface="Calibri" pitchFamily="34" charset="-122"/>
                <a:cs typeface="Calibri" pitchFamily="34" charset="-120"/>
              </a:rPr>
              <a:t>Se llena con el año actual. Solo cámbialo si la solicitud corresponde a un ciclo diferente.</a:t>
            </a:r>
            <a:endParaRPr lang="es-419" sz="1050" noProof="0" dirty="0"/>
          </a:p>
        </p:txBody>
      </p:sp>
      <p:sp>
        <p:nvSpPr>
          <p:cNvPr id="18" name="Shape 16"/>
          <p:cNvSpPr/>
          <p:nvPr/>
        </p:nvSpPr>
        <p:spPr>
          <a:xfrm>
            <a:off x="274320" y="2907792"/>
            <a:ext cx="8595360" cy="594360"/>
          </a:xfrm>
          <a:prstGeom prst="rect">
            <a:avLst/>
          </a:prstGeom>
          <a:solidFill>
            <a:srgbClr val="F1F5F9"/>
          </a:solidFill>
          <a:ln w="12700">
            <a:solidFill>
              <a:srgbClr val="E2E8F0"/>
            </a:solidFill>
            <a:prstDash val="solid"/>
          </a:ln>
        </p:spPr>
        <p:txBody>
          <a:bodyPr/>
          <a:lstStyle/>
          <a:p>
            <a:endParaRPr lang="es-419" noProof="0" dirty="0"/>
          </a:p>
        </p:txBody>
      </p:sp>
      <p:sp>
        <p:nvSpPr>
          <p:cNvPr id="19" name="Shape 17"/>
          <p:cNvSpPr/>
          <p:nvPr/>
        </p:nvSpPr>
        <p:spPr>
          <a:xfrm>
            <a:off x="274320" y="2907792"/>
            <a:ext cx="64008" cy="594360"/>
          </a:xfrm>
          <a:prstGeom prst="rect">
            <a:avLst/>
          </a:prstGeom>
          <a:solidFill>
            <a:srgbClr val="1A4B8C"/>
          </a:solidFill>
          <a:ln w="12700">
            <a:solidFill>
              <a:srgbClr val="1A4B8C"/>
            </a:solidFill>
            <a:prstDash val="solid"/>
          </a:ln>
        </p:spPr>
        <p:txBody>
          <a:bodyPr/>
          <a:lstStyle/>
          <a:p>
            <a:endParaRPr lang="es-419" noProof="0" dirty="0"/>
          </a:p>
        </p:txBody>
      </p:sp>
      <p:sp>
        <p:nvSpPr>
          <p:cNvPr id="20" name="Text 18"/>
          <p:cNvSpPr/>
          <p:nvPr/>
        </p:nvSpPr>
        <p:spPr>
          <a:xfrm>
            <a:off x="411480" y="2944368"/>
            <a:ext cx="2011680" cy="27432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Nombre del Solicitante *</a:t>
            </a:r>
            <a:endParaRPr lang="es-419" sz="1100" noProof="0" dirty="0"/>
          </a:p>
        </p:txBody>
      </p:sp>
      <p:sp>
        <p:nvSpPr>
          <p:cNvPr id="21" name="Shape 19"/>
          <p:cNvSpPr/>
          <p:nvPr/>
        </p:nvSpPr>
        <p:spPr>
          <a:xfrm>
            <a:off x="411480" y="3227832"/>
            <a:ext cx="1005840" cy="201168"/>
          </a:xfrm>
          <a:prstGeom prst="roundRect">
            <a:avLst>
              <a:gd name="adj" fmla="val 13636"/>
            </a:avLst>
          </a:prstGeom>
          <a:solidFill>
            <a:srgbClr val="D97706"/>
          </a:solidFill>
          <a:ln w="12700">
            <a:solidFill>
              <a:srgbClr val="D97706"/>
            </a:solidFill>
            <a:prstDash val="solid"/>
          </a:ln>
        </p:spPr>
        <p:txBody>
          <a:bodyPr/>
          <a:lstStyle/>
          <a:p>
            <a:endParaRPr lang="es-419" noProof="0" dirty="0"/>
          </a:p>
        </p:txBody>
      </p:sp>
      <p:sp>
        <p:nvSpPr>
          <p:cNvPr id="22" name="Text 20"/>
          <p:cNvSpPr/>
          <p:nvPr/>
        </p:nvSpPr>
        <p:spPr>
          <a:xfrm>
            <a:off x="411480" y="3227832"/>
            <a:ext cx="1005840" cy="201168"/>
          </a:xfrm>
          <a:prstGeom prst="rect">
            <a:avLst/>
          </a:prstGeom>
          <a:noFill/>
          <a:ln/>
        </p:spPr>
        <p:txBody>
          <a:bodyPr wrap="square" rtlCol="0" anchor="ctr"/>
          <a:lstStyle/>
          <a:p>
            <a:pPr marL="0" indent="0" algn="ctr">
              <a:buNone/>
            </a:pPr>
            <a:r>
              <a:rPr lang="es-419" sz="800" b="1" noProof="0" dirty="0">
                <a:solidFill>
                  <a:srgbClr val="FFFFFF"/>
                </a:solidFill>
                <a:latin typeface="Calibri" pitchFamily="34" charset="0"/>
                <a:ea typeface="Calibri" pitchFamily="34" charset="-122"/>
                <a:cs typeface="Calibri" pitchFamily="34" charset="-120"/>
              </a:rPr>
              <a:t>Texto</a:t>
            </a:r>
            <a:endParaRPr lang="es-419" sz="800" noProof="0" dirty="0"/>
          </a:p>
        </p:txBody>
      </p:sp>
      <p:sp>
        <p:nvSpPr>
          <p:cNvPr id="23" name="Text 21"/>
          <p:cNvSpPr/>
          <p:nvPr/>
        </p:nvSpPr>
        <p:spPr>
          <a:xfrm>
            <a:off x="2514600" y="2962656"/>
            <a:ext cx="6309360" cy="475488"/>
          </a:xfrm>
          <a:prstGeom prst="rect">
            <a:avLst/>
          </a:prstGeom>
          <a:noFill/>
          <a:ln/>
        </p:spPr>
        <p:txBody>
          <a:bodyPr wrap="square" rtlCol="0" anchor="ctr"/>
          <a:lstStyle/>
          <a:p>
            <a:pPr marL="0" indent="0">
              <a:buNone/>
            </a:pPr>
            <a:r>
              <a:rPr lang="es-419" sz="1050" noProof="0" dirty="0">
                <a:solidFill>
                  <a:srgbClr val="64748B"/>
                </a:solidFill>
                <a:latin typeface="Calibri" pitchFamily="34" charset="0"/>
                <a:ea typeface="Calibri" pitchFamily="34" charset="-122"/>
                <a:cs typeface="Calibri" pitchFamily="34" charset="-120"/>
              </a:rPr>
              <a:t>Escribe tu nombre completo tal como aparece en los registros institucionales.</a:t>
            </a:r>
            <a:endParaRPr lang="es-419" sz="1050" noProof="0" dirty="0"/>
          </a:p>
        </p:txBody>
      </p:sp>
      <p:sp>
        <p:nvSpPr>
          <p:cNvPr id="24" name="Shape 22"/>
          <p:cNvSpPr/>
          <p:nvPr/>
        </p:nvSpPr>
        <p:spPr>
          <a:xfrm>
            <a:off x="274320" y="3575304"/>
            <a:ext cx="8595360" cy="594360"/>
          </a:xfrm>
          <a:prstGeom prst="rect">
            <a:avLst/>
          </a:prstGeom>
          <a:solidFill>
            <a:srgbClr val="FFFFFF"/>
          </a:solidFill>
          <a:ln w="12700">
            <a:solidFill>
              <a:srgbClr val="E2E8F0"/>
            </a:solidFill>
            <a:prstDash val="solid"/>
          </a:ln>
        </p:spPr>
        <p:txBody>
          <a:bodyPr/>
          <a:lstStyle/>
          <a:p>
            <a:endParaRPr lang="es-419" noProof="0" dirty="0"/>
          </a:p>
        </p:txBody>
      </p:sp>
      <p:sp>
        <p:nvSpPr>
          <p:cNvPr id="25" name="Shape 23"/>
          <p:cNvSpPr/>
          <p:nvPr/>
        </p:nvSpPr>
        <p:spPr>
          <a:xfrm>
            <a:off x="274320" y="3575304"/>
            <a:ext cx="64008" cy="594360"/>
          </a:xfrm>
          <a:prstGeom prst="rect">
            <a:avLst/>
          </a:prstGeom>
          <a:solidFill>
            <a:srgbClr val="1A4B8C"/>
          </a:solidFill>
          <a:ln w="12700">
            <a:solidFill>
              <a:srgbClr val="1A4B8C"/>
            </a:solidFill>
            <a:prstDash val="solid"/>
          </a:ln>
        </p:spPr>
        <p:txBody>
          <a:bodyPr/>
          <a:lstStyle/>
          <a:p>
            <a:endParaRPr lang="es-419" noProof="0" dirty="0"/>
          </a:p>
        </p:txBody>
      </p:sp>
      <p:sp>
        <p:nvSpPr>
          <p:cNvPr id="26" name="Text 24"/>
          <p:cNvSpPr/>
          <p:nvPr/>
        </p:nvSpPr>
        <p:spPr>
          <a:xfrm>
            <a:off x="411480" y="3611880"/>
            <a:ext cx="2011680" cy="27432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Puesto *</a:t>
            </a:r>
            <a:endParaRPr lang="es-419" sz="1100" noProof="0" dirty="0"/>
          </a:p>
        </p:txBody>
      </p:sp>
      <p:sp>
        <p:nvSpPr>
          <p:cNvPr id="27" name="Shape 25"/>
          <p:cNvSpPr/>
          <p:nvPr/>
        </p:nvSpPr>
        <p:spPr>
          <a:xfrm>
            <a:off x="411480" y="3895344"/>
            <a:ext cx="1005840" cy="201168"/>
          </a:xfrm>
          <a:prstGeom prst="roundRect">
            <a:avLst>
              <a:gd name="adj" fmla="val 13636"/>
            </a:avLst>
          </a:prstGeom>
          <a:solidFill>
            <a:srgbClr val="D97706"/>
          </a:solidFill>
          <a:ln w="12700">
            <a:solidFill>
              <a:srgbClr val="D97706"/>
            </a:solidFill>
            <a:prstDash val="solid"/>
          </a:ln>
        </p:spPr>
        <p:txBody>
          <a:bodyPr/>
          <a:lstStyle/>
          <a:p>
            <a:endParaRPr lang="es-419" noProof="0" dirty="0"/>
          </a:p>
        </p:txBody>
      </p:sp>
      <p:sp>
        <p:nvSpPr>
          <p:cNvPr id="28" name="Text 26"/>
          <p:cNvSpPr/>
          <p:nvPr/>
        </p:nvSpPr>
        <p:spPr>
          <a:xfrm>
            <a:off x="411480" y="3895344"/>
            <a:ext cx="1005840" cy="201168"/>
          </a:xfrm>
          <a:prstGeom prst="rect">
            <a:avLst/>
          </a:prstGeom>
          <a:noFill/>
          <a:ln/>
        </p:spPr>
        <p:txBody>
          <a:bodyPr wrap="square" rtlCol="0" anchor="ctr"/>
          <a:lstStyle/>
          <a:p>
            <a:pPr marL="0" indent="0" algn="ctr">
              <a:buNone/>
            </a:pPr>
            <a:r>
              <a:rPr lang="es-419" sz="800" b="1" noProof="0" dirty="0">
                <a:solidFill>
                  <a:srgbClr val="FFFFFF"/>
                </a:solidFill>
                <a:latin typeface="Calibri" pitchFamily="34" charset="0"/>
                <a:ea typeface="Calibri" pitchFamily="34" charset="-122"/>
                <a:cs typeface="Calibri" pitchFamily="34" charset="-120"/>
              </a:rPr>
              <a:t>Texto</a:t>
            </a:r>
            <a:endParaRPr lang="es-419" sz="800" noProof="0" dirty="0"/>
          </a:p>
        </p:txBody>
      </p:sp>
      <p:sp>
        <p:nvSpPr>
          <p:cNvPr id="29" name="Text 27"/>
          <p:cNvSpPr/>
          <p:nvPr/>
        </p:nvSpPr>
        <p:spPr>
          <a:xfrm>
            <a:off x="2514600" y="3630168"/>
            <a:ext cx="6309360" cy="475488"/>
          </a:xfrm>
          <a:prstGeom prst="rect">
            <a:avLst/>
          </a:prstGeom>
          <a:noFill/>
          <a:ln/>
        </p:spPr>
        <p:txBody>
          <a:bodyPr wrap="square" rtlCol="0" anchor="ctr"/>
          <a:lstStyle/>
          <a:p>
            <a:pPr marL="0" indent="0">
              <a:buNone/>
            </a:pPr>
            <a:r>
              <a:rPr lang="es-419" sz="1050" noProof="0" dirty="0">
                <a:solidFill>
                  <a:srgbClr val="64748B"/>
                </a:solidFill>
                <a:latin typeface="Calibri" pitchFamily="34" charset="0"/>
                <a:ea typeface="Calibri" pitchFamily="34" charset="-122"/>
                <a:cs typeface="Calibri" pitchFamily="34" charset="-120"/>
              </a:rPr>
              <a:t>Tu cargo: Director, Administrador, Coordinador, etc.</a:t>
            </a:r>
            <a:endParaRPr lang="es-419" sz="1050" noProof="0" dirty="0"/>
          </a:p>
        </p:txBody>
      </p:sp>
      <p:sp>
        <p:nvSpPr>
          <p:cNvPr id="30" name="Shape 28"/>
          <p:cNvSpPr/>
          <p:nvPr/>
        </p:nvSpPr>
        <p:spPr>
          <a:xfrm>
            <a:off x="274320" y="4242816"/>
            <a:ext cx="8595360" cy="594360"/>
          </a:xfrm>
          <a:prstGeom prst="rect">
            <a:avLst/>
          </a:prstGeom>
          <a:solidFill>
            <a:srgbClr val="F1F5F9"/>
          </a:solidFill>
          <a:ln w="12700">
            <a:solidFill>
              <a:srgbClr val="E2E8F0"/>
            </a:solidFill>
            <a:prstDash val="solid"/>
          </a:ln>
        </p:spPr>
        <p:txBody>
          <a:bodyPr/>
          <a:lstStyle/>
          <a:p>
            <a:endParaRPr lang="es-419" noProof="0" dirty="0"/>
          </a:p>
        </p:txBody>
      </p:sp>
      <p:sp>
        <p:nvSpPr>
          <p:cNvPr id="31" name="Shape 29"/>
          <p:cNvSpPr/>
          <p:nvPr/>
        </p:nvSpPr>
        <p:spPr>
          <a:xfrm>
            <a:off x="274320" y="4242816"/>
            <a:ext cx="64008" cy="594360"/>
          </a:xfrm>
          <a:prstGeom prst="rect">
            <a:avLst/>
          </a:prstGeom>
          <a:solidFill>
            <a:srgbClr val="1A4B8C"/>
          </a:solidFill>
          <a:ln w="12700">
            <a:solidFill>
              <a:srgbClr val="1A4B8C"/>
            </a:solidFill>
            <a:prstDash val="solid"/>
          </a:ln>
        </p:spPr>
        <p:txBody>
          <a:bodyPr/>
          <a:lstStyle/>
          <a:p>
            <a:endParaRPr lang="es-419" noProof="0" dirty="0"/>
          </a:p>
        </p:txBody>
      </p:sp>
      <p:sp>
        <p:nvSpPr>
          <p:cNvPr id="32" name="Text 30"/>
          <p:cNvSpPr/>
          <p:nvPr/>
        </p:nvSpPr>
        <p:spPr>
          <a:xfrm>
            <a:off x="411480" y="4279392"/>
            <a:ext cx="2011680" cy="27432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Correo Electrónico *</a:t>
            </a:r>
            <a:endParaRPr lang="es-419" sz="1100" noProof="0" dirty="0"/>
          </a:p>
        </p:txBody>
      </p:sp>
      <p:sp>
        <p:nvSpPr>
          <p:cNvPr id="33" name="Shape 31"/>
          <p:cNvSpPr/>
          <p:nvPr/>
        </p:nvSpPr>
        <p:spPr>
          <a:xfrm>
            <a:off x="411480" y="4562856"/>
            <a:ext cx="1005840" cy="201168"/>
          </a:xfrm>
          <a:prstGeom prst="roundRect">
            <a:avLst>
              <a:gd name="adj" fmla="val 13636"/>
            </a:avLst>
          </a:prstGeom>
          <a:solidFill>
            <a:srgbClr val="D97706"/>
          </a:solidFill>
          <a:ln w="12700">
            <a:solidFill>
              <a:srgbClr val="D97706"/>
            </a:solidFill>
            <a:prstDash val="solid"/>
          </a:ln>
        </p:spPr>
        <p:txBody>
          <a:bodyPr/>
          <a:lstStyle/>
          <a:p>
            <a:endParaRPr lang="es-419" noProof="0" dirty="0"/>
          </a:p>
        </p:txBody>
      </p:sp>
      <p:sp>
        <p:nvSpPr>
          <p:cNvPr id="34" name="Text 32"/>
          <p:cNvSpPr/>
          <p:nvPr/>
        </p:nvSpPr>
        <p:spPr>
          <a:xfrm>
            <a:off x="411480" y="4562856"/>
            <a:ext cx="1005840" cy="201168"/>
          </a:xfrm>
          <a:prstGeom prst="rect">
            <a:avLst/>
          </a:prstGeom>
          <a:noFill/>
          <a:ln/>
        </p:spPr>
        <p:txBody>
          <a:bodyPr wrap="square" rtlCol="0" anchor="ctr"/>
          <a:lstStyle/>
          <a:p>
            <a:pPr marL="0" indent="0" algn="ctr">
              <a:buNone/>
            </a:pPr>
            <a:r>
              <a:rPr lang="es-419" sz="800" b="1" noProof="0" dirty="0">
                <a:solidFill>
                  <a:srgbClr val="FFFFFF"/>
                </a:solidFill>
                <a:latin typeface="Calibri" pitchFamily="34" charset="0"/>
                <a:ea typeface="Calibri" pitchFamily="34" charset="-122"/>
                <a:cs typeface="Calibri" pitchFamily="34" charset="-120"/>
              </a:rPr>
              <a:t>Texto</a:t>
            </a:r>
            <a:endParaRPr lang="es-419" sz="800" noProof="0" dirty="0"/>
          </a:p>
        </p:txBody>
      </p:sp>
      <p:sp>
        <p:nvSpPr>
          <p:cNvPr id="35" name="Text 33"/>
          <p:cNvSpPr/>
          <p:nvPr/>
        </p:nvSpPr>
        <p:spPr>
          <a:xfrm>
            <a:off x="2514600" y="4297680"/>
            <a:ext cx="6309360" cy="475488"/>
          </a:xfrm>
          <a:prstGeom prst="rect">
            <a:avLst/>
          </a:prstGeom>
          <a:noFill/>
          <a:ln/>
        </p:spPr>
        <p:txBody>
          <a:bodyPr wrap="square" rtlCol="0" anchor="ctr"/>
          <a:lstStyle/>
          <a:p>
            <a:pPr marL="0" indent="0">
              <a:buNone/>
            </a:pPr>
            <a:r>
              <a:rPr lang="es-419" sz="1050" noProof="0" dirty="0">
                <a:solidFill>
                  <a:srgbClr val="64748B"/>
                </a:solidFill>
                <a:latin typeface="Calibri" pitchFamily="34" charset="0"/>
                <a:ea typeface="Calibri" pitchFamily="34" charset="-122"/>
                <a:cs typeface="Calibri" pitchFamily="34" charset="-120"/>
              </a:rPr>
              <a:t>Correo donde recibirás la confirmación cuando la solicitud sea revisada.</a:t>
            </a:r>
            <a:endParaRPr lang="es-419" sz="1050" noProof="0" dirty="0"/>
          </a:p>
        </p:txBody>
      </p:sp>
      <p:sp>
        <p:nvSpPr>
          <p:cNvPr id="36" name="Text 34"/>
          <p:cNvSpPr/>
          <p:nvPr/>
        </p:nvSpPr>
        <p:spPr>
          <a:xfrm>
            <a:off x="274320" y="4892040"/>
            <a:ext cx="3657600" cy="228600"/>
          </a:xfrm>
          <a:prstGeom prst="rect">
            <a:avLst/>
          </a:prstGeom>
          <a:noFill/>
          <a:ln/>
        </p:spPr>
        <p:txBody>
          <a:bodyPr wrap="square" rtlCol="0" anchor="ctr"/>
          <a:lstStyle/>
          <a:p>
            <a:pPr marL="0" indent="0">
              <a:buNone/>
            </a:pPr>
            <a:r>
              <a:rPr lang="es-419" sz="900" i="1" noProof="0" dirty="0">
                <a:solidFill>
                  <a:srgbClr val="64748B"/>
                </a:solidFill>
                <a:latin typeface="Calibri" pitchFamily="34" charset="0"/>
                <a:ea typeface="Calibri" pitchFamily="34" charset="-122"/>
                <a:cs typeface="Calibri" pitchFamily="34" charset="-120"/>
              </a:rPr>
              <a:t>* Campo obligatorio</a:t>
            </a:r>
            <a:endParaRPr lang="es-419" sz="9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4B8C"/>
          </a:solidFill>
          <a:ln w="12700">
            <a:solidFill>
              <a:srgbClr val="1A4B8C"/>
            </a:solidFill>
            <a:prstDash val="solid"/>
          </a:ln>
        </p:spPr>
        <p:txBody>
          <a:bodyPr/>
          <a:lstStyle/>
          <a:p>
            <a:endParaRPr lang="es-419" noProof="0" dirty="0"/>
          </a:p>
        </p:txBody>
      </p:sp>
      <p:sp>
        <p:nvSpPr>
          <p:cNvPr id="3" name="Text 1"/>
          <p:cNvSpPr/>
          <p:nvPr/>
        </p:nvSpPr>
        <p:spPr>
          <a:xfrm>
            <a:off x="365760" y="91440"/>
            <a:ext cx="8412480" cy="731520"/>
          </a:xfrm>
          <a:prstGeom prst="rect">
            <a:avLst/>
          </a:prstGeom>
          <a:noFill/>
          <a:ln/>
        </p:spPr>
        <p:txBody>
          <a:bodyPr wrap="square" rtlCol="0" anchor="ctr"/>
          <a:lstStyle/>
          <a:p>
            <a:pPr marL="0" indent="0" algn="l">
              <a:buNone/>
            </a:pPr>
            <a:r>
              <a:rPr lang="es-419" sz="1900" b="1" noProof="0" dirty="0">
                <a:solidFill>
                  <a:srgbClr val="FFFFFF"/>
                </a:solidFill>
                <a:latin typeface="Calibri" pitchFamily="34" charset="0"/>
                <a:ea typeface="Calibri" pitchFamily="34" charset="-122"/>
                <a:cs typeface="Calibri" pitchFamily="34" charset="-120"/>
              </a:rPr>
              <a:t>Cómo llenar la Solicitud — Sección II: Datos del Proyecto</a:t>
            </a:r>
            <a:endParaRPr lang="es-419" sz="1900" noProof="0" dirty="0"/>
          </a:p>
        </p:txBody>
      </p:sp>
      <p:sp>
        <p:nvSpPr>
          <p:cNvPr id="4" name="Shape 2"/>
          <p:cNvSpPr/>
          <p:nvPr/>
        </p:nvSpPr>
        <p:spPr>
          <a:xfrm>
            <a:off x="274320" y="1005840"/>
            <a:ext cx="8595360" cy="685800"/>
          </a:xfrm>
          <a:prstGeom prst="rect">
            <a:avLst/>
          </a:prstGeom>
          <a:solidFill>
            <a:srgbClr val="F1F5F9"/>
          </a:solidFill>
          <a:ln w="12700">
            <a:solidFill>
              <a:srgbClr val="E2E8F0"/>
            </a:solidFill>
            <a:prstDash val="solid"/>
          </a:ln>
        </p:spPr>
        <p:txBody>
          <a:bodyPr/>
          <a:lstStyle/>
          <a:p>
            <a:endParaRPr lang="es-419" noProof="0" dirty="0"/>
          </a:p>
        </p:txBody>
      </p:sp>
      <p:sp>
        <p:nvSpPr>
          <p:cNvPr id="5" name="Shape 3"/>
          <p:cNvSpPr/>
          <p:nvPr/>
        </p:nvSpPr>
        <p:spPr>
          <a:xfrm>
            <a:off x="274320" y="1005840"/>
            <a:ext cx="64008" cy="685800"/>
          </a:xfrm>
          <a:prstGeom prst="rect">
            <a:avLst/>
          </a:prstGeom>
          <a:solidFill>
            <a:srgbClr val="1A4B8C"/>
          </a:solidFill>
          <a:ln w="12700">
            <a:solidFill>
              <a:srgbClr val="1A4B8C"/>
            </a:solidFill>
            <a:prstDash val="solid"/>
          </a:ln>
        </p:spPr>
        <p:txBody>
          <a:bodyPr/>
          <a:lstStyle/>
          <a:p>
            <a:endParaRPr lang="es-419" noProof="0" dirty="0"/>
          </a:p>
        </p:txBody>
      </p:sp>
      <p:sp>
        <p:nvSpPr>
          <p:cNvPr id="6" name="Text 4"/>
          <p:cNvSpPr/>
          <p:nvPr/>
        </p:nvSpPr>
        <p:spPr>
          <a:xfrm>
            <a:off x="411480" y="1051560"/>
            <a:ext cx="2286000" cy="27432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Nombre del Proyecto *</a:t>
            </a:r>
            <a:endParaRPr lang="es-419" sz="1100" noProof="0" dirty="0"/>
          </a:p>
        </p:txBody>
      </p:sp>
      <p:sp>
        <p:nvSpPr>
          <p:cNvPr id="7" name="Text 5"/>
          <p:cNvSpPr/>
          <p:nvPr/>
        </p:nvSpPr>
        <p:spPr>
          <a:xfrm>
            <a:off x="411480" y="1353312"/>
            <a:ext cx="8321040" cy="320040"/>
          </a:xfrm>
          <a:prstGeom prst="rect">
            <a:avLst/>
          </a:prstGeom>
          <a:noFill/>
          <a:ln/>
        </p:spPr>
        <p:txBody>
          <a:bodyPr wrap="square" rtlCol="0" anchor="ctr"/>
          <a:lstStyle/>
          <a:p>
            <a:pPr marL="0" indent="0">
              <a:buNone/>
            </a:pPr>
            <a:r>
              <a:rPr lang="es-419" sz="1050" noProof="0" dirty="0">
                <a:solidFill>
                  <a:srgbClr val="64748B"/>
                </a:solidFill>
                <a:latin typeface="Calibri" pitchFamily="34" charset="0"/>
                <a:ea typeface="Calibri" pitchFamily="34" charset="-122"/>
                <a:cs typeface="Calibri" pitchFamily="34" charset="-120"/>
              </a:rPr>
              <a:t>Título claro y descriptivo. </a:t>
            </a:r>
            <a:r>
              <a:rPr lang="es-419" sz="1050" noProof="0" dirty="0" err="1">
                <a:solidFill>
                  <a:srgbClr val="64748B"/>
                </a:solidFill>
                <a:latin typeface="Calibri" pitchFamily="34" charset="0"/>
                <a:ea typeface="Calibri" pitchFamily="34" charset="-122"/>
                <a:cs typeface="Calibri" pitchFamily="34" charset="-120"/>
              </a:rPr>
              <a:t>Ej</a:t>
            </a:r>
            <a:r>
              <a:rPr lang="es-419" sz="1050" noProof="0" dirty="0">
                <a:solidFill>
                  <a:srgbClr val="64748B"/>
                </a:solidFill>
                <a:latin typeface="Calibri" pitchFamily="34" charset="0"/>
                <a:ea typeface="Calibri" pitchFamily="34" charset="-122"/>
                <a:cs typeface="Calibri" pitchFamily="34" charset="-120"/>
              </a:rPr>
              <a:t>: "Impermeabilización de techo Edificio A" o "Construcción de aula adicional planta baja".</a:t>
            </a:r>
            <a:endParaRPr lang="es-419" sz="1050" noProof="0" dirty="0"/>
          </a:p>
        </p:txBody>
      </p:sp>
      <p:sp>
        <p:nvSpPr>
          <p:cNvPr id="8" name="Shape 6"/>
          <p:cNvSpPr/>
          <p:nvPr/>
        </p:nvSpPr>
        <p:spPr>
          <a:xfrm>
            <a:off x="274320" y="1764792"/>
            <a:ext cx="8595360" cy="685800"/>
          </a:xfrm>
          <a:prstGeom prst="rect">
            <a:avLst/>
          </a:prstGeom>
          <a:solidFill>
            <a:srgbClr val="FFFFFF"/>
          </a:solidFill>
          <a:ln w="12700">
            <a:solidFill>
              <a:srgbClr val="E2E8F0"/>
            </a:solidFill>
            <a:prstDash val="solid"/>
          </a:ln>
        </p:spPr>
        <p:txBody>
          <a:bodyPr/>
          <a:lstStyle/>
          <a:p>
            <a:endParaRPr lang="es-419" noProof="0" dirty="0"/>
          </a:p>
        </p:txBody>
      </p:sp>
      <p:sp>
        <p:nvSpPr>
          <p:cNvPr id="9" name="Shape 7"/>
          <p:cNvSpPr/>
          <p:nvPr/>
        </p:nvSpPr>
        <p:spPr>
          <a:xfrm>
            <a:off x="274320" y="1764792"/>
            <a:ext cx="64008" cy="685800"/>
          </a:xfrm>
          <a:prstGeom prst="rect">
            <a:avLst/>
          </a:prstGeom>
          <a:solidFill>
            <a:srgbClr val="1A4B8C"/>
          </a:solidFill>
          <a:ln w="12700">
            <a:solidFill>
              <a:srgbClr val="1A4B8C"/>
            </a:solidFill>
            <a:prstDash val="solid"/>
          </a:ln>
        </p:spPr>
        <p:txBody>
          <a:bodyPr/>
          <a:lstStyle/>
          <a:p>
            <a:endParaRPr lang="es-419" noProof="0" dirty="0"/>
          </a:p>
        </p:txBody>
      </p:sp>
      <p:sp>
        <p:nvSpPr>
          <p:cNvPr id="10" name="Text 8"/>
          <p:cNvSpPr/>
          <p:nvPr/>
        </p:nvSpPr>
        <p:spPr>
          <a:xfrm>
            <a:off x="411480" y="1810512"/>
            <a:ext cx="2286000" cy="27432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Tipo de Iniciativa *</a:t>
            </a:r>
            <a:endParaRPr lang="es-419" sz="1100" noProof="0" dirty="0"/>
          </a:p>
        </p:txBody>
      </p:sp>
      <p:sp>
        <p:nvSpPr>
          <p:cNvPr id="11" name="Text 9"/>
          <p:cNvSpPr/>
          <p:nvPr/>
        </p:nvSpPr>
        <p:spPr>
          <a:xfrm>
            <a:off x="411480" y="2112264"/>
            <a:ext cx="8321040" cy="320040"/>
          </a:xfrm>
          <a:prstGeom prst="rect">
            <a:avLst/>
          </a:prstGeom>
          <a:noFill/>
          <a:ln/>
        </p:spPr>
        <p:txBody>
          <a:bodyPr wrap="square" rtlCol="0" anchor="ctr"/>
          <a:lstStyle/>
          <a:p>
            <a:pPr marL="0" indent="0">
              <a:buNone/>
            </a:pPr>
            <a:r>
              <a:rPr lang="es-419" sz="1050" noProof="0" dirty="0">
                <a:solidFill>
                  <a:srgbClr val="64748B"/>
                </a:solidFill>
                <a:latin typeface="Calibri" pitchFamily="34" charset="0"/>
                <a:ea typeface="Calibri" pitchFamily="34" charset="-122"/>
                <a:cs typeface="Calibri" pitchFamily="34" charset="-120"/>
              </a:rPr>
              <a:t>Selecciona el tipo que mejor describe el proyecto (ver </a:t>
            </a:r>
            <a:r>
              <a:rPr lang="es-419" sz="1050" noProof="0" dirty="0" err="1">
                <a:solidFill>
                  <a:srgbClr val="64748B"/>
                </a:solidFill>
                <a:latin typeface="Calibri" pitchFamily="34" charset="0"/>
                <a:ea typeface="Calibri" pitchFamily="34" charset="-122"/>
                <a:cs typeface="Calibri" pitchFamily="34" charset="-120"/>
              </a:rPr>
              <a:t>slide</a:t>
            </a:r>
            <a:r>
              <a:rPr lang="es-419" sz="1050" noProof="0" dirty="0">
                <a:solidFill>
                  <a:srgbClr val="64748B"/>
                </a:solidFill>
                <a:latin typeface="Calibri" pitchFamily="34" charset="0"/>
                <a:ea typeface="Calibri" pitchFamily="34" charset="-122"/>
                <a:cs typeface="Calibri" pitchFamily="34" charset="-120"/>
              </a:rPr>
              <a:t> anterior). Este campo define la categoría del proyecto en el sistema.</a:t>
            </a:r>
            <a:endParaRPr lang="es-419" sz="1050" noProof="0" dirty="0"/>
          </a:p>
        </p:txBody>
      </p:sp>
      <p:sp>
        <p:nvSpPr>
          <p:cNvPr id="12" name="Shape 10"/>
          <p:cNvSpPr/>
          <p:nvPr/>
        </p:nvSpPr>
        <p:spPr>
          <a:xfrm>
            <a:off x="274320" y="2523744"/>
            <a:ext cx="8595360" cy="685800"/>
          </a:xfrm>
          <a:prstGeom prst="rect">
            <a:avLst/>
          </a:prstGeom>
          <a:solidFill>
            <a:srgbClr val="F1F5F9"/>
          </a:solidFill>
          <a:ln w="12700">
            <a:solidFill>
              <a:srgbClr val="E2E8F0"/>
            </a:solidFill>
            <a:prstDash val="solid"/>
          </a:ln>
        </p:spPr>
        <p:txBody>
          <a:bodyPr/>
          <a:lstStyle/>
          <a:p>
            <a:endParaRPr lang="es-419" noProof="0" dirty="0"/>
          </a:p>
        </p:txBody>
      </p:sp>
      <p:sp>
        <p:nvSpPr>
          <p:cNvPr id="13" name="Shape 11"/>
          <p:cNvSpPr/>
          <p:nvPr/>
        </p:nvSpPr>
        <p:spPr>
          <a:xfrm>
            <a:off x="274320" y="2523744"/>
            <a:ext cx="64008" cy="685800"/>
          </a:xfrm>
          <a:prstGeom prst="rect">
            <a:avLst/>
          </a:prstGeom>
          <a:solidFill>
            <a:srgbClr val="1A4B8C"/>
          </a:solidFill>
          <a:ln w="12700">
            <a:solidFill>
              <a:srgbClr val="1A4B8C"/>
            </a:solidFill>
            <a:prstDash val="solid"/>
          </a:ln>
        </p:spPr>
        <p:txBody>
          <a:bodyPr/>
          <a:lstStyle/>
          <a:p>
            <a:endParaRPr lang="es-419" noProof="0" dirty="0"/>
          </a:p>
        </p:txBody>
      </p:sp>
      <p:sp>
        <p:nvSpPr>
          <p:cNvPr id="14" name="Text 12"/>
          <p:cNvSpPr/>
          <p:nvPr/>
        </p:nvSpPr>
        <p:spPr>
          <a:xfrm>
            <a:off x="411480" y="2569464"/>
            <a:ext cx="2286000" cy="27432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Resumen del Proyecto</a:t>
            </a:r>
            <a:endParaRPr lang="es-419" sz="1100" noProof="0" dirty="0"/>
          </a:p>
        </p:txBody>
      </p:sp>
      <p:sp>
        <p:nvSpPr>
          <p:cNvPr id="15" name="Text 13"/>
          <p:cNvSpPr/>
          <p:nvPr/>
        </p:nvSpPr>
        <p:spPr>
          <a:xfrm>
            <a:off x="411480" y="2871216"/>
            <a:ext cx="8321040" cy="320040"/>
          </a:xfrm>
          <a:prstGeom prst="rect">
            <a:avLst/>
          </a:prstGeom>
          <a:noFill/>
          <a:ln/>
        </p:spPr>
        <p:txBody>
          <a:bodyPr wrap="square" rtlCol="0" anchor="ctr"/>
          <a:lstStyle/>
          <a:p>
            <a:pPr marL="0" indent="0">
              <a:buNone/>
            </a:pPr>
            <a:r>
              <a:rPr lang="es-419" sz="1050" noProof="0" dirty="0">
                <a:solidFill>
                  <a:srgbClr val="64748B"/>
                </a:solidFill>
                <a:latin typeface="Calibri" pitchFamily="34" charset="0"/>
                <a:ea typeface="Calibri" pitchFamily="34" charset="-122"/>
                <a:cs typeface="Calibri" pitchFamily="34" charset="-120"/>
              </a:rPr>
              <a:t>Describe brevemente qué se va a hacer, por qué es necesario, y qué problema resuelve. Sé específico: área, edificio, niveles afectados.</a:t>
            </a:r>
            <a:endParaRPr lang="es-419" sz="1050" noProof="0" dirty="0"/>
          </a:p>
        </p:txBody>
      </p:sp>
      <p:sp>
        <p:nvSpPr>
          <p:cNvPr id="16" name="Shape 14"/>
          <p:cNvSpPr/>
          <p:nvPr/>
        </p:nvSpPr>
        <p:spPr>
          <a:xfrm>
            <a:off x="274320" y="3282696"/>
            <a:ext cx="8595360" cy="685800"/>
          </a:xfrm>
          <a:prstGeom prst="rect">
            <a:avLst/>
          </a:prstGeom>
          <a:solidFill>
            <a:srgbClr val="FFFFFF"/>
          </a:solidFill>
          <a:ln w="12700">
            <a:solidFill>
              <a:srgbClr val="E2E8F0"/>
            </a:solidFill>
            <a:prstDash val="solid"/>
          </a:ln>
        </p:spPr>
        <p:txBody>
          <a:bodyPr/>
          <a:lstStyle/>
          <a:p>
            <a:endParaRPr lang="es-419" noProof="0" dirty="0"/>
          </a:p>
        </p:txBody>
      </p:sp>
      <p:sp>
        <p:nvSpPr>
          <p:cNvPr id="17" name="Shape 15"/>
          <p:cNvSpPr/>
          <p:nvPr/>
        </p:nvSpPr>
        <p:spPr>
          <a:xfrm>
            <a:off x="274320" y="3282696"/>
            <a:ext cx="64008" cy="685800"/>
          </a:xfrm>
          <a:prstGeom prst="rect">
            <a:avLst/>
          </a:prstGeom>
          <a:solidFill>
            <a:srgbClr val="1A4B8C"/>
          </a:solidFill>
          <a:ln w="12700">
            <a:solidFill>
              <a:srgbClr val="1A4B8C"/>
            </a:solidFill>
            <a:prstDash val="solid"/>
          </a:ln>
        </p:spPr>
        <p:txBody>
          <a:bodyPr/>
          <a:lstStyle/>
          <a:p>
            <a:endParaRPr lang="es-419" noProof="0" dirty="0"/>
          </a:p>
        </p:txBody>
      </p:sp>
      <p:sp>
        <p:nvSpPr>
          <p:cNvPr id="18" name="Text 16"/>
          <p:cNvSpPr/>
          <p:nvPr/>
        </p:nvSpPr>
        <p:spPr>
          <a:xfrm>
            <a:off x="411480" y="3328416"/>
            <a:ext cx="2286000" cy="27432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Fecha Inicio Propuesta</a:t>
            </a:r>
            <a:endParaRPr lang="es-419" sz="1100" noProof="0" dirty="0"/>
          </a:p>
        </p:txBody>
      </p:sp>
      <p:sp>
        <p:nvSpPr>
          <p:cNvPr id="19" name="Text 17"/>
          <p:cNvSpPr/>
          <p:nvPr/>
        </p:nvSpPr>
        <p:spPr>
          <a:xfrm>
            <a:off x="411480" y="3630168"/>
            <a:ext cx="8321040" cy="320040"/>
          </a:xfrm>
          <a:prstGeom prst="rect">
            <a:avLst/>
          </a:prstGeom>
          <a:noFill/>
          <a:ln/>
        </p:spPr>
        <p:txBody>
          <a:bodyPr wrap="square" rtlCol="0" anchor="ctr"/>
          <a:lstStyle/>
          <a:p>
            <a:pPr marL="0" indent="0">
              <a:buNone/>
            </a:pPr>
            <a:r>
              <a:rPr lang="es-419" sz="1050" noProof="0" dirty="0">
                <a:solidFill>
                  <a:srgbClr val="64748B"/>
                </a:solidFill>
                <a:latin typeface="Calibri" pitchFamily="34" charset="0"/>
                <a:ea typeface="Calibri" pitchFamily="34" charset="-122"/>
                <a:cs typeface="Calibri" pitchFamily="34" charset="-120"/>
              </a:rPr>
              <a:t>Fecha estimada en que necesitas que el proyecto inicie. No es definitiva — es una propuesta que el coordinador tomará en cuenta.</a:t>
            </a:r>
            <a:endParaRPr lang="es-419" sz="1050" noProof="0" dirty="0"/>
          </a:p>
        </p:txBody>
      </p:sp>
      <p:sp>
        <p:nvSpPr>
          <p:cNvPr id="20" name="Shape 18"/>
          <p:cNvSpPr/>
          <p:nvPr/>
        </p:nvSpPr>
        <p:spPr>
          <a:xfrm>
            <a:off x="274320" y="4041648"/>
            <a:ext cx="8595360" cy="685800"/>
          </a:xfrm>
          <a:prstGeom prst="rect">
            <a:avLst/>
          </a:prstGeom>
          <a:solidFill>
            <a:srgbClr val="F1F5F9"/>
          </a:solidFill>
          <a:ln w="12700">
            <a:solidFill>
              <a:srgbClr val="E2E8F0"/>
            </a:solidFill>
            <a:prstDash val="solid"/>
          </a:ln>
        </p:spPr>
        <p:txBody>
          <a:bodyPr/>
          <a:lstStyle/>
          <a:p>
            <a:endParaRPr lang="es-419" noProof="0" dirty="0"/>
          </a:p>
        </p:txBody>
      </p:sp>
      <p:sp>
        <p:nvSpPr>
          <p:cNvPr id="21" name="Shape 19"/>
          <p:cNvSpPr/>
          <p:nvPr/>
        </p:nvSpPr>
        <p:spPr>
          <a:xfrm>
            <a:off x="274320" y="4041648"/>
            <a:ext cx="64008" cy="685800"/>
          </a:xfrm>
          <a:prstGeom prst="rect">
            <a:avLst/>
          </a:prstGeom>
          <a:solidFill>
            <a:srgbClr val="1A4B8C"/>
          </a:solidFill>
          <a:ln w="12700">
            <a:solidFill>
              <a:srgbClr val="1A4B8C"/>
            </a:solidFill>
            <a:prstDash val="solid"/>
          </a:ln>
        </p:spPr>
        <p:txBody>
          <a:bodyPr/>
          <a:lstStyle/>
          <a:p>
            <a:endParaRPr lang="es-419" noProof="0" dirty="0"/>
          </a:p>
        </p:txBody>
      </p:sp>
      <p:sp>
        <p:nvSpPr>
          <p:cNvPr id="22" name="Text 20"/>
          <p:cNvSpPr/>
          <p:nvPr/>
        </p:nvSpPr>
        <p:spPr>
          <a:xfrm>
            <a:off x="411480" y="4087368"/>
            <a:ext cx="2286000" cy="27432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Fecha Fin Propuesta</a:t>
            </a:r>
            <a:endParaRPr lang="es-419" sz="1100" noProof="0" dirty="0"/>
          </a:p>
        </p:txBody>
      </p:sp>
      <p:sp>
        <p:nvSpPr>
          <p:cNvPr id="23" name="Text 21"/>
          <p:cNvSpPr/>
          <p:nvPr/>
        </p:nvSpPr>
        <p:spPr>
          <a:xfrm>
            <a:off x="411480" y="4389120"/>
            <a:ext cx="8321040" cy="320040"/>
          </a:xfrm>
          <a:prstGeom prst="rect">
            <a:avLst/>
          </a:prstGeom>
          <a:noFill/>
          <a:ln/>
        </p:spPr>
        <p:txBody>
          <a:bodyPr wrap="square" rtlCol="0" anchor="ctr"/>
          <a:lstStyle/>
          <a:p>
            <a:pPr marL="0" indent="0">
              <a:buNone/>
            </a:pPr>
            <a:r>
              <a:rPr lang="es-419" sz="1050" noProof="0" dirty="0">
                <a:solidFill>
                  <a:srgbClr val="64748B"/>
                </a:solidFill>
                <a:latin typeface="Calibri" pitchFamily="34" charset="0"/>
                <a:ea typeface="Calibri" pitchFamily="34" charset="-122"/>
                <a:cs typeface="Calibri" pitchFamily="34" charset="-120"/>
              </a:rPr>
              <a:t>Fecha estimada de término del proyecto. Si no tienes certeza, déjala vacía.</a:t>
            </a:r>
            <a:endParaRPr lang="es-419" sz="1050" noProof="0" dirty="0"/>
          </a:p>
        </p:txBody>
      </p:sp>
      <p:sp>
        <p:nvSpPr>
          <p:cNvPr id="24" name="Text 22"/>
          <p:cNvSpPr/>
          <p:nvPr/>
        </p:nvSpPr>
        <p:spPr>
          <a:xfrm>
            <a:off x="274320" y="4892040"/>
            <a:ext cx="3657600" cy="228600"/>
          </a:xfrm>
          <a:prstGeom prst="rect">
            <a:avLst/>
          </a:prstGeom>
          <a:noFill/>
          <a:ln/>
        </p:spPr>
        <p:txBody>
          <a:bodyPr wrap="square" rtlCol="0" anchor="ctr"/>
          <a:lstStyle/>
          <a:p>
            <a:pPr marL="0" indent="0">
              <a:buNone/>
            </a:pPr>
            <a:r>
              <a:rPr lang="es-419" sz="900" i="1" noProof="0" dirty="0">
                <a:solidFill>
                  <a:srgbClr val="64748B"/>
                </a:solidFill>
                <a:latin typeface="Calibri" pitchFamily="34" charset="0"/>
                <a:ea typeface="Calibri" pitchFamily="34" charset="-122"/>
                <a:cs typeface="Calibri" pitchFamily="34" charset="-120"/>
              </a:rPr>
              <a:t>* Campo obligatorio</a:t>
            </a:r>
            <a:endParaRPr lang="es-419" sz="9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4B8C"/>
          </a:solidFill>
          <a:ln w="12700">
            <a:solidFill>
              <a:srgbClr val="1A4B8C"/>
            </a:solidFill>
            <a:prstDash val="solid"/>
          </a:ln>
        </p:spPr>
        <p:txBody>
          <a:bodyPr/>
          <a:lstStyle/>
          <a:p>
            <a:endParaRPr lang="es-419" noProof="0" dirty="0"/>
          </a:p>
        </p:txBody>
      </p:sp>
      <p:sp>
        <p:nvSpPr>
          <p:cNvPr id="3" name="Text 1"/>
          <p:cNvSpPr/>
          <p:nvPr/>
        </p:nvSpPr>
        <p:spPr>
          <a:xfrm>
            <a:off x="365760" y="91440"/>
            <a:ext cx="8412480" cy="731520"/>
          </a:xfrm>
          <a:prstGeom prst="rect">
            <a:avLst/>
          </a:prstGeom>
          <a:noFill/>
          <a:ln/>
        </p:spPr>
        <p:txBody>
          <a:bodyPr wrap="square" rtlCol="0" anchor="ctr"/>
          <a:lstStyle/>
          <a:p>
            <a:pPr marL="0" indent="0" algn="l">
              <a:buNone/>
            </a:pPr>
            <a:r>
              <a:rPr lang="es-419" sz="1900" b="1" noProof="0" dirty="0">
                <a:solidFill>
                  <a:srgbClr val="FFFFFF"/>
                </a:solidFill>
                <a:latin typeface="Calibri" pitchFamily="34" charset="0"/>
                <a:ea typeface="Calibri" pitchFamily="34" charset="-122"/>
                <a:cs typeface="Calibri" pitchFamily="34" charset="-120"/>
              </a:rPr>
              <a:t>Cómo llenar la Solicitud — Sección III: Financiamiento</a:t>
            </a:r>
            <a:endParaRPr lang="es-419" sz="1900" noProof="0" dirty="0"/>
          </a:p>
        </p:txBody>
      </p:sp>
      <p:sp>
        <p:nvSpPr>
          <p:cNvPr id="4" name="Shape 2"/>
          <p:cNvSpPr/>
          <p:nvPr/>
        </p:nvSpPr>
        <p:spPr>
          <a:xfrm>
            <a:off x="274320" y="1005840"/>
            <a:ext cx="8595360" cy="713232"/>
          </a:xfrm>
          <a:prstGeom prst="rect">
            <a:avLst/>
          </a:prstGeom>
          <a:solidFill>
            <a:srgbClr val="F1F5F9"/>
          </a:solidFill>
          <a:ln w="12700">
            <a:solidFill>
              <a:srgbClr val="E2E8F0"/>
            </a:solidFill>
            <a:prstDash val="solid"/>
          </a:ln>
        </p:spPr>
        <p:txBody>
          <a:bodyPr/>
          <a:lstStyle/>
          <a:p>
            <a:endParaRPr lang="es-419" noProof="0" dirty="0"/>
          </a:p>
        </p:txBody>
      </p:sp>
      <p:sp>
        <p:nvSpPr>
          <p:cNvPr id="5" name="Shape 3"/>
          <p:cNvSpPr/>
          <p:nvPr/>
        </p:nvSpPr>
        <p:spPr>
          <a:xfrm>
            <a:off x="274320" y="1005840"/>
            <a:ext cx="64008" cy="713232"/>
          </a:xfrm>
          <a:prstGeom prst="rect">
            <a:avLst/>
          </a:prstGeom>
          <a:solidFill>
            <a:srgbClr val="0D1B3E"/>
          </a:solidFill>
          <a:ln w="12700">
            <a:solidFill>
              <a:srgbClr val="0D1B3E"/>
            </a:solidFill>
            <a:prstDash val="solid"/>
          </a:ln>
        </p:spPr>
        <p:txBody>
          <a:bodyPr/>
          <a:lstStyle/>
          <a:p>
            <a:endParaRPr lang="es-419" noProof="0" dirty="0"/>
          </a:p>
        </p:txBody>
      </p:sp>
      <p:sp>
        <p:nvSpPr>
          <p:cNvPr id="6" name="Text 4"/>
          <p:cNvSpPr/>
          <p:nvPr/>
        </p:nvSpPr>
        <p:spPr>
          <a:xfrm>
            <a:off x="411480" y="1051560"/>
            <a:ext cx="3657600" cy="274320"/>
          </a:xfrm>
          <a:prstGeom prst="rect">
            <a:avLst/>
          </a:prstGeom>
          <a:noFill/>
          <a:ln/>
        </p:spPr>
        <p:txBody>
          <a:bodyPr wrap="square" rtlCol="0" anchor="ctr"/>
          <a:lstStyle/>
          <a:p>
            <a:pPr marL="0" indent="0">
              <a:buNone/>
            </a:pPr>
            <a:r>
              <a:rPr lang="es-419" sz="1200" b="1" noProof="0" dirty="0">
                <a:solidFill>
                  <a:srgbClr val="0D1B3E"/>
                </a:solidFill>
                <a:latin typeface="Calibri" pitchFamily="34" charset="0"/>
                <a:ea typeface="Calibri" pitchFamily="34" charset="-122"/>
                <a:cs typeface="Calibri" pitchFamily="34" charset="-120"/>
              </a:rPr>
              <a:t>Costo Aproximado Total *</a:t>
            </a:r>
            <a:endParaRPr lang="es-419" sz="1200" noProof="0" dirty="0"/>
          </a:p>
        </p:txBody>
      </p:sp>
      <p:sp>
        <p:nvSpPr>
          <p:cNvPr id="7" name="Text 5"/>
          <p:cNvSpPr/>
          <p:nvPr/>
        </p:nvSpPr>
        <p:spPr>
          <a:xfrm>
            <a:off x="411480" y="1344168"/>
            <a:ext cx="8321040" cy="329184"/>
          </a:xfrm>
          <a:prstGeom prst="rect">
            <a:avLst/>
          </a:prstGeom>
          <a:noFill/>
          <a:ln/>
        </p:spPr>
        <p:txBody>
          <a:bodyPr wrap="square" rtlCol="0" anchor="ctr"/>
          <a:lstStyle/>
          <a:p>
            <a:pPr marL="0" indent="0">
              <a:buNone/>
            </a:pPr>
            <a:r>
              <a:rPr lang="es-419" sz="1050" noProof="0" dirty="0">
                <a:solidFill>
                  <a:srgbClr val="64748B"/>
                </a:solidFill>
                <a:latin typeface="Calibri" pitchFamily="34" charset="0"/>
                <a:ea typeface="Calibri" pitchFamily="34" charset="-122"/>
                <a:cs typeface="Calibri" pitchFamily="34" charset="-120"/>
              </a:rPr>
              <a:t>Ingresa el monto total estimado del proyecto en pesos mexicanos. El sistema calcula automáticamente los porcentajes de cada fuente respecto a este total. Ejemplo: $450,000.00</a:t>
            </a:r>
            <a:endParaRPr lang="es-419" sz="1050" noProof="0" dirty="0"/>
          </a:p>
        </p:txBody>
      </p:sp>
      <p:sp>
        <p:nvSpPr>
          <p:cNvPr id="8" name="Text 6"/>
          <p:cNvSpPr/>
          <p:nvPr/>
        </p:nvSpPr>
        <p:spPr>
          <a:xfrm>
            <a:off x="274320" y="1847088"/>
            <a:ext cx="8229600" cy="320040"/>
          </a:xfrm>
          <a:prstGeom prst="rect">
            <a:avLst/>
          </a:prstGeom>
          <a:noFill/>
          <a:ln/>
        </p:spPr>
        <p:txBody>
          <a:bodyPr wrap="square" rtlCol="0" anchor="ctr"/>
          <a:lstStyle/>
          <a:p>
            <a:pPr marL="0" indent="0">
              <a:buNone/>
            </a:pPr>
            <a:r>
              <a:rPr lang="es-419" sz="1150" b="1" noProof="0" dirty="0">
                <a:solidFill>
                  <a:srgbClr val="334155"/>
                </a:solidFill>
                <a:latin typeface="Calibri" pitchFamily="34" charset="0"/>
                <a:ea typeface="Calibri" pitchFamily="34" charset="-122"/>
                <a:cs typeface="Calibri" pitchFamily="34" charset="-120"/>
              </a:rPr>
              <a:t>Distribución del Financiamiento — Las 4 fuentes posibles:</a:t>
            </a:r>
            <a:endParaRPr lang="es-419" sz="1150" noProof="0" dirty="0"/>
          </a:p>
        </p:txBody>
      </p:sp>
      <p:sp>
        <p:nvSpPr>
          <p:cNvPr id="9" name="Shape 7"/>
          <p:cNvSpPr/>
          <p:nvPr/>
        </p:nvSpPr>
        <p:spPr>
          <a:xfrm>
            <a:off x="274320" y="2212848"/>
            <a:ext cx="2011680" cy="23774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0" name="Shape 8"/>
          <p:cNvSpPr/>
          <p:nvPr/>
        </p:nvSpPr>
        <p:spPr>
          <a:xfrm>
            <a:off x="274320" y="2212848"/>
            <a:ext cx="2011680" cy="347472"/>
          </a:xfrm>
          <a:prstGeom prst="rect">
            <a:avLst/>
          </a:prstGeom>
          <a:solidFill>
            <a:srgbClr val="1A4B8C"/>
          </a:solidFill>
          <a:ln w="12700">
            <a:solidFill>
              <a:srgbClr val="1A4B8C"/>
            </a:solidFill>
            <a:prstDash val="solid"/>
          </a:ln>
        </p:spPr>
        <p:txBody>
          <a:bodyPr/>
          <a:lstStyle/>
          <a:p>
            <a:endParaRPr lang="es-419" noProof="0" dirty="0"/>
          </a:p>
        </p:txBody>
      </p:sp>
      <p:sp>
        <p:nvSpPr>
          <p:cNvPr id="11" name="Text 9"/>
          <p:cNvSpPr/>
          <p:nvPr/>
        </p:nvSpPr>
        <p:spPr>
          <a:xfrm>
            <a:off x="274320" y="2212848"/>
            <a:ext cx="2011680" cy="347472"/>
          </a:xfrm>
          <a:prstGeom prst="rect">
            <a:avLst/>
          </a:prstGeom>
          <a:noFill/>
          <a:ln/>
        </p:spPr>
        <p:txBody>
          <a:bodyPr wrap="square" rtlCol="0" anchor="ctr"/>
          <a:lstStyle/>
          <a:p>
            <a:pPr marL="0" indent="0" algn="ctr">
              <a:buNone/>
            </a:pPr>
            <a:r>
              <a:rPr lang="es-419" sz="1200" b="1" noProof="0" dirty="0">
                <a:solidFill>
                  <a:srgbClr val="FFFFFF"/>
                </a:solidFill>
                <a:latin typeface="Calibri" pitchFamily="34" charset="0"/>
                <a:ea typeface="Calibri" pitchFamily="34" charset="-122"/>
                <a:cs typeface="Calibri" pitchFamily="34" charset="-120"/>
              </a:rPr>
              <a:t>Operación</a:t>
            </a:r>
            <a:endParaRPr lang="es-419" sz="1200" noProof="0" dirty="0"/>
          </a:p>
        </p:txBody>
      </p:sp>
      <p:sp>
        <p:nvSpPr>
          <p:cNvPr id="12" name="Text 10"/>
          <p:cNvSpPr/>
          <p:nvPr/>
        </p:nvSpPr>
        <p:spPr>
          <a:xfrm>
            <a:off x="365760" y="2606040"/>
            <a:ext cx="1828800" cy="1920240"/>
          </a:xfrm>
          <a:prstGeom prst="rect">
            <a:avLst/>
          </a:prstGeom>
          <a:noFill/>
          <a:ln/>
        </p:spPr>
        <p:txBody>
          <a:bodyPr wrap="square" rtlCol="0" anchor="t"/>
          <a:lstStyle/>
          <a:p>
            <a:pPr marL="0" indent="0">
              <a:buNone/>
            </a:pPr>
            <a:r>
              <a:rPr lang="es-419" sz="1000" noProof="0" dirty="0">
                <a:solidFill>
                  <a:srgbClr val="334155"/>
                </a:solidFill>
                <a:latin typeface="Calibri" pitchFamily="34" charset="0"/>
                <a:ea typeface="Calibri" pitchFamily="34" charset="-122"/>
                <a:cs typeface="Calibri" pitchFamily="34" charset="-120"/>
              </a:rPr>
              <a:t>Recursos propios del colegio asignados a operación. El porcentaje se calcula automáticamente al capturar el importe.</a:t>
            </a:r>
            <a:endParaRPr lang="es-419" sz="1000" noProof="0" dirty="0"/>
          </a:p>
        </p:txBody>
      </p:sp>
      <p:sp>
        <p:nvSpPr>
          <p:cNvPr id="13" name="Shape 11"/>
          <p:cNvSpPr/>
          <p:nvPr/>
        </p:nvSpPr>
        <p:spPr>
          <a:xfrm>
            <a:off x="2450592" y="2212848"/>
            <a:ext cx="2011680" cy="23774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4" name="Shape 12"/>
          <p:cNvSpPr/>
          <p:nvPr/>
        </p:nvSpPr>
        <p:spPr>
          <a:xfrm>
            <a:off x="2450592" y="2212848"/>
            <a:ext cx="2011680" cy="347472"/>
          </a:xfrm>
          <a:prstGeom prst="rect">
            <a:avLst/>
          </a:prstGeom>
          <a:solidFill>
            <a:srgbClr val="0D8A7E"/>
          </a:solidFill>
          <a:ln w="12700">
            <a:solidFill>
              <a:srgbClr val="0D8A7E"/>
            </a:solidFill>
            <a:prstDash val="solid"/>
          </a:ln>
        </p:spPr>
        <p:txBody>
          <a:bodyPr/>
          <a:lstStyle/>
          <a:p>
            <a:endParaRPr lang="es-419" noProof="0" dirty="0"/>
          </a:p>
        </p:txBody>
      </p:sp>
      <p:sp>
        <p:nvSpPr>
          <p:cNvPr id="15" name="Text 13"/>
          <p:cNvSpPr/>
          <p:nvPr/>
        </p:nvSpPr>
        <p:spPr>
          <a:xfrm>
            <a:off x="2450592" y="2212848"/>
            <a:ext cx="2011680" cy="347472"/>
          </a:xfrm>
          <a:prstGeom prst="rect">
            <a:avLst/>
          </a:prstGeom>
          <a:noFill/>
          <a:ln/>
        </p:spPr>
        <p:txBody>
          <a:bodyPr wrap="square" rtlCol="0" anchor="ctr"/>
          <a:lstStyle/>
          <a:p>
            <a:pPr marL="0" indent="0" algn="ctr">
              <a:buNone/>
            </a:pPr>
            <a:r>
              <a:rPr lang="es-419" sz="1200" b="1" noProof="0" dirty="0">
                <a:solidFill>
                  <a:srgbClr val="FFFFFF"/>
                </a:solidFill>
                <a:latin typeface="Calibri" pitchFamily="34" charset="0"/>
                <a:ea typeface="Calibri" pitchFamily="34" charset="-122"/>
                <a:cs typeface="Calibri" pitchFamily="34" charset="-120"/>
              </a:rPr>
              <a:t>FBC</a:t>
            </a:r>
            <a:endParaRPr lang="es-419" sz="1200" noProof="0" dirty="0"/>
          </a:p>
        </p:txBody>
      </p:sp>
      <p:sp>
        <p:nvSpPr>
          <p:cNvPr id="16" name="Text 14"/>
          <p:cNvSpPr/>
          <p:nvPr/>
        </p:nvSpPr>
        <p:spPr>
          <a:xfrm>
            <a:off x="2542032" y="2606040"/>
            <a:ext cx="1828800" cy="1920240"/>
          </a:xfrm>
          <a:prstGeom prst="rect">
            <a:avLst/>
          </a:prstGeom>
          <a:noFill/>
          <a:ln/>
        </p:spPr>
        <p:txBody>
          <a:bodyPr wrap="square" rtlCol="0" anchor="t"/>
          <a:lstStyle/>
          <a:p>
            <a:pPr marL="0" indent="0">
              <a:buNone/>
            </a:pPr>
            <a:r>
              <a:rPr lang="es-419" sz="1000" noProof="0" dirty="0">
                <a:solidFill>
                  <a:srgbClr val="334155"/>
                </a:solidFill>
                <a:latin typeface="Calibri" pitchFamily="34" charset="0"/>
                <a:ea typeface="Calibri" pitchFamily="34" charset="-122"/>
                <a:cs typeface="Calibri" pitchFamily="34" charset="-120"/>
              </a:rPr>
              <a:t>Fondos Bajo Custodia. Solo aplica cuando el proyecto tiene este tipo de apoyo.</a:t>
            </a:r>
            <a:endParaRPr lang="es-419" sz="1000" noProof="0" dirty="0"/>
          </a:p>
        </p:txBody>
      </p:sp>
      <p:sp>
        <p:nvSpPr>
          <p:cNvPr id="17" name="Shape 15"/>
          <p:cNvSpPr/>
          <p:nvPr/>
        </p:nvSpPr>
        <p:spPr>
          <a:xfrm>
            <a:off x="4626864" y="2212848"/>
            <a:ext cx="2011680" cy="23774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8" name="Shape 16"/>
          <p:cNvSpPr/>
          <p:nvPr/>
        </p:nvSpPr>
        <p:spPr>
          <a:xfrm>
            <a:off x="4626864" y="2212848"/>
            <a:ext cx="2011680" cy="347472"/>
          </a:xfrm>
          <a:prstGeom prst="rect">
            <a:avLst/>
          </a:prstGeom>
          <a:solidFill>
            <a:srgbClr val="D97706"/>
          </a:solidFill>
          <a:ln w="12700">
            <a:solidFill>
              <a:srgbClr val="D97706"/>
            </a:solidFill>
            <a:prstDash val="solid"/>
          </a:ln>
        </p:spPr>
        <p:txBody>
          <a:bodyPr/>
          <a:lstStyle/>
          <a:p>
            <a:endParaRPr lang="es-419" noProof="0" dirty="0"/>
          </a:p>
        </p:txBody>
      </p:sp>
      <p:sp>
        <p:nvSpPr>
          <p:cNvPr id="19" name="Text 17"/>
          <p:cNvSpPr/>
          <p:nvPr/>
        </p:nvSpPr>
        <p:spPr>
          <a:xfrm>
            <a:off x="4626864" y="2212848"/>
            <a:ext cx="2011680" cy="347472"/>
          </a:xfrm>
          <a:prstGeom prst="rect">
            <a:avLst/>
          </a:prstGeom>
          <a:noFill/>
          <a:ln/>
        </p:spPr>
        <p:txBody>
          <a:bodyPr wrap="square" rtlCol="0" anchor="ctr"/>
          <a:lstStyle/>
          <a:p>
            <a:pPr marL="0" indent="0" algn="ctr">
              <a:buNone/>
            </a:pPr>
            <a:r>
              <a:rPr lang="es-419" sz="1200" b="1" noProof="0" dirty="0">
                <a:solidFill>
                  <a:srgbClr val="FFFFFF"/>
                </a:solidFill>
                <a:latin typeface="Calibri" pitchFamily="34" charset="0"/>
                <a:ea typeface="Calibri" pitchFamily="34" charset="-122"/>
                <a:cs typeface="Calibri" pitchFamily="34" charset="-120"/>
              </a:rPr>
              <a:t>Donativos</a:t>
            </a:r>
            <a:endParaRPr lang="es-419" sz="1200" noProof="0" dirty="0"/>
          </a:p>
        </p:txBody>
      </p:sp>
      <p:sp>
        <p:nvSpPr>
          <p:cNvPr id="20" name="Text 18"/>
          <p:cNvSpPr/>
          <p:nvPr/>
        </p:nvSpPr>
        <p:spPr>
          <a:xfrm>
            <a:off x="4718304" y="2606040"/>
            <a:ext cx="1828800" cy="1920240"/>
          </a:xfrm>
          <a:prstGeom prst="rect">
            <a:avLst/>
          </a:prstGeom>
          <a:noFill/>
          <a:ln/>
        </p:spPr>
        <p:txBody>
          <a:bodyPr wrap="square" rtlCol="0" anchor="t"/>
          <a:lstStyle/>
          <a:p>
            <a:pPr marL="0" indent="0">
              <a:buNone/>
            </a:pPr>
            <a:r>
              <a:rPr lang="es-419" sz="1000" noProof="0" dirty="0">
                <a:solidFill>
                  <a:srgbClr val="334155"/>
                </a:solidFill>
                <a:latin typeface="Calibri" pitchFamily="34" charset="0"/>
                <a:ea typeface="Calibri" pitchFamily="34" charset="-122"/>
                <a:cs typeface="Calibri" pitchFamily="34" charset="-120"/>
              </a:rPr>
              <a:t>Aportaciones de donadores externos, empresas o comunidad. Indicar si existe compromiso formal.</a:t>
            </a:r>
            <a:endParaRPr lang="es-419" sz="1000" noProof="0" dirty="0"/>
          </a:p>
        </p:txBody>
      </p:sp>
      <p:sp>
        <p:nvSpPr>
          <p:cNvPr id="21" name="Shape 19"/>
          <p:cNvSpPr/>
          <p:nvPr/>
        </p:nvSpPr>
        <p:spPr>
          <a:xfrm>
            <a:off x="6803136" y="2212848"/>
            <a:ext cx="2011680" cy="23774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22" name="Shape 20"/>
          <p:cNvSpPr/>
          <p:nvPr/>
        </p:nvSpPr>
        <p:spPr>
          <a:xfrm>
            <a:off x="6803136" y="2212848"/>
            <a:ext cx="2011680" cy="347472"/>
          </a:xfrm>
          <a:prstGeom prst="rect">
            <a:avLst/>
          </a:prstGeom>
          <a:solidFill>
            <a:srgbClr val="166534"/>
          </a:solidFill>
          <a:ln w="12700">
            <a:solidFill>
              <a:srgbClr val="166534"/>
            </a:solidFill>
            <a:prstDash val="solid"/>
          </a:ln>
        </p:spPr>
        <p:txBody>
          <a:bodyPr/>
          <a:lstStyle/>
          <a:p>
            <a:endParaRPr lang="es-419" noProof="0" dirty="0"/>
          </a:p>
        </p:txBody>
      </p:sp>
      <p:sp>
        <p:nvSpPr>
          <p:cNvPr id="23" name="Text 21"/>
          <p:cNvSpPr/>
          <p:nvPr/>
        </p:nvSpPr>
        <p:spPr>
          <a:xfrm>
            <a:off x="6803136" y="2212848"/>
            <a:ext cx="2011680" cy="347472"/>
          </a:xfrm>
          <a:prstGeom prst="rect">
            <a:avLst/>
          </a:prstGeom>
          <a:noFill/>
          <a:ln/>
        </p:spPr>
        <p:txBody>
          <a:bodyPr wrap="square" rtlCol="0" anchor="ctr"/>
          <a:lstStyle/>
          <a:p>
            <a:pPr marL="0" indent="0" algn="ctr">
              <a:buNone/>
            </a:pPr>
            <a:r>
              <a:rPr lang="es-419" sz="1200" b="1" noProof="0" dirty="0">
                <a:solidFill>
                  <a:srgbClr val="FFFFFF"/>
                </a:solidFill>
                <a:latin typeface="Calibri" pitchFamily="34" charset="0"/>
                <a:ea typeface="Calibri" pitchFamily="34" charset="-122"/>
                <a:cs typeface="Calibri" pitchFamily="34" charset="-120"/>
              </a:rPr>
              <a:t>Otras</a:t>
            </a:r>
            <a:endParaRPr lang="es-419" sz="1200" noProof="0" dirty="0"/>
          </a:p>
        </p:txBody>
      </p:sp>
      <p:sp>
        <p:nvSpPr>
          <p:cNvPr id="24" name="Text 22"/>
          <p:cNvSpPr/>
          <p:nvPr/>
        </p:nvSpPr>
        <p:spPr>
          <a:xfrm>
            <a:off x="6894576" y="2606040"/>
            <a:ext cx="1828800" cy="1920240"/>
          </a:xfrm>
          <a:prstGeom prst="rect">
            <a:avLst/>
          </a:prstGeom>
          <a:noFill/>
          <a:ln/>
        </p:spPr>
        <p:txBody>
          <a:bodyPr wrap="square" rtlCol="0" anchor="t"/>
          <a:lstStyle/>
          <a:p>
            <a:pPr marL="0" indent="0">
              <a:buNone/>
            </a:pPr>
            <a:r>
              <a:rPr lang="es-419" sz="1000" noProof="0" dirty="0">
                <a:solidFill>
                  <a:srgbClr val="334155"/>
                </a:solidFill>
                <a:latin typeface="Calibri" pitchFamily="34" charset="0"/>
                <a:ea typeface="Calibri" pitchFamily="34" charset="-122"/>
                <a:cs typeface="Calibri" pitchFamily="34" charset="-120"/>
              </a:rPr>
              <a:t>Cualquier otra fuente no contemplada en las anteriores. Especificar en el campo si aplica.</a:t>
            </a:r>
            <a:endParaRPr lang="es-419" sz="1000" noProof="0" dirty="0"/>
          </a:p>
        </p:txBody>
      </p:sp>
      <p:sp>
        <p:nvSpPr>
          <p:cNvPr id="25" name="Shape 23"/>
          <p:cNvSpPr/>
          <p:nvPr/>
        </p:nvSpPr>
        <p:spPr>
          <a:xfrm>
            <a:off x="274320" y="4617720"/>
            <a:ext cx="8595360" cy="411480"/>
          </a:xfrm>
          <a:prstGeom prst="roundRect">
            <a:avLst>
              <a:gd name="adj" fmla="val 11111"/>
            </a:avLst>
          </a:prstGeom>
          <a:solidFill>
            <a:srgbClr val="FEF9EC"/>
          </a:solidFill>
          <a:ln w="12700">
            <a:solidFill>
              <a:srgbClr val="FDE68A"/>
            </a:solidFill>
            <a:prstDash val="solid"/>
          </a:ln>
        </p:spPr>
        <p:txBody>
          <a:bodyPr/>
          <a:lstStyle/>
          <a:p>
            <a:endParaRPr lang="es-419" noProof="0" dirty="0"/>
          </a:p>
        </p:txBody>
      </p:sp>
      <p:sp>
        <p:nvSpPr>
          <p:cNvPr id="26" name="Text 24"/>
          <p:cNvSpPr/>
          <p:nvPr/>
        </p:nvSpPr>
        <p:spPr>
          <a:xfrm>
            <a:off x="457200" y="4636008"/>
            <a:ext cx="8321040" cy="374904"/>
          </a:xfrm>
          <a:prstGeom prst="rect">
            <a:avLst/>
          </a:prstGeom>
          <a:noFill/>
          <a:ln/>
        </p:spPr>
        <p:txBody>
          <a:bodyPr wrap="square" rtlCol="0" anchor="ctr"/>
          <a:lstStyle/>
          <a:p>
            <a:pPr marL="0" indent="0">
              <a:buNone/>
            </a:pPr>
            <a:r>
              <a:rPr lang="es-419" sz="1000" noProof="0" dirty="0">
                <a:solidFill>
                  <a:srgbClr val="92400E"/>
                </a:solidFill>
                <a:latin typeface="Calibri" pitchFamily="34" charset="0"/>
                <a:ea typeface="Calibri" pitchFamily="34" charset="-122"/>
                <a:cs typeface="Calibri" pitchFamily="34" charset="-120"/>
              </a:rPr>
              <a:t>💡  No es necesario completar todas las fuentes. Si aún no tienes el desglose exacto, captura el costo total y deja las fuentes vacías. El coordinador lo definirá en la revisión.</a:t>
            </a:r>
            <a:endParaRPr lang="es-419" sz="10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4B8C"/>
          </a:solidFill>
          <a:ln w="12700">
            <a:solidFill>
              <a:srgbClr val="1A4B8C"/>
            </a:solidFill>
            <a:prstDash val="solid"/>
          </a:ln>
        </p:spPr>
        <p:txBody>
          <a:bodyPr/>
          <a:lstStyle/>
          <a:p>
            <a:endParaRPr lang="es-419" noProof="0" dirty="0"/>
          </a:p>
        </p:txBody>
      </p:sp>
      <p:sp>
        <p:nvSpPr>
          <p:cNvPr id="3" name="Text 1"/>
          <p:cNvSpPr/>
          <p:nvPr/>
        </p:nvSpPr>
        <p:spPr>
          <a:xfrm>
            <a:off x="365760" y="91440"/>
            <a:ext cx="8412480" cy="731520"/>
          </a:xfrm>
          <a:prstGeom prst="rect">
            <a:avLst/>
          </a:prstGeom>
          <a:noFill/>
          <a:ln/>
        </p:spPr>
        <p:txBody>
          <a:bodyPr wrap="square" rtlCol="0" anchor="ctr"/>
          <a:lstStyle/>
          <a:p>
            <a:pPr marL="0" indent="0" algn="l">
              <a:buNone/>
            </a:pPr>
            <a:r>
              <a:rPr lang="es-419" sz="2000" b="1" noProof="0" dirty="0">
                <a:solidFill>
                  <a:srgbClr val="FFFFFF"/>
                </a:solidFill>
                <a:latin typeface="Calibri" pitchFamily="34" charset="0"/>
                <a:ea typeface="Calibri" pitchFamily="34" charset="-122"/>
                <a:cs typeface="Calibri" pitchFamily="34" charset="-120"/>
              </a:rPr>
              <a:t>¿Qué pasa después de enviar la solicitud?</a:t>
            </a:r>
            <a:endParaRPr lang="es-419" sz="2000" noProof="0" dirty="0"/>
          </a:p>
        </p:txBody>
      </p:sp>
      <p:sp>
        <p:nvSpPr>
          <p:cNvPr id="4" name="Shape 2"/>
          <p:cNvSpPr/>
          <p:nvPr/>
        </p:nvSpPr>
        <p:spPr>
          <a:xfrm>
            <a:off x="274320" y="1051560"/>
            <a:ext cx="1554480" cy="365760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5" name="Shape 3"/>
          <p:cNvSpPr/>
          <p:nvPr/>
        </p:nvSpPr>
        <p:spPr>
          <a:xfrm>
            <a:off x="274320" y="1051560"/>
            <a:ext cx="1554480" cy="502920"/>
          </a:xfrm>
          <a:prstGeom prst="rect">
            <a:avLst/>
          </a:prstGeom>
          <a:solidFill>
            <a:srgbClr val="1A4B8C"/>
          </a:solidFill>
          <a:ln w="12700">
            <a:solidFill>
              <a:srgbClr val="1A4B8C"/>
            </a:solidFill>
            <a:prstDash val="solid"/>
          </a:ln>
        </p:spPr>
        <p:txBody>
          <a:bodyPr/>
          <a:lstStyle/>
          <a:p>
            <a:endParaRPr lang="es-419" noProof="0" dirty="0"/>
          </a:p>
        </p:txBody>
      </p:sp>
      <p:sp>
        <p:nvSpPr>
          <p:cNvPr id="6" name="Text 4"/>
          <p:cNvSpPr/>
          <p:nvPr/>
        </p:nvSpPr>
        <p:spPr>
          <a:xfrm>
            <a:off x="274320" y="1051560"/>
            <a:ext cx="1554480" cy="502920"/>
          </a:xfrm>
          <a:prstGeom prst="rect">
            <a:avLst/>
          </a:prstGeom>
          <a:noFill/>
          <a:ln/>
        </p:spPr>
        <p:txBody>
          <a:bodyPr wrap="square" rtlCol="0" anchor="ctr"/>
          <a:lstStyle/>
          <a:p>
            <a:pPr marL="0" indent="0" algn="ctr">
              <a:buNone/>
            </a:pPr>
            <a:r>
              <a:rPr lang="es-419" sz="2000" b="1" noProof="0" dirty="0">
                <a:solidFill>
                  <a:srgbClr val="FFFFFF"/>
                </a:solidFill>
                <a:latin typeface="Calibri" pitchFamily="34" charset="0"/>
                <a:ea typeface="Calibri" pitchFamily="34" charset="-122"/>
                <a:cs typeface="Calibri" pitchFamily="34" charset="-120"/>
              </a:rPr>
              <a:t>01</a:t>
            </a:r>
            <a:endParaRPr lang="es-419" sz="2000" noProof="0" dirty="0"/>
          </a:p>
        </p:txBody>
      </p:sp>
      <p:sp>
        <p:nvSpPr>
          <p:cNvPr id="7" name="Text 5"/>
          <p:cNvSpPr/>
          <p:nvPr/>
        </p:nvSpPr>
        <p:spPr>
          <a:xfrm>
            <a:off x="347472" y="1609344"/>
            <a:ext cx="1417320" cy="502920"/>
          </a:xfrm>
          <a:prstGeom prst="rect">
            <a:avLst/>
          </a:prstGeom>
          <a:noFill/>
          <a:ln/>
        </p:spPr>
        <p:txBody>
          <a:bodyPr wrap="square" rtlCol="0" anchor="ctr"/>
          <a:lstStyle/>
          <a:p>
            <a:pPr marL="0" indent="0" algn="ctr">
              <a:buNone/>
            </a:pPr>
            <a:r>
              <a:rPr lang="es-419" sz="1050" b="1" noProof="0" dirty="0">
                <a:solidFill>
                  <a:srgbClr val="1A4B8C"/>
                </a:solidFill>
                <a:latin typeface="Calibri" pitchFamily="34" charset="0"/>
                <a:ea typeface="Calibri" pitchFamily="34" charset="-122"/>
                <a:cs typeface="Calibri" pitchFamily="34" charset="-120"/>
              </a:rPr>
              <a:t>Envío del formulario</a:t>
            </a:r>
            <a:endParaRPr lang="es-419" sz="1050" noProof="0" dirty="0"/>
          </a:p>
        </p:txBody>
      </p:sp>
      <p:sp>
        <p:nvSpPr>
          <p:cNvPr id="8" name="Text 6"/>
          <p:cNvSpPr/>
          <p:nvPr/>
        </p:nvSpPr>
        <p:spPr>
          <a:xfrm>
            <a:off x="347472" y="2157984"/>
            <a:ext cx="1417320" cy="2468880"/>
          </a:xfrm>
          <a:prstGeom prst="rect">
            <a:avLst/>
          </a:prstGeom>
          <a:noFill/>
          <a:ln/>
        </p:spPr>
        <p:txBody>
          <a:bodyPr wrap="square" rtlCol="0" anchor="t"/>
          <a:lstStyle/>
          <a:p>
            <a:pPr marL="0" indent="0">
              <a:buNone/>
            </a:pPr>
            <a:r>
              <a:rPr lang="es-419" sz="950" noProof="0" dirty="0">
                <a:solidFill>
                  <a:srgbClr val="334155"/>
                </a:solidFill>
                <a:latin typeface="Calibri" pitchFamily="34" charset="0"/>
                <a:ea typeface="Calibri" pitchFamily="34" charset="-122"/>
                <a:cs typeface="Calibri" pitchFamily="34" charset="-120"/>
              </a:rPr>
              <a:t>Haces clic en "Enviar Solicitud". El sistema valida los campos obligatorios y registra tu solicitud en la base de datos.</a:t>
            </a:r>
            <a:endParaRPr lang="es-419" sz="950" noProof="0" dirty="0"/>
          </a:p>
        </p:txBody>
      </p:sp>
      <p:sp>
        <p:nvSpPr>
          <p:cNvPr id="9" name="Shape 7"/>
          <p:cNvSpPr/>
          <p:nvPr/>
        </p:nvSpPr>
        <p:spPr>
          <a:xfrm>
            <a:off x="1993392" y="1051560"/>
            <a:ext cx="1554480" cy="365760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0" name="Shape 8"/>
          <p:cNvSpPr/>
          <p:nvPr/>
        </p:nvSpPr>
        <p:spPr>
          <a:xfrm>
            <a:off x="1993392" y="1051560"/>
            <a:ext cx="1554480" cy="502920"/>
          </a:xfrm>
          <a:prstGeom prst="rect">
            <a:avLst/>
          </a:prstGeom>
          <a:solidFill>
            <a:srgbClr val="0D8A7E"/>
          </a:solidFill>
          <a:ln w="12700">
            <a:solidFill>
              <a:srgbClr val="0D8A7E"/>
            </a:solidFill>
            <a:prstDash val="solid"/>
          </a:ln>
        </p:spPr>
        <p:txBody>
          <a:bodyPr/>
          <a:lstStyle/>
          <a:p>
            <a:endParaRPr lang="es-419" noProof="0" dirty="0"/>
          </a:p>
        </p:txBody>
      </p:sp>
      <p:sp>
        <p:nvSpPr>
          <p:cNvPr id="11" name="Text 9"/>
          <p:cNvSpPr/>
          <p:nvPr/>
        </p:nvSpPr>
        <p:spPr>
          <a:xfrm>
            <a:off x="1993392" y="1051560"/>
            <a:ext cx="1554480" cy="502920"/>
          </a:xfrm>
          <a:prstGeom prst="rect">
            <a:avLst/>
          </a:prstGeom>
          <a:noFill/>
          <a:ln/>
        </p:spPr>
        <p:txBody>
          <a:bodyPr wrap="square" rtlCol="0" anchor="ctr"/>
          <a:lstStyle/>
          <a:p>
            <a:pPr marL="0" indent="0" algn="ctr">
              <a:buNone/>
            </a:pPr>
            <a:r>
              <a:rPr lang="es-419" sz="2000" b="1" noProof="0" dirty="0">
                <a:solidFill>
                  <a:srgbClr val="FFFFFF"/>
                </a:solidFill>
                <a:latin typeface="Calibri" pitchFamily="34" charset="0"/>
                <a:ea typeface="Calibri" pitchFamily="34" charset="-122"/>
                <a:cs typeface="Calibri" pitchFamily="34" charset="-120"/>
              </a:rPr>
              <a:t>02</a:t>
            </a:r>
            <a:endParaRPr lang="es-419" sz="2000" noProof="0" dirty="0"/>
          </a:p>
        </p:txBody>
      </p:sp>
      <p:sp>
        <p:nvSpPr>
          <p:cNvPr id="12" name="Text 10"/>
          <p:cNvSpPr/>
          <p:nvPr/>
        </p:nvSpPr>
        <p:spPr>
          <a:xfrm>
            <a:off x="2066544" y="1609344"/>
            <a:ext cx="1417320" cy="502920"/>
          </a:xfrm>
          <a:prstGeom prst="rect">
            <a:avLst/>
          </a:prstGeom>
          <a:noFill/>
          <a:ln/>
        </p:spPr>
        <p:txBody>
          <a:bodyPr wrap="square" rtlCol="0" anchor="ctr"/>
          <a:lstStyle/>
          <a:p>
            <a:pPr marL="0" indent="0" algn="ctr">
              <a:buNone/>
            </a:pPr>
            <a:r>
              <a:rPr lang="es-419" sz="1050" b="1" noProof="0" dirty="0">
                <a:solidFill>
                  <a:srgbClr val="0D8A7E"/>
                </a:solidFill>
                <a:latin typeface="Calibri" pitchFamily="34" charset="0"/>
                <a:ea typeface="Calibri" pitchFamily="34" charset="-122"/>
                <a:cs typeface="Calibri" pitchFamily="34" charset="-120"/>
              </a:rPr>
              <a:t>Pantalla de confirmación</a:t>
            </a:r>
            <a:endParaRPr lang="es-419" sz="1050" noProof="0" dirty="0"/>
          </a:p>
        </p:txBody>
      </p:sp>
      <p:sp>
        <p:nvSpPr>
          <p:cNvPr id="13" name="Text 11"/>
          <p:cNvSpPr/>
          <p:nvPr/>
        </p:nvSpPr>
        <p:spPr>
          <a:xfrm>
            <a:off x="2066544" y="2157984"/>
            <a:ext cx="1417320" cy="2468880"/>
          </a:xfrm>
          <a:prstGeom prst="rect">
            <a:avLst/>
          </a:prstGeom>
          <a:noFill/>
          <a:ln/>
        </p:spPr>
        <p:txBody>
          <a:bodyPr wrap="square" rtlCol="0" anchor="t"/>
          <a:lstStyle/>
          <a:p>
            <a:pPr marL="0" indent="0">
              <a:buNone/>
            </a:pPr>
            <a:r>
              <a:rPr lang="es-419" sz="950" noProof="0" dirty="0">
                <a:solidFill>
                  <a:srgbClr val="334155"/>
                </a:solidFill>
                <a:latin typeface="Calibri" pitchFamily="34" charset="0"/>
                <a:ea typeface="Calibri" pitchFamily="34" charset="-122"/>
                <a:cs typeface="Calibri" pitchFamily="34" charset="-120"/>
              </a:rPr>
              <a:t>Aparece un mensaje de éxito con tu correo. Puedes enviar una nueva solicitud si lo necesitas.</a:t>
            </a:r>
            <a:endParaRPr lang="es-419" sz="950" noProof="0" dirty="0"/>
          </a:p>
        </p:txBody>
      </p:sp>
      <p:sp>
        <p:nvSpPr>
          <p:cNvPr id="14" name="Shape 12"/>
          <p:cNvSpPr/>
          <p:nvPr/>
        </p:nvSpPr>
        <p:spPr>
          <a:xfrm>
            <a:off x="3712464" y="1051560"/>
            <a:ext cx="1554480" cy="365760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5" name="Shape 13"/>
          <p:cNvSpPr/>
          <p:nvPr/>
        </p:nvSpPr>
        <p:spPr>
          <a:xfrm>
            <a:off x="3712464" y="1051560"/>
            <a:ext cx="1554480" cy="502920"/>
          </a:xfrm>
          <a:prstGeom prst="rect">
            <a:avLst/>
          </a:prstGeom>
          <a:solidFill>
            <a:srgbClr val="D97706"/>
          </a:solidFill>
          <a:ln w="12700">
            <a:solidFill>
              <a:srgbClr val="D97706"/>
            </a:solidFill>
            <a:prstDash val="solid"/>
          </a:ln>
        </p:spPr>
        <p:txBody>
          <a:bodyPr/>
          <a:lstStyle/>
          <a:p>
            <a:endParaRPr lang="es-419" noProof="0" dirty="0"/>
          </a:p>
        </p:txBody>
      </p:sp>
      <p:sp>
        <p:nvSpPr>
          <p:cNvPr id="16" name="Text 14"/>
          <p:cNvSpPr/>
          <p:nvPr/>
        </p:nvSpPr>
        <p:spPr>
          <a:xfrm>
            <a:off x="3712464" y="1051560"/>
            <a:ext cx="1554480" cy="502920"/>
          </a:xfrm>
          <a:prstGeom prst="rect">
            <a:avLst/>
          </a:prstGeom>
          <a:noFill/>
          <a:ln/>
        </p:spPr>
        <p:txBody>
          <a:bodyPr wrap="square" rtlCol="0" anchor="ctr"/>
          <a:lstStyle/>
          <a:p>
            <a:pPr marL="0" indent="0" algn="ctr">
              <a:buNone/>
            </a:pPr>
            <a:r>
              <a:rPr lang="es-419" sz="2000" b="1" noProof="0" dirty="0">
                <a:solidFill>
                  <a:srgbClr val="FFFFFF"/>
                </a:solidFill>
                <a:latin typeface="Calibri" pitchFamily="34" charset="0"/>
                <a:ea typeface="Calibri" pitchFamily="34" charset="-122"/>
                <a:cs typeface="Calibri" pitchFamily="34" charset="-120"/>
              </a:rPr>
              <a:t>03</a:t>
            </a:r>
            <a:endParaRPr lang="es-419" sz="2000" noProof="0" dirty="0"/>
          </a:p>
        </p:txBody>
      </p:sp>
      <p:sp>
        <p:nvSpPr>
          <p:cNvPr id="17" name="Text 15"/>
          <p:cNvSpPr/>
          <p:nvPr/>
        </p:nvSpPr>
        <p:spPr>
          <a:xfrm>
            <a:off x="3785616" y="1609344"/>
            <a:ext cx="1417320" cy="502920"/>
          </a:xfrm>
          <a:prstGeom prst="rect">
            <a:avLst/>
          </a:prstGeom>
          <a:noFill/>
          <a:ln/>
        </p:spPr>
        <p:txBody>
          <a:bodyPr wrap="square" rtlCol="0" anchor="ctr"/>
          <a:lstStyle/>
          <a:p>
            <a:pPr marL="0" indent="0" algn="ctr">
              <a:buNone/>
            </a:pPr>
            <a:r>
              <a:rPr lang="es-419" sz="1050" b="1" noProof="0" dirty="0">
                <a:solidFill>
                  <a:srgbClr val="D97706"/>
                </a:solidFill>
                <a:latin typeface="Calibri" pitchFamily="34" charset="0"/>
                <a:ea typeface="Calibri" pitchFamily="34" charset="-122"/>
                <a:cs typeface="Calibri" pitchFamily="34" charset="-120"/>
              </a:rPr>
              <a:t>Correo automático</a:t>
            </a:r>
            <a:endParaRPr lang="es-419" sz="1050" noProof="0" dirty="0"/>
          </a:p>
        </p:txBody>
      </p:sp>
      <p:sp>
        <p:nvSpPr>
          <p:cNvPr id="18" name="Text 16"/>
          <p:cNvSpPr/>
          <p:nvPr/>
        </p:nvSpPr>
        <p:spPr>
          <a:xfrm>
            <a:off x="3785616" y="2157984"/>
            <a:ext cx="1417320" cy="2468880"/>
          </a:xfrm>
          <a:prstGeom prst="rect">
            <a:avLst/>
          </a:prstGeom>
          <a:noFill/>
          <a:ln/>
        </p:spPr>
        <p:txBody>
          <a:bodyPr wrap="square" rtlCol="0" anchor="t"/>
          <a:lstStyle/>
          <a:p>
            <a:pPr marL="0" indent="0">
              <a:buNone/>
            </a:pPr>
            <a:r>
              <a:rPr lang="es-419" sz="950" noProof="0" dirty="0">
                <a:solidFill>
                  <a:srgbClr val="334155"/>
                </a:solidFill>
                <a:latin typeface="Calibri" pitchFamily="34" charset="0"/>
                <a:ea typeface="Calibri" pitchFamily="34" charset="-122"/>
                <a:cs typeface="Calibri" pitchFamily="34" charset="-120"/>
              </a:rPr>
              <a:t>El Coordinador de Obras recibe una notificación por correo con los datos principales de tu solicitud.</a:t>
            </a:r>
            <a:endParaRPr lang="es-419" sz="950" noProof="0" dirty="0"/>
          </a:p>
        </p:txBody>
      </p:sp>
      <p:sp>
        <p:nvSpPr>
          <p:cNvPr id="19" name="Shape 17"/>
          <p:cNvSpPr/>
          <p:nvPr/>
        </p:nvSpPr>
        <p:spPr>
          <a:xfrm>
            <a:off x="5431536" y="1051560"/>
            <a:ext cx="1554480" cy="365760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20" name="Shape 18"/>
          <p:cNvSpPr/>
          <p:nvPr/>
        </p:nvSpPr>
        <p:spPr>
          <a:xfrm>
            <a:off x="5431536" y="1051560"/>
            <a:ext cx="1554480" cy="502920"/>
          </a:xfrm>
          <a:prstGeom prst="rect">
            <a:avLst/>
          </a:prstGeom>
          <a:solidFill>
            <a:srgbClr val="166534"/>
          </a:solidFill>
          <a:ln w="12700">
            <a:solidFill>
              <a:srgbClr val="166534"/>
            </a:solidFill>
            <a:prstDash val="solid"/>
          </a:ln>
        </p:spPr>
        <p:txBody>
          <a:bodyPr/>
          <a:lstStyle/>
          <a:p>
            <a:endParaRPr lang="es-419" noProof="0" dirty="0"/>
          </a:p>
        </p:txBody>
      </p:sp>
      <p:sp>
        <p:nvSpPr>
          <p:cNvPr id="21" name="Text 19"/>
          <p:cNvSpPr/>
          <p:nvPr/>
        </p:nvSpPr>
        <p:spPr>
          <a:xfrm>
            <a:off x="5431536" y="1051560"/>
            <a:ext cx="1554480" cy="502920"/>
          </a:xfrm>
          <a:prstGeom prst="rect">
            <a:avLst/>
          </a:prstGeom>
          <a:noFill/>
          <a:ln/>
        </p:spPr>
        <p:txBody>
          <a:bodyPr wrap="square" rtlCol="0" anchor="ctr"/>
          <a:lstStyle/>
          <a:p>
            <a:pPr marL="0" indent="0" algn="ctr">
              <a:buNone/>
            </a:pPr>
            <a:r>
              <a:rPr lang="es-419" sz="2000" b="1" noProof="0" dirty="0">
                <a:solidFill>
                  <a:srgbClr val="FFFFFF"/>
                </a:solidFill>
                <a:latin typeface="Calibri" pitchFamily="34" charset="0"/>
                <a:ea typeface="Calibri" pitchFamily="34" charset="-122"/>
                <a:cs typeface="Calibri" pitchFamily="34" charset="-120"/>
              </a:rPr>
              <a:t>04</a:t>
            </a:r>
            <a:endParaRPr lang="es-419" sz="2000" noProof="0" dirty="0"/>
          </a:p>
        </p:txBody>
      </p:sp>
      <p:sp>
        <p:nvSpPr>
          <p:cNvPr id="22" name="Text 20"/>
          <p:cNvSpPr/>
          <p:nvPr/>
        </p:nvSpPr>
        <p:spPr>
          <a:xfrm>
            <a:off x="5504688" y="1609344"/>
            <a:ext cx="1417320" cy="502920"/>
          </a:xfrm>
          <a:prstGeom prst="rect">
            <a:avLst/>
          </a:prstGeom>
          <a:noFill/>
          <a:ln/>
        </p:spPr>
        <p:txBody>
          <a:bodyPr wrap="square" rtlCol="0" anchor="ctr"/>
          <a:lstStyle/>
          <a:p>
            <a:pPr marL="0" indent="0" algn="ctr">
              <a:buNone/>
            </a:pPr>
            <a:r>
              <a:rPr lang="es-419" sz="1050" b="1" noProof="0" dirty="0">
                <a:solidFill>
                  <a:srgbClr val="166534"/>
                </a:solidFill>
                <a:latin typeface="Calibri" pitchFamily="34" charset="0"/>
                <a:ea typeface="Calibri" pitchFamily="34" charset="-122"/>
                <a:cs typeface="Calibri" pitchFamily="34" charset="-120"/>
              </a:rPr>
              <a:t>Revisión por el coord.</a:t>
            </a:r>
            <a:endParaRPr lang="es-419" sz="1050" noProof="0" dirty="0"/>
          </a:p>
        </p:txBody>
      </p:sp>
      <p:sp>
        <p:nvSpPr>
          <p:cNvPr id="23" name="Text 21"/>
          <p:cNvSpPr/>
          <p:nvPr/>
        </p:nvSpPr>
        <p:spPr>
          <a:xfrm>
            <a:off x="5504688" y="2157984"/>
            <a:ext cx="1417320" cy="2468880"/>
          </a:xfrm>
          <a:prstGeom prst="rect">
            <a:avLst/>
          </a:prstGeom>
          <a:noFill/>
          <a:ln/>
        </p:spPr>
        <p:txBody>
          <a:bodyPr wrap="square" rtlCol="0" anchor="t"/>
          <a:lstStyle/>
          <a:p>
            <a:pPr marL="0" indent="0">
              <a:buNone/>
            </a:pPr>
            <a:r>
              <a:rPr lang="es-419" sz="950" noProof="0" dirty="0">
                <a:solidFill>
                  <a:srgbClr val="334155"/>
                </a:solidFill>
                <a:latin typeface="Calibri" pitchFamily="34" charset="0"/>
                <a:ea typeface="Calibri" pitchFamily="34" charset="-122"/>
                <a:cs typeface="Calibri" pitchFamily="34" charset="-120"/>
              </a:rPr>
              <a:t>El coordinador revisa la solicitud en el panel de "Solicitudes Recibidas" y le asigna estatus (pendiente, en revisión, etc.).</a:t>
            </a:r>
            <a:endParaRPr lang="es-419" sz="950" noProof="0" dirty="0"/>
          </a:p>
        </p:txBody>
      </p:sp>
      <p:sp>
        <p:nvSpPr>
          <p:cNvPr id="24" name="Shape 22"/>
          <p:cNvSpPr/>
          <p:nvPr/>
        </p:nvSpPr>
        <p:spPr>
          <a:xfrm>
            <a:off x="7150608" y="1051560"/>
            <a:ext cx="1554480" cy="365760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25" name="Shape 23"/>
          <p:cNvSpPr/>
          <p:nvPr/>
        </p:nvSpPr>
        <p:spPr>
          <a:xfrm>
            <a:off x="7150608" y="1051560"/>
            <a:ext cx="1554480" cy="502920"/>
          </a:xfrm>
          <a:prstGeom prst="rect">
            <a:avLst/>
          </a:prstGeom>
          <a:solidFill>
            <a:srgbClr val="0D1B3E"/>
          </a:solidFill>
          <a:ln w="12700">
            <a:solidFill>
              <a:srgbClr val="0D1B3E"/>
            </a:solidFill>
            <a:prstDash val="solid"/>
          </a:ln>
        </p:spPr>
        <p:txBody>
          <a:bodyPr/>
          <a:lstStyle/>
          <a:p>
            <a:endParaRPr lang="es-419" noProof="0" dirty="0"/>
          </a:p>
        </p:txBody>
      </p:sp>
      <p:sp>
        <p:nvSpPr>
          <p:cNvPr id="26" name="Text 24"/>
          <p:cNvSpPr/>
          <p:nvPr/>
        </p:nvSpPr>
        <p:spPr>
          <a:xfrm>
            <a:off x="7150608" y="1051560"/>
            <a:ext cx="1554480" cy="502920"/>
          </a:xfrm>
          <a:prstGeom prst="rect">
            <a:avLst/>
          </a:prstGeom>
          <a:noFill/>
          <a:ln/>
        </p:spPr>
        <p:txBody>
          <a:bodyPr wrap="square" rtlCol="0" anchor="ctr"/>
          <a:lstStyle/>
          <a:p>
            <a:pPr marL="0" indent="0" algn="ctr">
              <a:buNone/>
            </a:pPr>
            <a:r>
              <a:rPr lang="es-419" sz="2000" b="1" noProof="0" dirty="0">
                <a:solidFill>
                  <a:srgbClr val="FFFFFF"/>
                </a:solidFill>
                <a:latin typeface="Calibri" pitchFamily="34" charset="0"/>
                <a:ea typeface="Calibri" pitchFamily="34" charset="-122"/>
                <a:cs typeface="Calibri" pitchFamily="34" charset="-120"/>
              </a:rPr>
              <a:t>05</a:t>
            </a:r>
            <a:endParaRPr lang="es-419" sz="2000" noProof="0" dirty="0"/>
          </a:p>
        </p:txBody>
      </p:sp>
      <p:sp>
        <p:nvSpPr>
          <p:cNvPr id="27" name="Text 25"/>
          <p:cNvSpPr/>
          <p:nvPr/>
        </p:nvSpPr>
        <p:spPr>
          <a:xfrm>
            <a:off x="7223760" y="1609344"/>
            <a:ext cx="1417320" cy="502920"/>
          </a:xfrm>
          <a:prstGeom prst="rect">
            <a:avLst/>
          </a:prstGeom>
          <a:noFill/>
          <a:ln/>
        </p:spPr>
        <p:txBody>
          <a:bodyPr wrap="square" rtlCol="0" anchor="ctr"/>
          <a:lstStyle/>
          <a:p>
            <a:pPr marL="0" indent="0" algn="ctr">
              <a:buNone/>
            </a:pPr>
            <a:r>
              <a:rPr lang="es-419" sz="1050" b="1" noProof="0" dirty="0">
                <a:solidFill>
                  <a:srgbClr val="0D1B3E"/>
                </a:solidFill>
                <a:latin typeface="Calibri" pitchFamily="34" charset="0"/>
                <a:ea typeface="Calibri" pitchFamily="34" charset="-122"/>
                <a:cs typeface="Calibri" pitchFamily="34" charset="-120"/>
              </a:rPr>
              <a:t>Notificación al solicitante</a:t>
            </a:r>
            <a:endParaRPr lang="es-419" sz="1050" noProof="0" dirty="0"/>
          </a:p>
        </p:txBody>
      </p:sp>
      <p:sp>
        <p:nvSpPr>
          <p:cNvPr id="28" name="Text 26"/>
          <p:cNvSpPr/>
          <p:nvPr/>
        </p:nvSpPr>
        <p:spPr>
          <a:xfrm>
            <a:off x="7223760" y="2157984"/>
            <a:ext cx="1417320" cy="2468880"/>
          </a:xfrm>
          <a:prstGeom prst="rect">
            <a:avLst/>
          </a:prstGeom>
          <a:noFill/>
          <a:ln/>
        </p:spPr>
        <p:txBody>
          <a:bodyPr wrap="square" rtlCol="0" anchor="t"/>
          <a:lstStyle/>
          <a:p>
            <a:pPr marL="0" indent="0">
              <a:buNone/>
            </a:pPr>
            <a:r>
              <a:rPr lang="es-419" sz="950" noProof="0" dirty="0">
                <a:solidFill>
                  <a:srgbClr val="334155"/>
                </a:solidFill>
                <a:latin typeface="Calibri" pitchFamily="34" charset="0"/>
                <a:ea typeface="Calibri" pitchFamily="34" charset="-122"/>
                <a:cs typeface="Calibri" pitchFamily="34" charset="-120"/>
              </a:rPr>
              <a:t>Recibirás un correo a la dirección que ingresaste cuando tu solicitud sea revisada.</a:t>
            </a:r>
            <a:endParaRPr lang="es-419" sz="95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8A7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FFFFF">
              <a:alpha val="20000"/>
            </a:srgbClr>
          </a:solidFill>
          <a:ln w="12700">
            <a:solidFill>
              <a:srgbClr val="FFFFFF">
                <a:alpha val="20000"/>
              </a:srgbClr>
            </a:solidFill>
            <a:prstDash val="solid"/>
          </a:ln>
        </p:spPr>
        <p:txBody>
          <a:bodyPr/>
          <a:lstStyle/>
          <a:p>
            <a:endParaRPr lang="es-419" noProof="0" dirty="0"/>
          </a:p>
        </p:txBody>
      </p:sp>
      <p:sp>
        <p:nvSpPr>
          <p:cNvPr id="3" name="Text 1"/>
          <p:cNvSpPr/>
          <p:nvPr/>
        </p:nvSpPr>
        <p:spPr>
          <a:xfrm>
            <a:off x="457200" y="1280160"/>
            <a:ext cx="8229600" cy="457200"/>
          </a:xfrm>
          <a:prstGeom prst="rect">
            <a:avLst/>
          </a:prstGeom>
          <a:noFill/>
          <a:ln/>
        </p:spPr>
        <p:txBody>
          <a:bodyPr wrap="square" rtlCol="0" anchor="ctr"/>
          <a:lstStyle/>
          <a:p>
            <a:pPr marL="0" indent="0" algn="l">
              <a:buNone/>
            </a:pPr>
            <a:r>
              <a:rPr lang="es-419" sz="1300" b="1" kern="0" spc="500" noProof="0" dirty="0">
                <a:solidFill>
                  <a:srgbClr val="FFFFFF"/>
                </a:solidFill>
                <a:latin typeface="Calibri" pitchFamily="34" charset="0"/>
                <a:ea typeface="Calibri" pitchFamily="34" charset="-122"/>
                <a:cs typeface="Calibri" pitchFamily="34" charset="-120"/>
              </a:rPr>
              <a:t>PARTE 2</a:t>
            </a:r>
            <a:endParaRPr lang="es-419" sz="1300" noProof="0" dirty="0"/>
          </a:p>
        </p:txBody>
      </p:sp>
      <p:sp>
        <p:nvSpPr>
          <p:cNvPr id="4" name="Text 2"/>
          <p:cNvSpPr/>
          <p:nvPr/>
        </p:nvSpPr>
        <p:spPr>
          <a:xfrm>
            <a:off x="457200" y="1783080"/>
            <a:ext cx="8229600" cy="914400"/>
          </a:xfrm>
          <a:prstGeom prst="rect">
            <a:avLst/>
          </a:prstGeom>
          <a:noFill/>
          <a:ln/>
        </p:spPr>
        <p:txBody>
          <a:bodyPr wrap="square" rtlCol="0" anchor="ctr"/>
          <a:lstStyle/>
          <a:p>
            <a:pPr marL="0" indent="0" algn="l">
              <a:buNone/>
            </a:pPr>
            <a:r>
              <a:rPr lang="es-419" sz="4800" b="1" noProof="0" dirty="0">
                <a:solidFill>
                  <a:srgbClr val="FFFFFF"/>
                </a:solidFill>
                <a:latin typeface="Calibri" pitchFamily="34" charset="0"/>
                <a:ea typeface="Calibri" pitchFamily="34" charset="-122"/>
                <a:cs typeface="Calibri" pitchFamily="34" charset="-120"/>
              </a:rPr>
              <a:t>Ticket MAS</a:t>
            </a:r>
            <a:endParaRPr lang="es-419" sz="4800" noProof="0" dirty="0"/>
          </a:p>
        </p:txBody>
      </p:sp>
      <p:sp>
        <p:nvSpPr>
          <p:cNvPr id="5" name="Text 3"/>
          <p:cNvSpPr/>
          <p:nvPr/>
        </p:nvSpPr>
        <p:spPr>
          <a:xfrm>
            <a:off x="457200" y="2743200"/>
            <a:ext cx="7315200" cy="457200"/>
          </a:xfrm>
          <a:prstGeom prst="rect">
            <a:avLst/>
          </a:prstGeom>
          <a:noFill/>
          <a:ln/>
        </p:spPr>
        <p:txBody>
          <a:bodyPr wrap="square" rtlCol="0" anchor="ctr"/>
          <a:lstStyle/>
          <a:p>
            <a:pPr marL="0" indent="0" algn="l">
              <a:buNone/>
            </a:pPr>
            <a:r>
              <a:rPr lang="es-419" sz="1600" noProof="0" dirty="0">
                <a:solidFill>
                  <a:srgbClr val="B2DFDB"/>
                </a:solidFill>
                <a:latin typeface="Calibri" pitchFamily="34" charset="0"/>
                <a:ea typeface="Calibri" pitchFamily="34" charset="-122"/>
                <a:cs typeface="Calibri" pitchFamily="34" charset="-120"/>
              </a:rPr>
              <a:t>Construcciones · Mejoras · Mantenimiento</a:t>
            </a:r>
            <a:endParaRPr lang="es-419" sz="1600" noProof="0" dirty="0"/>
          </a:p>
        </p:txBody>
      </p:sp>
      <p:sp>
        <p:nvSpPr>
          <p:cNvPr id="6" name="Text 4"/>
          <p:cNvSpPr/>
          <p:nvPr/>
        </p:nvSpPr>
        <p:spPr>
          <a:xfrm>
            <a:off x="457200" y="3383280"/>
            <a:ext cx="7315200" cy="822960"/>
          </a:xfrm>
          <a:prstGeom prst="rect">
            <a:avLst/>
          </a:prstGeom>
          <a:noFill/>
          <a:ln/>
        </p:spPr>
        <p:txBody>
          <a:bodyPr wrap="square" rtlCol="0" anchor="ctr"/>
          <a:lstStyle/>
          <a:p>
            <a:pPr marL="0" indent="0" algn="l">
              <a:buNone/>
            </a:pPr>
            <a:r>
              <a:rPr lang="es-419" sz="1300" noProof="0" dirty="0">
                <a:solidFill>
                  <a:srgbClr val="FFFFFF"/>
                </a:solidFill>
                <a:latin typeface="Calibri" pitchFamily="34" charset="0"/>
                <a:ea typeface="Calibri" pitchFamily="34" charset="-122"/>
                <a:cs typeface="Calibri" pitchFamily="34" charset="-120"/>
              </a:rPr>
              <a:t>El ticket formal que activa el proceso de autorización y seguimiento</a:t>
            </a:r>
            <a:endParaRPr lang="es-419" sz="1300" noProof="0" dirty="0"/>
          </a:p>
          <a:p>
            <a:pPr marL="0" indent="0" algn="l">
              <a:buNone/>
            </a:pPr>
            <a:r>
              <a:rPr lang="es-419" sz="1300" noProof="0" dirty="0">
                <a:solidFill>
                  <a:srgbClr val="FFFFFF"/>
                </a:solidFill>
                <a:latin typeface="Calibri" pitchFamily="34" charset="0"/>
                <a:ea typeface="Calibri" pitchFamily="34" charset="-122"/>
                <a:cs typeface="Calibri" pitchFamily="34" charset="-120"/>
              </a:rPr>
              <a:t>de cada trabajo con contratista o proveedor.</a:t>
            </a:r>
            <a:endParaRPr lang="es-419" sz="13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8A7E"/>
          </a:solidFill>
          <a:ln w="12700">
            <a:solidFill>
              <a:srgbClr val="0D8A7E"/>
            </a:solidFill>
            <a:prstDash val="solid"/>
          </a:ln>
        </p:spPr>
        <p:txBody>
          <a:bodyPr/>
          <a:lstStyle/>
          <a:p>
            <a:endParaRPr lang="es-419" noProof="0" dirty="0"/>
          </a:p>
        </p:txBody>
      </p:sp>
      <p:sp>
        <p:nvSpPr>
          <p:cNvPr id="3" name="Text 1"/>
          <p:cNvSpPr/>
          <p:nvPr/>
        </p:nvSpPr>
        <p:spPr>
          <a:xfrm>
            <a:off x="365760" y="91440"/>
            <a:ext cx="8412480" cy="731520"/>
          </a:xfrm>
          <a:prstGeom prst="rect">
            <a:avLst/>
          </a:prstGeom>
          <a:noFill/>
          <a:ln/>
        </p:spPr>
        <p:txBody>
          <a:bodyPr wrap="square" rtlCol="0" anchor="ctr"/>
          <a:lstStyle/>
          <a:p>
            <a:pPr marL="0" indent="0" algn="l">
              <a:buNone/>
            </a:pPr>
            <a:r>
              <a:rPr lang="es-419" sz="2200" b="1" noProof="0" dirty="0">
                <a:solidFill>
                  <a:srgbClr val="FFFFFF"/>
                </a:solidFill>
                <a:latin typeface="Calibri" pitchFamily="34" charset="0"/>
                <a:ea typeface="Calibri" pitchFamily="34" charset="-122"/>
                <a:cs typeface="Calibri" pitchFamily="34" charset="-120"/>
              </a:rPr>
              <a:t>¿Qué es el Ticket MAS?</a:t>
            </a:r>
            <a:endParaRPr lang="es-419" sz="2200" noProof="0" dirty="0"/>
          </a:p>
        </p:txBody>
      </p:sp>
      <p:sp>
        <p:nvSpPr>
          <p:cNvPr id="4" name="Shape 2"/>
          <p:cNvSpPr/>
          <p:nvPr/>
        </p:nvSpPr>
        <p:spPr>
          <a:xfrm>
            <a:off x="274320" y="1005840"/>
            <a:ext cx="8595360" cy="502920"/>
          </a:xfrm>
          <a:prstGeom prst="rect">
            <a:avLst/>
          </a:prstGeom>
          <a:solidFill>
            <a:srgbClr val="FEF9EC"/>
          </a:solidFill>
          <a:ln w="12700">
            <a:solidFill>
              <a:srgbClr val="FDE68A"/>
            </a:solidFill>
            <a:prstDash val="solid"/>
          </a:ln>
        </p:spPr>
        <p:txBody>
          <a:bodyPr/>
          <a:lstStyle/>
          <a:p>
            <a:endParaRPr lang="es-419" noProof="0" dirty="0"/>
          </a:p>
        </p:txBody>
      </p:sp>
      <p:sp>
        <p:nvSpPr>
          <p:cNvPr id="5" name="Text 3"/>
          <p:cNvSpPr/>
          <p:nvPr/>
        </p:nvSpPr>
        <p:spPr>
          <a:xfrm>
            <a:off x="411480" y="1024128"/>
            <a:ext cx="1645920" cy="457200"/>
          </a:xfrm>
          <a:prstGeom prst="rect">
            <a:avLst/>
          </a:prstGeom>
          <a:noFill/>
          <a:ln/>
        </p:spPr>
        <p:txBody>
          <a:bodyPr wrap="square" rtlCol="0" anchor="ctr"/>
          <a:lstStyle/>
          <a:p>
            <a:pPr marL="0" indent="0">
              <a:buNone/>
            </a:pPr>
            <a:r>
              <a:rPr lang="es-419" sz="1050" b="1" noProof="0" dirty="0">
                <a:solidFill>
                  <a:srgbClr val="D97706"/>
                </a:solidFill>
                <a:latin typeface="Calibri" pitchFamily="34" charset="0"/>
                <a:ea typeface="Calibri" pitchFamily="34" charset="-122"/>
                <a:cs typeface="Calibri" pitchFamily="34" charset="-120"/>
              </a:rPr>
              <a:t>⚠️  Diferencia clave:</a:t>
            </a:r>
            <a:endParaRPr lang="es-419" sz="1050" noProof="0" dirty="0"/>
          </a:p>
        </p:txBody>
      </p:sp>
      <p:sp>
        <p:nvSpPr>
          <p:cNvPr id="6" name="Text 4"/>
          <p:cNvSpPr/>
          <p:nvPr/>
        </p:nvSpPr>
        <p:spPr>
          <a:xfrm>
            <a:off x="2103120" y="1024128"/>
            <a:ext cx="6675120" cy="457200"/>
          </a:xfrm>
          <a:prstGeom prst="rect">
            <a:avLst/>
          </a:prstGeom>
          <a:noFill/>
          <a:ln/>
        </p:spPr>
        <p:txBody>
          <a:bodyPr wrap="square" rtlCol="0" anchor="ctr"/>
          <a:lstStyle/>
          <a:p>
            <a:pPr marL="0" indent="0">
              <a:buNone/>
            </a:pPr>
            <a:r>
              <a:rPr lang="es-419" sz="1050" noProof="0" dirty="0">
                <a:solidFill>
                  <a:srgbClr val="92400E"/>
                </a:solidFill>
                <a:latin typeface="Calibri" pitchFamily="34" charset="0"/>
                <a:ea typeface="Calibri" pitchFamily="34" charset="-122"/>
                <a:cs typeface="Calibri" pitchFamily="34" charset="-120"/>
              </a:rPr>
              <a:t>La Solicitud de Proyecto es para PEDIR autorización de un proyecto. El Ticket MAS es para AUTORIZAR y EJECUTAR un trabajo ya definido con cotizaciones y proveedor.</a:t>
            </a:r>
            <a:endParaRPr lang="es-419" sz="1050" noProof="0" dirty="0"/>
          </a:p>
        </p:txBody>
      </p:sp>
      <p:sp>
        <p:nvSpPr>
          <p:cNvPr id="7" name="Shape 5"/>
          <p:cNvSpPr/>
          <p:nvPr/>
        </p:nvSpPr>
        <p:spPr>
          <a:xfrm>
            <a:off x="274320" y="1645920"/>
            <a:ext cx="4023360" cy="137160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8" name="Shape 6"/>
          <p:cNvSpPr/>
          <p:nvPr/>
        </p:nvSpPr>
        <p:spPr>
          <a:xfrm>
            <a:off x="274320" y="1645920"/>
            <a:ext cx="4023360" cy="384048"/>
          </a:xfrm>
          <a:prstGeom prst="rect">
            <a:avLst/>
          </a:prstGeom>
          <a:solidFill>
            <a:srgbClr val="0D8A7E"/>
          </a:solidFill>
          <a:ln w="12700">
            <a:solidFill>
              <a:srgbClr val="0D8A7E"/>
            </a:solidFill>
            <a:prstDash val="solid"/>
          </a:ln>
        </p:spPr>
        <p:txBody>
          <a:bodyPr/>
          <a:lstStyle/>
          <a:p>
            <a:endParaRPr lang="es-419" noProof="0" dirty="0"/>
          </a:p>
        </p:txBody>
      </p:sp>
      <p:sp>
        <p:nvSpPr>
          <p:cNvPr id="9" name="Text 7"/>
          <p:cNvSpPr/>
          <p:nvPr/>
        </p:nvSpPr>
        <p:spPr>
          <a:xfrm>
            <a:off x="384048" y="1645920"/>
            <a:ext cx="3840480" cy="384048"/>
          </a:xfrm>
          <a:prstGeom prst="rect">
            <a:avLst/>
          </a:prstGeom>
          <a:noFill/>
          <a:ln/>
        </p:spPr>
        <p:txBody>
          <a:bodyPr wrap="square" rtlCol="0" anchor="ctr"/>
          <a:lstStyle/>
          <a:p>
            <a:pPr marL="0" indent="0">
              <a:buNone/>
            </a:pPr>
            <a:r>
              <a:rPr lang="es-419" sz="1200" b="1" noProof="0" dirty="0">
                <a:solidFill>
                  <a:srgbClr val="FFFFFF"/>
                </a:solidFill>
                <a:latin typeface="Calibri" pitchFamily="34" charset="0"/>
                <a:ea typeface="Calibri" pitchFamily="34" charset="-122"/>
                <a:cs typeface="Calibri" pitchFamily="34" charset="-120"/>
              </a:rPr>
              <a:t>Ticket formal</a:t>
            </a:r>
            <a:endParaRPr lang="es-419" sz="1200" noProof="0" dirty="0"/>
          </a:p>
        </p:txBody>
      </p:sp>
      <p:sp>
        <p:nvSpPr>
          <p:cNvPr id="10" name="Text 8"/>
          <p:cNvSpPr/>
          <p:nvPr/>
        </p:nvSpPr>
        <p:spPr>
          <a:xfrm>
            <a:off x="384048" y="2103120"/>
            <a:ext cx="3840480" cy="868680"/>
          </a:xfrm>
          <a:prstGeom prst="rect">
            <a:avLst/>
          </a:prstGeom>
          <a:noFill/>
          <a:ln/>
        </p:spPr>
        <p:txBody>
          <a:bodyPr wrap="square" rtlCol="0" anchor="t"/>
          <a:lstStyle/>
          <a:p>
            <a:pPr marL="0" indent="0">
              <a:buNone/>
            </a:pPr>
            <a:r>
              <a:rPr lang="es-419" sz="1050" noProof="0" dirty="0">
                <a:solidFill>
                  <a:srgbClr val="334155"/>
                </a:solidFill>
                <a:latin typeface="Calibri" pitchFamily="34" charset="0"/>
                <a:ea typeface="Calibri" pitchFamily="34" charset="-122"/>
                <a:cs typeface="Calibri" pitchFamily="34" charset="-120"/>
              </a:rPr>
              <a:t>Documento oficial que ampara cada trabajo de construcción, mejora o mantenimiento realizado en los colegios de la red.</a:t>
            </a:r>
            <a:endParaRPr lang="es-419" sz="1050" noProof="0" dirty="0"/>
          </a:p>
        </p:txBody>
      </p:sp>
      <p:sp>
        <p:nvSpPr>
          <p:cNvPr id="11" name="Shape 9"/>
          <p:cNvSpPr/>
          <p:nvPr/>
        </p:nvSpPr>
        <p:spPr>
          <a:xfrm>
            <a:off x="4617720" y="1645920"/>
            <a:ext cx="4023360" cy="137160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2" name="Shape 10"/>
          <p:cNvSpPr/>
          <p:nvPr/>
        </p:nvSpPr>
        <p:spPr>
          <a:xfrm>
            <a:off x="4617720" y="1645920"/>
            <a:ext cx="4023360" cy="384048"/>
          </a:xfrm>
          <a:prstGeom prst="rect">
            <a:avLst/>
          </a:prstGeom>
          <a:solidFill>
            <a:srgbClr val="1A4B8C"/>
          </a:solidFill>
          <a:ln w="12700">
            <a:solidFill>
              <a:srgbClr val="1A4B8C"/>
            </a:solidFill>
            <a:prstDash val="solid"/>
          </a:ln>
        </p:spPr>
        <p:txBody>
          <a:bodyPr/>
          <a:lstStyle/>
          <a:p>
            <a:endParaRPr lang="es-419" noProof="0" dirty="0"/>
          </a:p>
        </p:txBody>
      </p:sp>
      <p:sp>
        <p:nvSpPr>
          <p:cNvPr id="13" name="Text 11"/>
          <p:cNvSpPr/>
          <p:nvPr/>
        </p:nvSpPr>
        <p:spPr>
          <a:xfrm>
            <a:off x="4727448" y="1645920"/>
            <a:ext cx="3840480" cy="384048"/>
          </a:xfrm>
          <a:prstGeom prst="rect">
            <a:avLst/>
          </a:prstGeom>
          <a:noFill/>
          <a:ln/>
        </p:spPr>
        <p:txBody>
          <a:bodyPr wrap="square" rtlCol="0" anchor="ctr"/>
          <a:lstStyle/>
          <a:p>
            <a:pPr marL="0" indent="0">
              <a:buNone/>
            </a:pPr>
            <a:r>
              <a:rPr lang="es-419" sz="1200" b="1" noProof="0" dirty="0">
                <a:solidFill>
                  <a:srgbClr val="FFFFFF"/>
                </a:solidFill>
                <a:latin typeface="Calibri" pitchFamily="34" charset="0"/>
                <a:ea typeface="Calibri" pitchFamily="34" charset="-122"/>
                <a:cs typeface="Calibri" pitchFamily="34" charset="-120"/>
              </a:rPr>
              <a:t>Con cotizaciones</a:t>
            </a:r>
            <a:endParaRPr lang="es-419" sz="1200" noProof="0" dirty="0"/>
          </a:p>
        </p:txBody>
      </p:sp>
      <p:sp>
        <p:nvSpPr>
          <p:cNvPr id="14" name="Text 12"/>
          <p:cNvSpPr/>
          <p:nvPr/>
        </p:nvSpPr>
        <p:spPr>
          <a:xfrm>
            <a:off x="4727448" y="2103120"/>
            <a:ext cx="3840480" cy="868680"/>
          </a:xfrm>
          <a:prstGeom prst="rect">
            <a:avLst/>
          </a:prstGeom>
          <a:noFill/>
          <a:ln/>
        </p:spPr>
        <p:txBody>
          <a:bodyPr wrap="square" rtlCol="0" anchor="t"/>
          <a:lstStyle/>
          <a:p>
            <a:pPr marL="0" indent="0">
              <a:buNone/>
            </a:pPr>
            <a:r>
              <a:rPr lang="es-419" sz="1050" noProof="0" dirty="0">
                <a:solidFill>
                  <a:srgbClr val="334155"/>
                </a:solidFill>
                <a:latin typeface="Calibri" pitchFamily="34" charset="0"/>
                <a:ea typeface="Calibri" pitchFamily="34" charset="-122"/>
                <a:cs typeface="Calibri" pitchFamily="34" charset="-120"/>
              </a:rPr>
              <a:t>Requiere 1 a 3 cotizaciones de proveedores para seleccionar la opción más conveniente y justificar la elección.</a:t>
            </a:r>
            <a:endParaRPr lang="es-419" sz="1050" noProof="0" dirty="0"/>
          </a:p>
        </p:txBody>
      </p:sp>
      <p:sp>
        <p:nvSpPr>
          <p:cNvPr id="15" name="Shape 13"/>
          <p:cNvSpPr/>
          <p:nvPr/>
        </p:nvSpPr>
        <p:spPr>
          <a:xfrm>
            <a:off x="274320" y="3154680"/>
            <a:ext cx="4023360" cy="137160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6" name="Shape 14"/>
          <p:cNvSpPr/>
          <p:nvPr/>
        </p:nvSpPr>
        <p:spPr>
          <a:xfrm>
            <a:off x="274320" y="3154680"/>
            <a:ext cx="4023360" cy="384048"/>
          </a:xfrm>
          <a:prstGeom prst="rect">
            <a:avLst/>
          </a:prstGeom>
          <a:solidFill>
            <a:srgbClr val="D97706"/>
          </a:solidFill>
          <a:ln w="12700">
            <a:solidFill>
              <a:srgbClr val="D97706"/>
            </a:solidFill>
            <a:prstDash val="solid"/>
          </a:ln>
        </p:spPr>
        <p:txBody>
          <a:bodyPr/>
          <a:lstStyle/>
          <a:p>
            <a:endParaRPr lang="es-419" noProof="0" dirty="0"/>
          </a:p>
        </p:txBody>
      </p:sp>
      <p:sp>
        <p:nvSpPr>
          <p:cNvPr id="17" name="Text 15"/>
          <p:cNvSpPr/>
          <p:nvPr/>
        </p:nvSpPr>
        <p:spPr>
          <a:xfrm>
            <a:off x="384048" y="3154680"/>
            <a:ext cx="3840480" cy="384048"/>
          </a:xfrm>
          <a:prstGeom prst="rect">
            <a:avLst/>
          </a:prstGeom>
          <a:noFill/>
          <a:ln/>
        </p:spPr>
        <p:txBody>
          <a:bodyPr wrap="square" rtlCol="0" anchor="ctr"/>
          <a:lstStyle/>
          <a:p>
            <a:pPr marL="0" indent="0">
              <a:buNone/>
            </a:pPr>
            <a:r>
              <a:rPr lang="es-419" sz="1200" b="1" noProof="0" dirty="0">
                <a:solidFill>
                  <a:srgbClr val="FFFFFF"/>
                </a:solidFill>
                <a:latin typeface="Calibri" pitchFamily="34" charset="0"/>
                <a:ea typeface="Calibri" pitchFamily="34" charset="-122"/>
                <a:cs typeface="Calibri" pitchFamily="34" charset="-120"/>
              </a:rPr>
              <a:t>Ciclo de vida</a:t>
            </a:r>
            <a:endParaRPr lang="es-419" sz="1200" noProof="0" dirty="0"/>
          </a:p>
        </p:txBody>
      </p:sp>
      <p:sp>
        <p:nvSpPr>
          <p:cNvPr id="18" name="Text 16"/>
          <p:cNvSpPr/>
          <p:nvPr/>
        </p:nvSpPr>
        <p:spPr>
          <a:xfrm>
            <a:off x="384048" y="3611880"/>
            <a:ext cx="3840480" cy="868680"/>
          </a:xfrm>
          <a:prstGeom prst="rect">
            <a:avLst/>
          </a:prstGeom>
          <a:noFill/>
          <a:ln/>
        </p:spPr>
        <p:txBody>
          <a:bodyPr wrap="square" rtlCol="0" anchor="t"/>
          <a:lstStyle/>
          <a:p>
            <a:pPr marL="0" indent="0">
              <a:buNone/>
            </a:pPr>
            <a:r>
              <a:rPr lang="es-419" sz="1050" noProof="0" dirty="0">
                <a:solidFill>
                  <a:srgbClr val="334155"/>
                </a:solidFill>
                <a:latin typeface="Calibri" pitchFamily="34" charset="0"/>
                <a:ea typeface="Calibri" pitchFamily="34" charset="-122"/>
                <a:cs typeface="Calibri" pitchFamily="34" charset="-120"/>
              </a:rPr>
              <a:t>Tiene estatus: Pendiente → En Revisión → Autorizado o Cancelado. El coordinador controla cada transición.</a:t>
            </a:r>
            <a:endParaRPr lang="es-419" sz="1050" noProof="0" dirty="0"/>
          </a:p>
        </p:txBody>
      </p:sp>
      <p:sp>
        <p:nvSpPr>
          <p:cNvPr id="19" name="Shape 17"/>
          <p:cNvSpPr/>
          <p:nvPr/>
        </p:nvSpPr>
        <p:spPr>
          <a:xfrm>
            <a:off x="4617720" y="3154680"/>
            <a:ext cx="4023360" cy="137160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20" name="Shape 18"/>
          <p:cNvSpPr/>
          <p:nvPr/>
        </p:nvSpPr>
        <p:spPr>
          <a:xfrm>
            <a:off x="4617720" y="3154680"/>
            <a:ext cx="4023360" cy="384048"/>
          </a:xfrm>
          <a:prstGeom prst="rect">
            <a:avLst/>
          </a:prstGeom>
          <a:solidFill>
            <a:srgbClr val="166534"/>
          </a:solidFill>
          <a:ln w="12700">
            <a:solidFill>
              <a:srgbClr val="166534"/>
            </a:solidFill>
            <a:prstDash val="solid"/>
          </a:ln>
        </p:spPr>
        <p:txBody>
          <a:bodyPr/>
          <a:lstStyle/>
          <a:p>
            <a:endParaRPr lang="es-419" noProof="0" dirty="0"/>
          </a:p>
        </p:txBody>
      </p:sp>
      <p:sp>
        <p:nvSpPr>
          <p:cNvPr id="21" name="Text 19"/>
          <p:cNvSpPr/>
          <p:nvPr/>
        </p:nvSpPr>
        <p:spPr>
          <a:xfrm>
            <a:off x="4727448" y="3154680"/>
            <a:ext cx="3840480" cy="384048"/>
          </a:xfrm>
          <a:prstGeom prst="rect">
            <a:avLst/>
          </a:prstGeom>
          <a:noFill/>
          <a:ln/>
        </p:spPr>
        <p:txBody>
          <a:bodyPr wrap="square" rtlCol="0" anchor="ctr"/>
          <a:lstStyle/>
          <a:p>
            <a:pPr marL="0" indent="0">
              <a:buNone/>
            </a:pPr>
            <a:r>
              <a:rPr lang="es-419" sz="1200" b="1" noProof="0" dirty="0">
                <a:solidFill>
                  <a:srgbClr val="FFFFFF"/>
                </a:solidFill>
                <a:latin typeface="Calibri" pitchFamily="34" charset="0"/>
                <a:ea typeface="Calibri" pitchFamily="34" charset="-122"/>
                <a:cs typeface="Calibri" pitchFamily="34" charset="-120"/>
              </a:rPr>
              <a:t>PDF con firma</a:t>
            </a:r>
            <a:endParaRPr lang="es-419" sz="1200" noProof="0" dirty="0"/>
          </a:p>
        </p:txBody>
      </p:sp>
      <p:sp>
        <p:nvSpPr>
          <p:cNvPr id="22" name="Text 20"/>
          <p:cNvSpPr/>
          <p:nvPr/>
        </p:nvSpPr>
        <p:spPr>
          <a:xfrm>
            <a:off x="4727448" y="3611880"/>
            <a:ext cx="3840480" cy="868680"/>
          </a:xfrm>
          <a:prstGeom prst="rect">
            <a:avLst/>
          </a:prstGeom>
          <a:noFill/>
          <a:ln/>
        </p:spPr>
        <p:txBody>
          <a:bodyPr wrap="square" rtlCol="0" anchor="t"/>
          <a:lstStyle/>
          <a:p>
            <a:pPr marL="0" indent="0">
              <a:buNone/>
            </a:pPr>
            <a:r>
              <a:rPr lang="es-419" sz="1050" noProof="0" dirty="0">
                <a:solidFill>
                  <a:srgbClr val="334155"/>
                </a:solidFill>
                <a:latin typeface="Calibri" pitchFamily="34" charset="0"/>
                <a:ea typeface="Calibri" pitchFamily="34" charset="-122"/>
                <a:cs typeface="Calibri" pitchFamily="34" charset="-120"/>
              </a:rPr>
              <a:t>Al autorizarse, genera un documento PDF formal con la firma del Coordinador de Obras RCMA para sus registros.</a:t>
            </a:r>
            <a:endParaRPr lang="es-419" sz="105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8A7E"/>
          </a:solidFill>
          <a:ln w="12700">
            <a:solidFill>
              <a:srgbClr val="0D8A7E"/>
            </a:solidFill>
            <a:prstDash val="solid"/>
          </a:ln>
        </p:spPr>
        <p:txBody>
          <a:bodyPr/>
          <a:lstStyle/>
          <a:p>
            <a:endParaRPr lang="es-419" noProof="0" dirty="0"/>
          </a:p>
        </p:txBody>
      </p:sp>
      <p:sp>
        <p:nvSpPr>
          <p:cNvPr id="3" name="Text 1"/>
          <p:cNvSpPr/>
          <p:nvPr/>
        </p:nvSpPr>
        <p:spPr>
          <a:xfrm>
            <a:off x="365760" y="91440"/>
            <a:ext cx="8412480" cy="731520"/>
          </a:xfrm>
          <a:prstGeom prst="rect">
            <a:avLst/>
          </a:prstGeom>
          <a:noFill/>
          <a:ln/>
        </p:spPr>
        <p:txBody>
          <a:bodyPr wrap="square" rtlCol="0" anchor="ctr"/>
          <a:lstStyle/>
          <a:p>
            <a:pPr marL="0" indent="0" algn="l">
              <a:buNone/>
            </a:pPr>
            <a:r>
              <a:rPr lang="es-419" sz="2000" b="1" noProof="0" dirty="0">
                <a:solidFill>
                  <a:srgbClr val="FFFFFF"/>
                </a:solidFill>
                <a:latin typeface="Calibri" pitchFamily="34" charset="0"/>
                <a:ea typeface="Calibri" pitchFamily="34" charset="-122"/>
                <a:cs typeface="Calibri" pitchFamily="34" charset="-120"/>
              </a:rPr>
              <a:t>Cómo llenar el Ticket — Datos Generales</a:t>
            </a:r>
            <a:endParaRPr lang="es-419" sz="2000" noProof="0" dirty="0"/>
          </a:p>
        </p:txBody>
      </p:sp>
      <p:sp>
        <p:nvSpPr>
          <p:cNvPr id="4" name="Shape 2"/>
          <p:cNvSpPr/>
          <p:nvPr/>
        </p:nvSpPr>
        <p:spPr>
          <a:xfrm>
            <a:off x="274320" y="960120"/>
            <a:ext cx="8595360" cy="402336"/>
          </a:xfrm>
          <a:prstGeom prst="roundRect">
            <a:avLst>
              <a:gd name="adj" fmla="val 11364"/>
            </a:avLst>
          </a:prstGeom>
          <a:solidFill>
            <a:srgbClr val="ECFDF5"/>
          </a:solidFill>
          <a:ln w="12700">
            <a:solidFill>
              <a:srgbClr val="6EE7B7"/>
            </a:solidFill>
            <a:prstDash val="solid"/>
          </a:ln>
        </p:spPr>
        <p:txBody>
          <a:bodyPr/>
          <a:lstStyle/>
          <a:p>
            <a:endParaRPr lang="es-419" noProof="0" dirty="0"/>
          </a:p>
        </p:txBody>
      </p:sp>
      <p:sp>
        <p:nvSpPr>
          <p:cNvPr id="5" name="Text 3"/>
          <p:cNvSpPr/>
          <p:nvPr/>
        </p:nvSpPr>
        <p:spPr>
          <a:xfrm>
            <a:off x="457200" y="978408"/>
            <a:ext cx="8321040" cy="365760"/>
          </a:xfrm>
          <a:prstGeom prst="rect">
            <a:avLst/>
          </a:prstGeom>
          <a:noFill/>
          <a:ln/>
        </p:spPr>
        <p:txBody>
          <a:bodyPr wrap="square" rtlCol="0" anchor="ctr"/>
          <a:lstStyle/>
          <a:p>
            <a:pPr marL="0" indent="0">
              <a:buNone/>
            </a:pPr>
            <a:r>
              <a:rPr lang="es-419" sz="1000" noProof="0" dirty="0">
                <a:solidFill>
                  <a:srgbClr val="166534"/>
                </a:solidFill>
                <a:latin typeface="Calibri" pitchFamily="34" charset="0"/>
                <a:ea typeface="Calibri" pitchFamily="34" charset="-122"/>
                <a:cs typeface="Calibri" pitchFamily="34" charset="-120"/>
              </a:rPr>
              <a:t>✅  Al seleccionar el colegio, se llenan automáticamente: Razón Social, Sociedad, Centro Gestor, Territorio, Director, Administrador y Contador.</a:t>
            </a:r>
            <a:endParaRPr lang="es-419" sz="1000" noProof="0" dirty="0"/>
          </a:p>
        </p:txBody>
      </p:sp>
      <p:sp>
        <p:nvSpPr>
          <p:cNvPr id="6" name="Shape 4"/>
          <p:cNvSpPr/>
          <p:nvPr/>
        </p:nvSpPr>
        <p:spPr>
          <a:xfrm>
            <a:off x="274320" y="1435608"/>
            <a:ext cx="8595360" cy="402336"/>
          </a:xfrm>
          <a:prstGeom prst="rect">
            <a:avLst/>
          </a:prstGeom>
          <a:solidFill>
            <a:srgbClr val="F1F5F9"/>
          </a:solidFill>
          <a:ln w="12700">
            <a:solidFill>
              <a:srgbClr val="E2E8F0"/>
            </a:solidFill>
            <a:prstDash val="solid"/>
          </a:ln>
        </p:spPr>
        <p:txBody>
          <a:bodyPr/>
          <a:lstStyle/>
          <a:p>
            <a:endParaRPr lang="es-419" noProof="0" dirty="0"/>
          </a:p>
        </p:txBody>
      </p:sp>
      <p:sp>
        <p:nvSpPr>
          <p:cNvPr id="7" name="Shape 5"/>
          <p:cNvSpPr/>
          <p:nvPr/>
        </p:nvSpPr>
        <p:spPr>
          <a:xfrm>
            <a:off x="274320" y="1435608"/>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8" name="Text 6"/>
          <p:cNvSpPr/>
          <p:nvPr/>
        </p:nvSpPr>
        <p:spPr>
          <a:xfrm>
            <a:off x="411480" y="1435608"/>
            <a:ext cx="2194560" cy="402336"/>
          </a:xfrm>
          <a:prstGeom prst="rect">
            <a:avLst/>
          </a:prstGeom>
          <a:noFill/>
          <a:ln/>
        </p:spPr>
        <p:txBody>
          <a:bodyPr wrap="square" rtlCol="0" anchor="ctr"/>
          <a:lstStyle/>
          <a:p>
            <a:pPr marL="0" indent="0">
              <a:buNone/>
            </a:pPr>
            <a:r>
              <a:rPr lang="es-419" sz="1050" b="1" noProof="0" dirty="0">
                <a:solidFill>
                  <a:srgbClr val="334155"/>
                </a:solidFill>
                <a:latin typeface="Calibri" pitchFamily="34" charset="0"/>
                <a:ea typeface="Calibri" pitchFamily="34" charset="-122"/>
                <a:cs typeface="Calibri" pitchFamily="34" charset="-120"/>
              </a:rPr>
              <a:t>Colegio *</a:t>
            </a:r>
            <a:endParaRPr lang="es-419" sz="1050" noProof="0" dirty="0"/>
          </a:p>
        </p:txBody>
      </p:sp>
      <p:sp>
        <p:nvSpPr>
          <p:cNvPr id="9" name="Text 7"/>
          <p:cNvSpPr/>
          <p:nvPr/>
        </p:nvSpPr>
        <p:spPr>
          <a:xfrm>
            <a:off x="2651760" y="1435608"/>
            <a:ext cx="6172200" cy="402336"/>
          </a:xfrm>
          <a:prstGeom prst="rect">
            <a:avLst/>
          </a:prstGeom>
          <a:noFill/>
          <a:ln/>
        </p:spPr>
        <p:txBody>
          <a:bodyPr wrap="square" rtlCol="0" anchor="ctr"/>
          <a:lstStyle/>
          <a:p>
            <a:pPr marL="0" indent="0">
              <a:buNone/>
            </a:pPr>
            <a:r>
              <a:rPr lang="es-419" sz="1000" noProof="0" dirty="0">
                <a:solidFill>
                  <a:srgbClr val="64748B"/>
                </a:solidFill>
                <a:latin typeface="Calibri" pitchFamily="34" charset="0"/>
                <a:ea typeface="Calibri" pitchFamily="34" charset="-122"/>
                <a:cs typeface="Calibri" pitchFamily="34" charset="-120"/>
              </a:rPr>
              <a:t>Elige de la lista. Al seleccionar, se </a:t>
            </a:r>
            <a:r>
              <a:rPr lang="es-419" sz="1000" noProof="0" dirty="0" err="1">
                <a:solidFill>
                  <a:srgbClr val="64748B"/>
                </a:solidFill>
                <a:latin typeface="Calibri" pitchFamily="34" charset="0"/>
                <a:ea typeface="Calibri" pitchFamily="34" charset="-122"/>
                <a:cs typeface="Calibri" pitchFamily="34" charset="-120"/>
              </a:rPr>
              <a:t>auto-rellena</a:t>
            </a:r>
            <a:r>
              <a:rPr lang="es-419" sz="1000" noProof="0" dirty="0">
                <a:solidFill>
                  <a:srgbClr val="64748B"/>
                </a:solidFill>
                <a:latin typeface="Calibri" pitchFamily="34" charset="0"/>
                <a:ea typeface="Calibri" pitchFamily="34" charset="-122"/>
                <a:cs typeface="Calibri" pitchFamily="34" charset="-120"/>
              </a:rPr>
              <a:t> toda la información institucional del plantel.</a:t>
            </a:r>
            <a:endParaRPr lang="es-419" sz="1000" noProof="0" dirty="0"/>
          </a:p>
        </p:txBody>
      </p:sp>
      <p:sp>
        <p:nvSpPr>
          <p:cNvPr id="10" name="Shape 8"/>
          <p:cNvSpPr/>
          <p:nvPr/>
        </p:nvSpPr>
        <p:spPr>
          <a:xfrm>
            <a:off x="274320" y="1883664"/>
            <a:ext cx="8595360" cy="402336"/>
          </a:xfrm>
          <a:prstGeom prst="rect">
            <a:avLst/>
          </a:prstGeom>
          <a:solidFill>
            <a:srgbClr val="FFFFFF"/>
          </a:solidFill>
          <a:ln w="12700">
            <a:solidFill>
              <a:srgbClr val="E2E8F0"/>
            </a:solidFill>
            <a:prstDash val="solid"/>
          </a:ln>
        </p:spPr>
        <p:txBody>
          <a:bodyPr/>
          <a:lstStyle/>
          <a:p>
            <a:endParaRPr lang="es-419" noProof="0" dirty="0"/>
          </a:p>
        </p:txBody>
      </p:sp>
      <p:sp>
        <p:nvSpPr>
          <p:cNvPr id="11" name="Shape 9"/>
          <p:cNvSpPr/>
          <p:nvPr/>
        </p:nvSpPr>
        <p:spPr>
          <a:xfrm>
            <a:off x="274320" y="1883664"/>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12" name="Text 10"/>
          <p:cNvSpPr/>
          <p:nvPr/>
        </p:nvSpPr>
        <p:spPr>
          <a:xfrm>
            <a:off x="411480" y="1883664"/>
            <a:ext cx="2194560" cy="402336"/>
          </a:xfrm>
          <a:prstGeom prst="rect">
            <a:avLst/>
          </a:prstGeom>
          <a:noFill/>
          <a:ln/>
        </p:spPr>
        <p:txBody>
          <a:bodyPr wrap="square" rtlCol="0" anchor="ctr"/>
          <a:lstStyle/>
          <a:p>
            <a:pPr marL="0" indent="0">
              <a:buNone/>
            </a:pPr>
            <a:r>
              <a:rPr lang="es-419" sz="1050" b="1" noProof="0" dirty="0">
                <a:solidFill>
                  <a:srgbClr val="334155"/>
                </a:solidFill>
                <a:latin typeface="Calibri" pitchFamily="34" charset="0"/>
                <a:ea typeface="Calibri" pitchFamily="34" charset="-122"/>
                <a:cs typeface="Calibri" pitchFamily="34" charset="-120"/>
              </a:rPr>
              <a:t>Nombre Solicitante *</a:t>
            </a:r>
            <a:endParaRPr lang="es-419" sz="1050" noProof="0" dirty="0"/>
          </a:p>
        </p:txBody>
      </p:sp>
      <p:sp>
        <p:nvSpPr>
          <p:cNvPr id="13" name="Text 11"/>
          <p:cNvSpPr/>
          <p:nvPr/>
        </p:nvSpPr>
        <p:spPr>
          <a:xfrm>
            <a:off x="2651760" y="1883664"/>
            <a:ext cx="6172200" cy="402336"/>
          </a:xfrm>
          <a:prstGeom prst="rect">
            <a:avLst/>
          </a:prstGeom>
          <a:noFill/>
          <a:ln/>
        </p:spPr>
        <p:txBody>
          <a:bodyPr wrap="square" rtlCol="0" anchor="ctr"/>
          <a:lstStyle/>
          <a:p>
            <a:pPr marL="0" indent="0">
              <a:buNone/>
            </a:pPr>
            <a:r>
              <a:rPr lang="es-419" sz="1000" noProof="0" dirty="0">
                <a:solidFill>
                  <a:srgbClr val="64748B"/>
                </a:solidFill>
                <a:latin typeface="Calibri" pitchFamily="34" charset="0"/>
                <a:ea typeface="Calibri" pitchFamily="34" charset="-122"/>
                <a:cs typeface="Calibri" pitchFamily="34" charset="-120"/>
              </a:rPr>
              <a:t>Director o Administrador que genera el ticket. Tu nombre completo.</a:t>
            </a:r>
            <a:endParaRPr lang="es-419" sz="1000" noProof="0" dirty="0"/>
          </a:p>
        </p:txBody>
      </p:sp>
      <p:sp>
        <p:nvSpPr>
          <p:cNvPr id="14" name="Shape 12"/>
          <p:cNvSpPr/>
          <p:nvPr/>
        </p:nvSpPr>
        <p:spPr>
          <a:xfrm>
            <a:off x="274320" y="2331720"/>
            <a:ext cx="8595360" cy="402336"/>
          </a:xfrm>
          <a:prstGeom prst="rect">
            <a:avLst/>
          </a:prstGeom>
          <a:solidFill>
            <a:srgbClr val="F1F5F9"/>
          </a:solidFill>
          <a:ln w="12700">
            <a:solidFill>
              <a:srgbClr val="E2E8F0"/>
            </a:solidFill>
            <a:prstDash val="solid"/>
          </a:ln>
        </p:spPr>
        <p:txBody>
          <a:bodyPr/>
          <a:lstStyle/>
          <a:p>
            <a:endParaRPr lang="es-419" noProof="0" dirty="0"/>
          </a:p>
        </p:txBody>
      </p:sp>
      <p:sp>
        <p:nvSpPr>
          <p:cNvPr id="15" name="Shape 13"/>
          <p:cNvSpPr/>
          <p:nvPr/>
        </p:nvSpPr>
        <p:spPr>
          <a:xfrm>
            <a:off x="274320" y="2331720"/>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16" name="Text 14"/>
          <p:cNvSpPr/>
          <p:nvPr/>
        </p:nvSpPr>
        <p:spPr>
          <a:xfrm>
            <a:off x="411480" y="2331720"/>
            <a:ext cx="2194560" cy="402336"/>
          </a:xfrm>
          <a:prstGeom prst="rect">
            <a:avLst/>
          </a:prstGeom>
          <a:noFill/>
          <a:ln/>
        </p:spPr>
        <p:txBody>
          <a:bodyPr wrap="square" rtlCol="0" anchor="ctr"/>
          <a:lstStyle/>
          <a:p>
            <a:pPr marL="0" indent="0">
              <a:buNone/>
            </a:pPr>
            <a:r>
              <a:rPr lang="es-419" sz="1050" b="1" noProof="0" dirty="0">
                <a:solidFill>
                  <a:srgbClr val="334155"/>
                </a:solidFill>
                <a:latin typeface="Calibri" pitchFamily="34" charset="0"/>
                <a:ea typeface="Calibri" pitchFamily="34" charset="-122"/>
                <a:cs typeface="Calibri" pitchFamily="34" charset="-120"/>
              </a:rPr>
              <a:t>Puesto Solicitante *</a:t>
            </a:r>
            <a:endParaRPr lang="es-419" sz="1050" noProof="0" dirty="0"/>
          </a:p>
        </p:txBody>
      </p:sp>
      <p:sp>
        <p:nvSpPr>
          <p:cNvPr id="17" name="Text 15"/>
          <p:cNvSpPr/>
          <p:nvPr/>
        </p:nvSpPr>
        <p:spPr>
          <a:xfrm>
            <a:off x="2651760" y="2331720"/>
            <a:ext cx="6172200" cy="402336"/>
          </a:xfrm>
          <a:prstGeom prst="rect">
            <a:avLst/>
          </a:prstGeom>
          <a:noFill/>
          <a:ln/>
        </p:spPr>
        <p:txBody>
          <a:bodyPr wrap="square" rtlCol="0" anchor="ctr"/>
          <a:lstStyle/>
          <a:p>
            <a:pPr marL="0" indent="0">
              <a:buNone/>
            </a:pPr>
            <a:r>
              <a:rPr lang="es-419" sz="1000" noProof="0" dirty="0">
                <a:solidFill>
                  <a:srgbClr val="64748B"/>
                </a:solidFill>
                <a:latin typeface="Calibri" pitchFamily="34" charset="0"/>
                <a:ea typeface="Calibri" pitchFamily="34" charset="-122"/>
                <a:cs typeface="Calibri" pitchFamily="34" charset="-120"/>
              </a:rPr>
              <a:t>Director, Administrador, Coordinador, etc.</a:t>
            </a:r>
            <a:endParaRPr lang="es-419" sz="1000" noProof="0" dirty="0"/>
          </a:p>
        </p:txBody>
      </p:sp>
      <p:sp>
        <p:nvSpPr>
          <p:cNvPr id="18" name="Shape 16"/>
          <p:cNvSpPr/>
          <p:nvPr/>
        </p:nvSpPr>
        <p:spPr>
          <a:xfrm>
            <a:off x="274320" y="2779776"/>
            <a:ext cx="8595360" cy="402336"/>
          </a:xfrm>
          <a:prstGeom prst="rect">
            <a:avLst/>
          </a:prstGeom>
          <a:solidFill>
            <a:srgbClr val="FFFFFF"/>
          </a:solidFill>
          <a:ln w="12700">
            <a:solidFill>
              <a:srgbClr val="E2E8F0"/>
            </a:solidFill>
            <a:prstDash val="solid"/>
          </a:ln>
        </p:spPr>
        <p:txBody>
          <a:bodyPr/>
          <a:lstStyle/>
          <a:p>
            <a:endParaRPr lang="es-419" noProof="0" dirty="0"/>
          </a:p>
        </p:txBody>
      </p:sp>
      <p:sp>
        <p:nvSpPr>
          <p:cNvPr id="19" name="Shape 17"/>
          <p:cNvSpPr/>
          <p:nvPr/>
        </p:nvSpPr>
        <p:spPr>
          <a:xfrm>
            <a:off x="274320" y="2779776"/>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20" name="Text 18"/>
          <p:cNvSpPr/>
          <p:nvPr/>
        </p:nvSpPr>
        <p:spPr>
          <a:xfrm>
            <a:off x="411480" y="2779776"/>
            <a:ext cx="2194560" cy="402336"/>
          </a:xfrm>
          <a:prstGeom prst="rect">
            <a:avLst/>
          </a:prstGeom>
          <a:noFill/>
          <a:ln/>
        </p:spPr>
        <p:txBody>
          <a:bodyPr wrap="square" rtlCol="0" anchor="ctr"/>
          <a:lstStyle/>
          <a:p>
            <a:pPr marL="0" indent="0">
              <a:buNone/>
            </a:pPr>
            <a:r>
              <a:rPr lang="es-419" sz="1050" b="1" noProof="0" dirty="0">
                <a:solidFill>
                  <a:srgbClr val="334155"/>
                </a:solidFill>
                <a:latin typeface="Calibri" pitchFamily="34" charset="0"/>
                <a:ea typeface="Calibri" pitchFamily="34" charset="-122"/>
                <a:cs typeface="Calibri" pitchFamily="34" charset="-120"/>
              </a:rPr>
              <a:t>Correo Solicitante *</a:t>
            </a:r>
            <a:endParaRPr lang="es-419" sz="1050" noProof="0" dirty="0"/>
          </a:p>
        </p:txBody>
      </p:sp>
      <p:sp>
        <p:nvSpPr>
          <p:cNvPr id="21" name="Text 19"/>
          <p:cNvSpPr/>
          <p:nvPr/>
        </p:nvSpPr>
        <p:spPr>
          <a:xfrm>
            <a:off x="2651760" y="2779776"/>
            <a:ext cx="6172200" cy="402336"/>
          </a:xfrm>
          <a:prstGeom prst="rect">
            <a:avLst/>
          </a:prstGeom>
          <a:noFill/>
          <a:ln/>
        </p:spPr>
        <p:txBody>
          <a:bodyPr wrap="square" rtlCol="0" anchor="ctr"/>
          <a:lstStyle/>
          <a:p>
            <a:pPr marL="0" indent="0">
              <a:buNone/>
            </a:pPr>
            <a:r>
              <a:rPr lang="es-419" sz="1000" noProof="0" dirty="0">
                <a:solidFill>
                  <a:srgbClr val="64748B"/>
                </a:solidFill>
                <a:latin typeface="Calibri" pitchFamily="34" charset="0"/>
                <a:ea typeface="Calibri" pitchFamily="34" charset="-122"/>
                <a:cs typeface="Calibri" pitchFamily="34" charset="-120"/>
              </a:rPr>
              <a:t>Recibirás la notificación de autorización o cancelación en este correo.</a:t>
            </a:r>
            <a:endParaRPr lang="es-419" sz="1000" noProof="0" dirty="0"/>
          </a:p>
        </p:txBody>
      </p:sp>
      <p:sp>
        <p:nvSpPr>
          <p:cNvPr id="22" name="Shape 20"/>
          <p:cNvSpPr/>
          <p:nvPr/>
        </p:nvSpPr>
        <p:spPr>
          <a:xfrm>
            <a:off x="274320" y="3227832"/>
            <a:ext cx="8595360" cy="402336"/>
          </a:xfrm>
          <a:prstGeom prst="rect">
            <a:avLst/>
          </a:prstGeom>
          <a:solidFill>
            <a:srgbClr val="F1F5F9"/>
          </a:solidFill>
          <a:ln w="12700">
            <a:solidFill>
              <a:srgbClr val="E2E8F0"/>
            </a:solidFill>
            <a:prstDash val="solid"/>
          </a:ln>
        </p:spPr>
        <p:txBody>
          <a:bodyPr/>
          <a:lstStyle/>
          <a:p>
            <a:endParaRPr lang="es-419" noProof="0" dirty="0"/>
          </a:p>
        </p:txBody>
      </p:sp>
      <p:sp>
        <p:nvSpPr>
          <p:cNvPr id="23" name="Shape 21"/>
          <p:cNvSpPr/>
          <p:nvPr/>
        </p:nvSpPr>
        <p:spPr>
          <a:xfrm>
            <a:off x="274320" y="3227832"/>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24" name="Text 22"/>
          <p:cNvSpPr/>
          <p:nvPr/>
        </p:nvSpPr>
        <p:spPr>
          <a:xfrm>
            <a:off x="411480" y="3227832"/>
            <a:ext cx="2194560" cy="402336"/>
          </a:xfrm>
          <a:prstGeom prst="rect">
            <a:avLst/>
          </a:prstGeom>
          <a:noFill/>
          <a:ln/>
        </p:spPr>
        <p:txBody>
          <a:bodyPr wrap="square" rtlCol="0" anchor="ctr"/>
          <a:lstStyle/>
          <a:p>
            <a:pPr marL="0" indent="0">
              <a:buNone/>
            </a:pPr>
            <a:r>
              <a:rPr lang="es-419" sz="1050" b="1" noProof="0" dirty="0">
                <a:solidFill>
                  <a:srgbClr val="334155"/>
                </a:solidFill>
                <a:latin typeface="Calibri" pitchFamily="34" charset="0"/>
                <a:ea typeface="Calibri" pitchFamily="34" charset="-122"/>
                <a:cs typeface="Calibri" pitchFamily="34" charset="-120"/>
              </a:rPr>
              <a:t>Clasificación *</a:t>
            </a:r>
            <a:endParaRPr lang="es-419" sz="1050" noProof="0" dirty="0"/>
          </a:p>
        </p:txBody>
      </p:sp>
      <p:sp>
        <p:nvSpPr>
          <p:cNvPr id="25" name="Text 23"/>
          <p:cNvSpPr/>
          <p:nvPr/>
        </p:nvSpPr>
        <p:spPr>
          <a:xfrm>
            <a:off x="2651760" y="3227832"/>
            <a:ext cx="6172200" cy="402336"/>
          </a:xfrm>
          <a:prstGeom prst="rect">
            <a:avLst/>
          </a:prstGeom>
          <a:noFill/>
          <a:ln/>
        </p:spPr>
        <p:txBody>
          <a:bodyPr wrap="square" rtlCol="0" anchor="ctr"/>
          <a:lstStyle/>
          <a:p>
            <a:pPr marL="0" indent="0">
              <a:buNone/>
            </a:pPr>
            <a:r>
              <a:rPr lang="es-419" sz="1000" noProof="0" dirty="0">
                <a:solidFill>
                  <a:srgbClr val="64748B"/>
                </a:solidFill>
                <a:latin typeface="Calibri" pitchFamily="34" charset="0"/>
                <a:ea typeface="Calibri" pitchFamily="34" charset="-122"/>
                <a:cs typeface="Calibri" pitchFamily="34" charset="-120"/>
              </a:rPr>
              <a:t>Define el tipo de trabajo: </a:t>
            </a:r>
            <a:r>
              <a:rPr lang="es-419" sz="1000" noProof="0" dirty="0" err="1">
                <a:solidFill>
                  <a:srgbClr val="64748B"/>
                </a:solidFill>
                <a:latin typeface="Calibri" pitchFamily="34" charset="0"/>
                <a:ea typeface="Calibri" pitchFamily="34" charset="-122"/>
                <a:cs typeface="Calibri" pitchFamily="34" charset="-120"/>
              </a:rPr>
              <a:t>Construccion</a:t>
            </a:r>
            <a:r>
              <a:rPr lang="es-419" sz="1000" noProof="0" dirty="0">
                <a:solidFill>
                  <a:srgbClr val="64748B"/>
                </a:solidFill>
                <a:latin typeface="Calibri" pitchFamily="34" charset="0"/>
                <a:ea typeface="Calibri" pitchFamily="34" charset="-122"/>
                <a:cs typeface="Calibri" pitchFamily="34" charset="-120"/>
              </a:rPr>
              <a:t> Nueva, </a:t>
            </a:r>
            <a:r>
              <a:rPr lang="es-419" sz="1000" noProof="0" dirty="0" err="1">
                <a:solidFill>
                  <a:srgbClr val="64748B"/>
                </a:solidFill>
                <a:latin typeface="Calibri" pitchFamily="34" charset="0"/>
                <a:ea typeface="Calibri" pitchFamily="34" charset="-122"/>
                <a:cs typeface="Calibri" pitchFamily="34" charset="-120"/>
              </a:rPr>
              <a:t>Remodelacion</a:t>
            </a:r>
            <a:r>
              <a:rPr lang="es-419" sz="1000" noProof="0" dirty="0">
                <a:solidFill>
                  <a:srgbClr val="64748B"/>
                </a:solidFill>
                <a:latin typeface="Calibri" pitchFamily="34" charset="0"/>
                <a:ea typeface="Calibri" pitchFamily="34" charset="-122"/>
                <a:cs typeface="Calibri" pitchFamily="34" charset="-120"/>
              </a:rPr>
              <a:t>, Mantenimiento Ordinario, Mantenimiento Extraordinario, Mejora, </a:t>
            </a:r>
            <a:r>
              <a:rPr lang="es-419" sz="1000" noProof="0" dirty="0" err="1">
                <a:solidFill>
                  <a:srgbClr val="64748B"/>
                </a:solidFill>
                <a:latin typeface="Calibri" pitchFamily="34" charset="0"/>
                <a:ea typeface="Calibri" pitchFamily="34" charset="-122"/>
                <a:cs typeface="Calibri" pitchFamily="34" charset="-120"/>
              </a:rPr>
              <a:t>Ampliacion</a:t>
            </a:r>
            <a:r>
              <a:rPr lang="es-419" sz="1000" noProof="0" dirty="0">
                <a:solidFill>
                  <a:srgbClr val="64748B"/>
                </a:solidFill>
                <a:latin typeface="Calibri" pitchFamily="34" charset="0"/>
                <a:ea typeface="Calibri" pitchFamily="34" charset="-122"/>
                <a:cs typeface="Calibri" pitchFamily="34" charset="-120"/>
              </a:rPr>
              <a:t>, etc.</a:t>
            </a:r>
            <a:endParaRPr lang="es-419" sz="1000" noProof="0" dirty="0"/>
          </a:p>
        </p:txBody>
      </p:sp>
      <p:sp>
        <p:nvSpPr>
          <p:cNvPr id="26" name="Shape 24"/>
          <p:cNvSpPr/>
          <p:nvPr/>
        </p:nvSpPr>
        <p:spPr>
          <a:xfrm>
            <a:off x="274320" y="3675888"/>
            <a:ext cx="8595360" cy="402336"/>
          </a:xfrm>
          <a:prstGeom prst="rect">
            <a:avLst/>
          </a:prstGeom>
          <a:solidFill>
            <a:srgbClr val="FFFFFF"/>
          </a:solidFill>
          <a:ln w="12700">
            <a:solidFill>
              <a:srgbClr val="E2E8F0"/>
            </a:solidFill>
            <a:prstDash val="solid"/>
          </a:ln>
        </p:spPr>
        <p:txBody>
          <a:bodyPr/>
          <a:lstStyle/>
          <a:p>
            <a:endParaRPr lang="es-419" noProof="0" dirty="0"/>
          </a:p>
        </p:txBody>
      </p:sp>
      <p:sp>
        <p:nvSpPr>
          <p:cNvPr id="27" name="Shape 25"/>
          <p:cNvSpPr/>
          <p:nvPr/>
        </p:nvSpPr>
        <p:spPr>
          <a:xfrm>
            <a:off x="274320" y="3675888"/>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28" name="Text 26"/>
          <p:cNvSpPr/>
          <p:nvPr/>
        </p:nvSpPr>
        <p:spPr>
          <a:xfrm>
            <a:off x="411480" y="3675888"/>
            <a:ext cx="2194560" cy="402336"/>
          </a:xfrm>
          <a:prstGeom prst="rect">
            <a:avLst/>
          </a:prstGeom>
          <a:noFill/>
          <a:ln/>
        </p:spPr>
        <p:txBody>
          <a:bodyPr wrap="square" rtlCol="0" anchor="ctr"/>
          <a:lstStyle/>
          <a:p>
            <a:pPr marL="0" indent="0">
              <a:buNone/>
            </a:pPr>
            <a:r>
              <a:rPr lang="es-419" sz="1050" b="1" noProof="0" dirty="0">
                <a:solidFill>
                  <a:srgbClr val="334155"/>
                </a:solidFill>
                <a:latin typeface="Calibri" pitchFamily="34" charset="0"/>
                <a:ea typeface="Calibri" pitchFamily="34" charset="-122"/>
                <a:cs typeface="Calibri" pitchFamily="34" charset="-120"/>
              </a:rPr>
              <a:t>Periodicidad</a:t>
            </a:r>
            <a:endParaRPr lang="es-419" sz="1050" noProof="0" dirty="0"/>
          </a:p>
        </p:txBody>
      </p:sp>
      <p:sp>
        <p:nvSpPr>
          <p:cNvPr id="29" name="Text 27"/>
          <p:cNvSpPr/>
          <p:nvPr/>
        </p:nvSpPr>
        <p:spPr>
          <a:xfrm>
            <a:off x="2651760" y="3675888"/>
            <a:ext cx="6172200" cy="402336"/>
          </a:xfrm>
          <a:prstGeom prst="rect">
            <a:avLst/>
          </a:prstGeom>
          <a:noFill/>
          <a:ln/>
        </p:spPr>
        <p:txBody>
          <a:bodyPr wrap="square" rtlCol="0" anchor="ctr"/>
          <a:lstStyle/>
          <a:p>
            <a:pPr marL="0" indent="0">
              <a:buNone/>
            </a:pPr>
            <a:r>
              <a:rPr lang="es-419" sz="1000" noProof="0" dirty="0">
                <a:solidFill>
                  <a:srgbClr val="64748B"/>
                </a:solidFill>
                <a:latin typeface="Calibri" pitchFamily="34" charset="0"/>
                <a:ea typeface="Calibri" pitchFamily="34" charset="-122"/>
                <a:cs typeface="Calibri" pitchFamily="34" charset="-120"/>
              </a:rPr>
              <a:t>URGENTE: requiere atención inmediata.  NORMAL: puede programarse en los tiempos habituales de obra.</a:t>
            </a:r>
            <a:endParaRPr lang="es-419" sz="1000" noProof="0" dirty="0"/>
          </a:p>
        </p:txBody>
      </p:sp>
      <p:sp>
        <p:nvSpPr>
          <p:cNvPr id="30" name="Shape 28"/>
          <p:cNvSpPr/>
          <p:nvPr/>
        </p:nvSpPr>
        <p:spPr>
          <a:xfrm>
            <a:off x="274320" y="4123944"/>
            <a:ext cx="8595360" cy="402336"/>
          </a:xfrm>
          <a:prstGeom prst="rect">
            <a:avLst/>
          </a:prstGeom>
          <a:solidFill>
            <a:srgbClr val="F1F5F9"/>
          </a:solidFill>
          <a:ln w="12700">
            <a:solidFill>
              <a:srgbClr val="E2E8F0"/>
            </a:solidFill>
            <a:prstDash val="solid"/>
          </a:ln>
        </p:spPr>
        <p:txBody>
          <a:bodyPr/>
          <a:lstStyle/>
          <a:p>
            <a:endParaRPr lang="es-419" noProof="0" dirty="0"/>
          </a:p>
        </p:txBody>
      </p:sp>
      <p:sp>
        <p:nvSpPr>
          <p:cNvPr id="31" name="Shape 29"/>
          <p:cNvSpPr/>
          <p:nvPr/>
        </p:nvSpPr>
        <p:spPr>
          <a:xfrm>
            <a:off x="274320" y="4123944"/>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32" name="Text 30"/>
          <p:cNvSpPr/>
          <p:nvPr/>
        </p:nvSpPr>
        <p:spPr>
          <a:xfrm>
            <a:off x="411480" y="4123944"/>
            <a:ext cx="2194560" cy="402336"/>
          </a:xfrm>
          <a:prstGeom prst="rect">
            <a:avLst/>
          </a:prstGeom>
          <a:noFill/>
          <a:ln/>
        </p:spPr>
        <p:txBody>
          <a:bodyPr wrap="square" rtlCol="0" anchor="ctr"/>
          <a:lstStyle/>
          <a:p>
            <a:pPr marL="0" indent="0">
              <a:buNone/>
            </a:pPr>
            <a:r>
              <a:rPr lang="es-419" sz="1050" b="1" noProof="0" dirty="0">
                <a:solidFill>
                  <a:srgbClr val="334155"/>
                </a:solidFill>
                <a:latin typeface="Calibri" pitchFamily="34" charset="0"/>
                <a:ea typeface="Calibri" pitchFamily="34" charset="-122"/>
                <a:cs typeface="Calibri" pitchFamily="34" charset="-120"/>
              </a:rPr>
              <a:t>Tipo de Mantenimiento</a:t>
            </a:r>
            <a:endParaRPr lang="es-419" sz="1050" noProof="0" dirty="0"/>
          </a:p>
        </p:txBody>
      </p:sp>
      <p:sp>
        <p:nvSpPr>
          <p:cNvPr id="33" name="Text 31"/>
          <p:cNvSpPr/>
          <p:nvPr/>
        </p:nvSpPr>
        <p:spPr>
          <a:xfrm>
            <a:off x="2651760" y="4123944"/>
            <a:ext cx="6172200" cy="402336"/>
          </a:xfrm>
          <a:prstGeom prst="rect">
            <a:avLst/>
          </a:prstGeom>
          <a:noFill/>
          <a:ln/>
        </p:spPr>
        <p:txBody>
          <a:bodyPr wrap="square" rtlCol="0" anchor="ctr"/>
          <a:lstStyle/>
          <a:p>
            <a:pPr marL="0" indent="0">
              <a:buNone/>
            </a:pPr>
            <a:r>
              <a:rPr lang="es-419" sz="1000" noProof="0" dirty="0">
                <a:solidFill>
                  <a:srgbClr val="64748B"/>
                </a:solidFill>
                <a:latin typeface="Calibri" pitchFamily="34" charset="0"/>
                <a:ea typeface="Calibri" pitchFamily="34" charset="-122"/>
                <a:cs typeface="Calibri" pitchFamily="34" charset="-120"/>
              </a:rPr>
              <a:t>Solo aplica si la Clasificación es Mantenimiento: PREVENTIVO (programado) o CORRECTIVO (respuesta a falla).</a:t>
            </a:r>
            <a:endParaRPr lang="es-419" sz="1000" noProof="0" dirty="0"/>
          </a:p>
        </p:txBody>
      </p:sp>
      <p:sp>
        <p:nvSpPr>
          <p:cNvPr id="34" name="Shape 32"/>
          <p:cNvSpPr/>
          <p:nvPr/>
        </p:nvSpPr>
        <p:spPr>
          <a:xfrm>
            <a:off x="274320" y="4572000"/>
            <a:ext cx="8595360" cy="402336"/>
          </a:xfrm>
          <a:prstGeom prst="rect">
            <a:avLst/>
          </a:prstGeom>
          <a:solidFill>
            <a:srgbClr val="FFFFFF"/>
          </a:solidFill>
          <a:ln w="12700">
            <a:solidFill>
              <a:srgbClr val="E2E8F0"/>
            </a:solidFill>
            <a:prstDash val="solid"/>
          </a:ln>
        </p:spPr>
        <p:txBody>
          <a:bodyPr/>
          <a:lstStyle/>
          <a:p>
            <a:endParaRPr lang="es-419" noProof="0" dirty="0"/>
          </a:p>
        </p:txBody>
      </p:sp>
      <p:sp>
        <p:nvSpPr>
          <p:cNvPr id="35" name="Shape 33"/>
          <p:cNvSpPr/>
          <p:nvPr/>
        </p:nvSpPr>
        <p:spPr>
          <a:xfrm>
            <a:off x="274320" y="4572000"/>
            <a:ext cx="64008" cy="402336"/>
          </a:xfrm>
          <a:prstGeom prst="rect">
            <a:avLst/>
          </a:prstGeom>
          <a:solidFill>
            <a:srgbClr val="0D8A7E"/>
          </a:solidFill>
          <a:ln w="12700">
            <a:solidFill>
              <a:srgbClr val="0D8A7E"/>
            </a:solidFill>
            <a:prstDash val="solid"/>
          </a:ln>
        </p:spPr>
        <p:txBody>
          <a:bodyPr/>
          <a:lstStyle/>
          <a:p>
            <a:endParaRPr lang="es-419" noProof="0" dirty="0"/>
          </a:p>
        </p:txBody>
      </p:sp>
      <p:sp>
        <p:nvSpPr>
          <p:cNvPr id="36" name="Text 34"/>
          <p:cNvSpPr/>
          <p:nvPr/>
        </p:nvSpPr>
        <p:spPr>
          <a:xfrm>
            <a:off x="411480" y="4572000"/>
            <a:ext cx="2194560" cy="402336"/>
          </a:xfrm>
          <a:prstGeom prst="rect">
            <a:avLst/>
          </a:prstGeom>
          <a:noFill/>
          <a:ln/>
        </p:spPr>
        <p:txBody>
          <a:bodyPr wrap="square" rtlCol="0" anchor="ctr"/>
          <a:lstStyle/>
          <a:p>
            <a:pPr marL="0" indent="0">
              <a:buNone/>
            </a:pPr>
            <a:r>
              <a:rPr lang="es-419" sz="1050" b="1" noProof="0" dirty="0">
                <a:solidFill>
                  <a:srgbClr val="334155"/>
                </a:solidFill>
                <a:latin typeface="Calibri" pitchFamily="34" charset="0"/>
                <a:ea typeface="Calibri" pitchFamily="34" charset="-122"/>
                <a:cs typeface="Calibri" pitchFamily="34" charset="-120"/>
              </a:rPr>
              <a:t>Descripción *</a:t>
            </a:r>
            <a:endParaRPr lang="es-419" sz="1050" noProof="0" dirty="0"/>
          </a:p>
        </p:txBody>
      </p:sp>
      <p:sp>
        <p:nvSpPr>
          <p:cNvPr id="37" name="Text 35"/>
          <p:cNvSpPr/>
          <p:nvPr/>
        </p:nvSpPr>
        <p:spPr>
          <a:xfrm>
            <a:off x="2651760" y="4572000"/>
            <a:ext cx="6172200" cy="402336"/>
          </a:xfrm>
          <a:prstGeom prst="rect">
            <a:avLst/>
          </a:prstGeom>
          <a:noFill/>
          <a:ln/>
        </p:spPr>
        <p:txBody>
          <a:bodyPr wrap="square" rtlCol="0" anchor="ctr"/>
          <a:lstStyle/>
          <a:p>
            <a:pPr marL="0" indent="0">
              <a:buNone/>
            </a:pPr>
            <a:r>
              <a:rPr lang="es-419" sz="1000" noProof="0" dirty="0">
                <a:solidFill>
                  <a:srgbClr val="64748B"/>
                </a:solidFill>
                <a:latin typeface="Calibri" pitchFamily="34" charset="0"/>
                <a:ea typeface="Calibri" pitchFamily="34" charset="-122"/>
                <a:cs typeface="Calibri" pitchFamily="34" charset="-120"/>
              </a:rPr>
              <a:t>Describe detalladamente el trabajo a realizar: área, problema, alcance y cualquier dato técnico relevante.</a:t>
            </a:r>
            <a:endParaRPr lang="es-419" sz="1000" noProof="0" dirty="0"/>
          </a:p>
        </p:txBody>
      </p:sp>
      <p:sp>
        <p:nvSpPr>
          <p:cNvPr id="50" name="OrdenInternaNote"/>
          <p:cNvSpPr/>
          <p:nvPr/>
        </p:nvSpPr>
        <p:spPr>
          <a:xfrm>
            <a:off x="274320" y="5029200"/>
            <a:ext cx="8595360" cy="57600"/>
          </a:xfrm>
          <a:prstGeom prst="rect">
            <a:avLst/>
          </a:prstGeom>
          <a:solidFill>
            <a:srgbClr val="9F1239"/>
          </a:solidFill>
          <a:ln w="0">
            <a:noFill/>
          </a:ln>
        </p:spPr>
        <p:txBody>
          <a:bodyPr/>
          <a:lstStyle/>
          <a:p>
            <a:endParaRPr lang="es-419" noProof="0" dirty="0"/>
          </a:p>
        </p:txBody>
      </p:sp>
      <p:sp>
        <p:nvSpPr>
          <p:cNvPr id="51" name="OrdenInternaBanner"/>
          <p:cNvSpPr/>
          <p:nvPr/>
        </p:nvSpPr>
        <p:spPr>
          <a:xfrm>
            <a:off x="274320" y="5086800"/>
            <a:ext cx="8595360" cy="0"/>
          </a:xfrm>
          <a:prstGeom prst="rect">
            <a:avLst/>
          </a:prstGeom>
          <a:noFill/>
          <a:ln/>
        </p:spPr>
        <p:txBody>
          <a:bodyPr wrap="square" rtlCol="0" anchor="t"/>
          <a:lstStyle/>
          <a:p>
            <a:pPr marL="0" indent="0">
              <a:buNone/>
            </a:pPr>
            <a:r>
              <a:rPr lang="es-419" sz="880" b="1" noProof="0" dirty="0">
                <a:solidFill>
                  <a:srgbClr val="9F1239"/>
                </a:solidFill>
                <a:latin typeface="Calibri" pitchFamily="34" charset="0"/>
              </a:rPr>
              <a:t>🆔  Orden Interna + Numero de Orden Interna: </a:t>
            </a:r>
            <a:r>
              <a:rPr lang="es-419" sz="880" noProof="0" dirty="0">
                <a:solidFill>
                  <a:srgbClr val="475569"/>
                </a:solidFill>
                <a:latin typeface="Calibri" pitchFamily="34" charset="0"/>
              </a:rPr>
              <a:t>Si seleccionas SI, el campo Numero de Orden Interna se activa y es obligatorio capturarlo antes de enviar el ticket. Si seleccionas NO, el campo muestra N/A automaticamente.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8A7E"/>
          </a:solidFill>
          <a:ln w="12700">
            <a:solidFill>
              <a:srgbClr val="0D8A7E"/>
            </a:solidFill>
            <a:prstDash val="solid"/>
          </a:ln>
        </p:spPr>
        <p:txBody>
          <a:bodyPr/>
          <a:lstStyle/>
          <a:p>
            <a:endParaRPr lang="es-419" noProof="0" dirty="0"/>
          </a:p>
        </p:txBody>
      </p:sp>
      <p:sp>
        <p:nvSpPr>
          <p:cNvPr id="3" name="Text 1"/>
          <p:cNvSpPr/>
          <p:nvPr/>
        </p:nvSpPr>
        <p:spPr>
          <a:xfrm>
            <a:off x="365760" y="91440"/>
            <a:ext cx="8412480" cy="731520"/>
          </a:xfrm>
          <a:prstGeom prst="rect">
            <a:avLst/>
          </a:prstGeom>
          <a:noFill/>
          <a:ln/>
        </p:spPr>
        <p:txBody>
          <a:bodyPr wrap="square" rtlCol="0" anchor="ctr"/>
          <a:lstStyle/>
          <a:p>
            <a:pPr marL="0" indent="0" algn="l">
              <a:buNone/>
            </a:pPr>
            <a:r>
              <a:rPr lang="es-419" sz="2000" b="1" noProof="0" dirty="0">
                <a:solidFill>
                  <a:srgbClr val="FFFFFF"/>
                </a:solidFill>
                <a:latin typeface="Calibri" pitchFamily="34" charset="0"/>
                <a:ea typeface="Calibri" pitchFamily="34" charset="-122"/>
                <a:cs typeface="Calibri" pitchFamily="34" charset="-120"/>
              </a:rPr>
              <a:t>Cómo llenar el Ticket — Cotizaciones y Financiamiento</a:t>
            </a:r>
            <a:endParaRPr lang="es-419" sz="2000" noProof="0" dirty="0"/>
          </a:p>
        </p:txBody>
      </p:sp>
      <p:sp>
        <p:nvSpPr>
          <p:cNvPr id="4" name="Shape 2"/>
          <p:cNvSpPr/>
          <p:nvPr/>
        </p:nvSpPr>
        <p:spPr>
          <a:xfrm>
            <a:off x="274320" y="1005840"/>
            <a:ext cx="2697480" cy="1920240"/>
          </a:xfrm>
          <a:prstGeom prst="rect">
            <a:avLst/>
          </a:prstGeom>
          <a:solidFill>
            <a:srgbClr val="FFFFFF"/>
          </a:solidFill>
          <a:ln w="12700">
            <a:solidFill>
              <a:srgbClr val="2563EB"/>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5" name="Shape 3"/>
          <p:cNvSpPr/>
          <p:nvPr/>
        </p:nvSpPr>
        <p:spPr>
          <a:xfrm>
            <a:off x="274320" y="1005840"/>
            <a:ext cx="2697480" cy="384048"/>
          </a:xfrm>
          <a:prstGeom prst="rect">
            <a:avLst/>
          </a:prstGeom>
          <a:solidFill>
            <a:srgbClr val="1A4B8C"/>
          </a:solidFill>
          <a:ln w="12700">
            <a:solidFill>
              <a:srgbClr val="1A4B8C"/>
            </a:solidFill>
            <a:prstDash val="solid"/>
          </a:ln>
        </p:spPr>
        <p:txBody>
          <a:bodyPr/>
          <a:lstStyle/>
          <a:p>
            <a:endParaRPr lang="es-419" noProof="0" dirty="0"/>
          </a:p>
        </p:txBody>
      </p:sp>
      <p:sp>
        <p:nvSpPr>
          <p:cNvPr id="6" name="Text 4"/>
          <p:cNvSpPr/>
          <p:nvPr/>
        </p:nvSpPr>
        <p:spPr>
          <a:xfrm>
            <a:off x="347472" y="1005840"/>
            <a:ext cx="2542032" cy="384048"/>
          </a:xfrm>
          <a:prstGeom prst="rect">
            <a:avLst/>
          </a:prstGeom>
          <a:noFill/>
          <a:ln/>
        </p:spPr>
        <p:txBody>
          <a:bodyPr wrap="square" rtlCol="0" anchor="ctr"/>
          <a:lstStyle/>
          <a:p>
            <a:pPr marL="0" indent="0">
              <a:buNone/>
            </a:pPr>
            <a:r>
              <a:rPr lang="es-419" sz="1100" b="1" noProof="0" dirty="0">
                <a:solidFill>
                  <a:srgbClr val="FFFFFF"/>
                </a:solidFill>
                <a:latin typeface="Calibri" pitchFamily="34" charset="0"/>
                <a:ea typeface="Calibri" pitchFamily="34" charset="-122"/>
                <a:cs typeface="Calibri" pitchFamily="34" charset="-120"/>
              </a:rPr>
              <a:t>Cotización No. 1 *</a:t>
            </a:r>
            <a:endParaRPr lang="es-419" sz="1100" noProof="0" dirty="0"/>
          </a:p>
        </p:txBody>
      </p:sp>
      <p:sp>
        <p:nvSpPr>
          <p:cNvPr id="7" name="Text 5"/>
          <p:cNvSpPr/>
          <p:nvPr/>
        </p:nvSpPr>
        <p:spPr>
          <a:xfrm>
            <a:off x="347472" y="1463040"/>
            <a:ext cx="1005840" cy="274320"/>
          </a:xfrm>
          <a:prstGeom prst="rect">
            <a:avLst/>
          </a:prstGeom>
          <a:noFill/>
          <a:ln/>
        </p:spPr>
        <p:txBody>
          <a:bodyPr wrap="square" rtlCol="0" anchor="ctr"/>
          <a:lstStyle/>
          <a:p>
            <a:pPr marL="0" indent="0">
              <a:buNone/>
            </a:pPr>
            <a:r>
              <a:rPr lang="es-419" sz="1000" b="1" noProof="0" dirty="0">
                <a:solidFill>
                  <a:srgbClr val="334155"/>
                </a:solidFill>
                <a:latin typeface="Calibri" pitchFamily="34" charset="0"/>
                <a:ea typeface="Calibri" pitchFamily="34" charset="-122"/>
                <a:cs typeface="Calibri" pitchFamily="34" charset="-120"/>
              </a:rPr>
              <a:t>Proveedor:</a:t>
            </a:r>
            <a:endParaRPr lang="es-419" sz="1000" noProof="0" dirty="0"/>
          </a:p>
        </p:txBody>
      </p:sp>
      <p:sp>
        <p:nvSpPr>
          <p:cNvPr id="8" name="Text 6"/>
          <p:cNvSpPr/>
          <p:nvPr/>
        </p:nvSpPr>
        <p:spPr>
          <a:xfrm>
            <a:off x="347472" y="1755648"/>
            <a:ext cx="2514600" cy="320040"/>
          </a:xfrm>
          <a:prstGeom prst="rect">
            <a:avLst/>
          </a:prstGeom>
          <a:noFill/>
          <a:ln/>
        </p:spPr>
        <p:txBody>
          <a:bodyPr wrap="square" rtlCol="0" anchor="ctr"/>
          <a:lstStyle/>
          <a:p>
            <a:pPr marL="0" indent="0">
              <a:buNone/>
            </a:pPr>
            <a:r>
              <a:rPr lang="es-419" sz="950" noProof="0" dirty="0">
                <a:solidFill>
                  <a:srgbClr val="64748B"/>
                </a:solidFill>
                <a:latin typeface="Calibri" pitchFamily="34" charset="0"/>
                <a:ea typeface="Calibri" pitchFamily="34" charset="-122"/>
                <a:cs typeface="Calibri" pitchFamily="34" charset="-120"/>
              </a:rPr>
              <a:t>Nombre o razón social del proveedor que cotizó el trabajo.</a:t>
            </a:r>
            <a:endParaRPr lang="es-419" sz="950" noProof="0" dirty="0"/>
          </a:p>
        </p:txBody>
      </p:sp>
      <p:sp>
        <p:nvSpPr>
          <p:cNvPr id="9" name="Text 7"/>
          <p:cNvSpPr/>
          <p:nvPr/>
        </p:nvSpPr>
        <p:spPr>
          <a:xfrm>
            <a:off x="347472" y="2103120"/>
            <a:ext cx="1005840" cy="274320"/>
          </a:xfrm>
          <a:prstGeom prst="rect">
            <a:avLst/>
          </a:prstGeom>
          <a:noFill/>
          <a:ln/>
        </p:spPr>
        <p:txBody>
          <a:bodyPr wrap="square" rtlCol="0" anchor="ctr"/>
          <a:lstStyle/>
          <a:p>
            <a:pPr marL="0" indent="0">
              <a:buNone/>
            </a:pPr>
            <a:r>
              <a:rPr lang="es-419" sz="1000" b="1" noProof="0" dirty="0">
                <a:solidFill>
                  <a:srgbClr val="334155"/>
                </a:solidFill>
                <a:latin typeface="Calibri" pitchFamily="34" charset="0"/>
                <a:ea typeface="Calibri" pitchFamily="34" charset="-122"/>
                <a:cs typeface="Calibri" pitchFamily="34" charset="-120"/>
              </a:rPr>
              <a:t>Importe:</a:t>
            </a:r>
            <a:endParaRPr lang="es-419" sz="1000" noProof="0" dirty="0"/>
          </a:p>
        </p:txBody>
      </p:sp>
      <p:sp>
        <p:nvSpPr>
          <p:cNvPr id="10" name="Text 8"/>
          <p:cNvSpPr/>
          <p:nvPr/>
        </p:nvSpPr>
        <p:spPr>
          <a:xfrm>
            <a:off x="347472" y="2395728"/>
            <a:ext cx="2514600" cy="457200"/>
          </a:xfrm>
          <a:prstGeom prst="rect">
            <a:avLst/>
          </a:prstGeom>
          <a:noFill/>
          <a:ln/>
        </p:spPr>
        <p:txBody>
          <a:bodyPr wrap="square" rtlCol="0" anchor="ctr"/>
          <a:lstStyle/>
          <a:p>
            <a:pPr marL="0" indent="0">
              <a:buNone/>
            </a:pPr>
            <a:r>
              <a:rPr lang="es-419" sz="950" noProof="0" dirty="0">
                <a:solidFill>
                  <a:srgbClr val="64748B"/>
                </a:solidFill>
                <a:latin typeface="Calibri" pitchFamily="34" charset="0"/>
                <a:ea typeface="Calibri" pitchFamily="34" charset="-122"/>
                <a:cs typeface="Calibri" pitchFamily="34" charset="-120"/>
              </a:rPr>
              <a:t>Monto en pesos MXN. Escribe solo números, el sistema formatea automáticamente.</a:t>
            </a:r>
            <a:endParaRPr lang="es-419" sz="950" noProof="0" dirty="0"/>
          </a:p>
        </p:txBody>
      </p:sp>
      <p:sp>
        <p:nvSpPr>
          <p:cNvPr id="11" name="Shape 9"/>
          <p:cNvSpPr/>
          <p:nvPr/>
        </p:nvSpPr>
        <p:spPr>
          <a:xfrm>
            <a:off x="3200400" y="1005840"/>
            <a:ext cx="2697480" cy="19202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2" name="Shape 10"/>
          <p:cNvSpPr/>
          <p:nvPr/>
        </p:nvSpPr>
        <p:spPr>
          <a:xfrm>
            <a:off x="3200400" y="1005840"/>
            <a:ext cx="2697480" cy="384048"/>
          </a:xfrm>
          <a:prstGeom prst="rect">
            <a:avLst/>
          </a:prstGeom>
          <a:solidFill>
            <a:srgbClr val="64748B"/>
          </a:solidFill>
          <a:ln w="12700">
            <a:solidFill>
              <a:srgbClr val="64748B"/>
            </a:solidFill>
            <a:prstDash val="solid"/>
          </a:ln>
        </p:spPr>
        <p:txBody>
          <a:bodyPr/>
          <a:lstStyle/>
          <a:p>
            <a:endParaRPr lang="es-419" noProof="0" dirty="0"/>
          </a:p>
        </p:txBody>
      </p:sp>
      <p:sp>
        <p:nvSpPr>
          <p:cNvPr id="13" name="Text 11"/>
          <p:cNvSpPr/>
          <p:nvPr/>
        </p:nvSpPr>
        <p:spPr>
          <a:xfrm>
            <a:off x="3273552" y="1005840"/>
            <a:ext cx="2542032" cy="384048"/>
          </a:xfrm>
          <a:prstGeom prst="rect">
            <a:avLst/>
          </a:prstGeom>
          <a:noFill/>
          <a:ln/>
        </p:spPr>
        <p:txBody>
          <a:bodyPr wrap="square" rtlCol="0" anchor="ctr"/>
          <a:lstStyle/>
          <a:p>
            <a:pPr marL="0" indent="0">
              <a:buNone/>
            </a:pPr>
            <a:r>
              <a:rPr lang="es-419" sz="1100" b="1" noProof="0" dirty="0">
                <a:solidFill>
                  <a:srgbClr val="FFFFFF"/>
                </a:solidFill>
                <a:latin typeface="Calibri" pitchFamily="34" charset="0"/>
                <a:ea typeface="Calibri" pitchFamily="34" charset="-122"/>
                <a:cs typeface="Calibri" pitchFamily="34" charset="-120"/>
              </a:rPr>
              <a:t>Cotización No. 2</a:t>
            </a:r>
            <a:endParaRPr lang="es-419" sz="1100" noProof="0" dirty="0"/>
          </a:p>
        </p:txBody>
      </p:sp>
      <p:sp>
        <p:nvSpPr>
          <p:cNvPr id="14" name="Text 12"/>
          <p:cNvSpPr/>
          <p:nvPr/>
        </p:nvSpPr>
        <p:spPr>
          <a:xfrm>
            <a:off x="3273552" y="1463040"/>
            <a:ext cx="1005840" cy="274320"/>
          </a:xfrm>
          <a:prstGeom prst="rect">
            <a:avLst/>
          </a:prstGeom>
          <a:noFill/>
          <a:ln/>
        </p:spPr>
        <p:txBody>
          <a:bodyPr wrap="square" rtlCol="0" anchor="ctr"/>
          <a:lstStyle/>
          <a:p>
            <a:pPr marL="0" indent="0">
              <a:buNone/>
            </a:pPr>
            <a:r>
              <a:rPr lang="es-419" sz="1000" b="1" noProof="0" dirty="0">
                <a:solidFill>
                  <a:srgbClr val="334155"/>
                </a:solidFill>
                <a:latin typeface="Calibri" pitchFamily="34" charset="0"/>
                <a:ea typeface="Calibri" pitchFamily="34" charset="-122"/>
                <a:cs typeface="Calibri" pitchFamily="34" charset="-120"/>
              </a:rPr>
              <a:t>Proveedor:</a:t>
            </a:r>
            <a:endParaRPr lang="es-419" sz="1000" noProof="0" dirty="0"/>
          </a:p>
        </p:txBody>
      </p:sp>
      <p:sp>
        <p:nvSpPr>
          <p:cNvPr id="15" name="Text 13"/>
          <p:cNvSpPr/>
          <p:nvPr/>
        </p:nvSpPr>
        <p:spPr>
          <a:xfrm>
            <a:off x="3273552" y="1755648"/>
            <a:ext cx="2514600" cy="320040"/>
          </a:xfrm>
          <a:prstGeom prst="rect">
            <a:avLst/>
          </a:prstGeom>
          <a:noFill/>
          <a:ln/>
        </p:spPr>
        <p:txBody>
          <a:bodyPr wrap="square" rtlCol="0" anchor="ctr"/>
          <a:lstStyle/>
          <a:p>
            <a:pPr marL="0" indent="0">
              <a:buNone/>
            </a:pPr>
            <a:r>
              <a:rPr lang="es-419" sz="950" noProof="0" dirty="0">
                <a:solidFill>
                  <a:srgbClr val="64748B"/>
                </a:solidFill>
                <a:latin typeface="Calibri" pitchFamily="34" charset="0"/>
                <a:ea typeface="Calibri" pitchFamily="34" charset="-122"/>
                <a:cs typeface="Calibri" pitchFamily="34" charset="-120"/>
              </a:rPr>
              <a:t>Nombre o razón social del proveedor que cotizó el trabajo.</a:t>
            </a:r>
            <a:endParaRPr lang="es-419" sz="950" noProof="0" dirty="0"/>
          </a:p>
        </p:txBody>
      </p:sp>
      <p:sp>
        <p:nvSpPr>
          <p:cNvPr id="16" name="Text 14"/>
          <p:cNvSpPr/>
          <p:nvPr/>
        </p:nvSpPr>
        <p:spPr>
          <a:xfrm>
            <a:off x="3273552" y="2103120"/>
            <a:ext cx="1005840" cy="274320"/>
          </a:xfrm>
          <a:prstGeom prst="rect">
            <a:avLst/>
          </a:prstGeom>
          <a:noFill/>
          <a:ln/>
        </p:spPr>
        <p:txBody>
          <a:bodyPr wrap="square" rtlCol="0" anchor="ctr"/>
          <a:lstStyle/>
          <a:p>
            <a:pPr marL="0" indent="0">
              <a:buNone/>
            </a:pPr>
            <a:r>
              <a:rPr lang="es-419" sz="1000" b="1" noProof="0" dirty="0">
                <a:solidFill>
                  <a:srgbClr val="334155"/>
                </a:solidFill>
                <a:latin typeface="Calibri" pitchFamily="34" charset="0"/>
                <a:ea typeface="Calibri" pitchFamily="34" charset="-122"/>
                <a:cs typeface="Calibri" pitchFamily="34" charset="-120"/>
              </a:rPr>
              <a:t>Importe:</a:t>
            </a:r>
            <a:endParaRPr lang="es-419" sz="1000" noProof="0" dirty="0"/>
          </a:p>
        </p:txBody>
      </p:sp>
      <p:sp>
        <p:nvSpPr>
          <p:cNvPr id="17" name="Text 15"/>
          <p:cNvSpPr/>
          <p:nvPr/>
        </p:nvSpPr>
        <p:spPr>
          <a:xfrm>
            <a:off x="3273552" y="2395728"/>
            <a:ext cx="2514600" cy="457200"/>
          </a:xfrm>
          <a:prstGeom prst="rect">
            <a:avLst/>
          </a:prstGeom>
          <a:noFill/>
          <a:ln/>
        </p:spPr>
        <p:txBody>
          <a:bodyPr wrap="square" rtlCol="0" anchor="ctr"/>
          <a:lstStyle/>
          <a:p>
            <a:pPr marL="0" indent="0">
              <a:buNone/>
            </a:pPr>
            <a:r>
              <a:rPr lang="es-419" sz="950" noProof="0" dirty="0">
                <a:solidFill>
                  <a:srgbClr val="64748B"/>
                </a:solidFill>
                <a:latin typeface="Calibri" pitchFamily="34" charset="0"/>
                <a:ea typeface="Calibri" pitchFamily="34" charset="-122"/>
                <a:cs typeface="Calibri" pitchFamily="34" charset="-120"/>
              </a:rPr>
              <a:t>Monto en pesos MXN. Escribe solo números, el sistema formatea automáticamente.</a:t>
            </a:r>
            <a:endParaRPr lang="es-419" sz="950" noProof="0" dirty="0"/>
          </a:p>
        </p:txBody>
      </p:sp>
      <p:sp>
        <p:nvSpPr>
          <p:cNvPr id="18" name="Shape 16"/>
          <p:cNvSpPr/>
          <p:nvPr/>
        </p:nvSpPr>
        <p:spPr>
          <a:xfrm>
            <a:off x="6126480" y="1005840"/>
            <a:ext cx="2697480" cy="19202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9" name="Shape 17"/>
          <p:cNvSpPr/>
          <p:nvPr/>
        </p:nvSpPr>
        <p:spPr>
          <a:xfrm>
            <a:off x="6126480" y="1005840"/>
            <a:ext cx="2697480" cy="384048"/>
          </a:xfrm>
          <a:prstGeom prst="rect">
            <a:avLst/>
          </a:prstGeom>
          <a:solidFill>
            <a:srgbClr val="64748B"/>
          </a:solidFill>
          <a:ln w="12700">
            <a:solidFill>
              <a:srgbClr val="64748B"/>
            </a:solidFill>
            <a:prstDash val="solid"/>
          </a:ln>
        </p:spPr>
        <p:txBody>
          <a:bodyPr/>
          <a:lstStyle/>
          <a:p>
            <a:endParaRPr lang="es-419" noProof="0" dirty="0"/>
          </a:p>
        </p:txBody>
      </p:sp>
      <p:sp>
        <p:nvSpPr>
          <p:cNvPr id="20" name="Text 18"/>
          <p:cNvSpPr/>
          <p:nvPr/>
        </p:nvSpPr>
        <p:spPr>
          <a:xfrm>
            <a:off x="6199632" y="1005840"/>
            <a:ext cx="2542032" cy="384048"/>
          </a:xfrm>
          <a:prstGeom prst="rect">
            <a:avLst/>
          </a:prstGeom>
          <a:noFill/>
          <a:ln/>
        </p:spPr>
        <p:txBody>
          <a:bodyPr wrap="square" rtlCol="0" anchor="ctr"/>
          <a:lstStyle/>
          <a:p>
            <a:pPr marL="0" indent="0">
              <a:buNone/>
            </a:pPr>
            <a:r>
              <a:rPr lang="es-419" sz="1100" b="1" noProof="0" dirty="0">
                <a:solidFill>
                  <a:srgbClr val="FFFFFF"/>
                </a:solidFill>
                <a:latin typeface="Calibri" pitchFamily="34" charset="0"/>
                <a:ea typeface="Calibri" pitchFamily="34" charset="-122"/>
                <a:cs typeface="Calibri" pitchFamily="34" charset="-120"/>
              </a:rPr>
              <a:t>Cotización No. 3</a:t>
            </a:r>
            <a:endParaRPr lang="es-419" sz="1100" noProof="0" dirty="0"/>
          </a:p>
        </p:txBody>
      </p:sp>
      <p:sp>
        <p:nvSpPr>
          <p:cNvPr id="21" name="Text 19"/>
          <p:cNvSpPr/>
          <p:nvPr/>
        </p:nvSpPr>
        <p:spPr>
          <a:xfrm>
            <a:off x="6199632" y="1463040"/>
            <a:ext cx="1005840" cy="274320"/>
          </a:xfrm>
          <a:prstGeom prst="rect">
            <a:avLst/>
          </a:prstGeom>
          <a:noFill/>
          <a:ln/>
        </p:spPr>
        <p:txBody>
          <a:bodyPr wrap="square" rtlCol="0" anchor="ctr"/>
          <a:lstStyle/>
          <a:p>
            <a:pPr marL="0" indent="0">
              <a:buNone/>
            </a:pPr>
            <a:r>
              <a:rPr lang="es-419" sz="1000" b="1" noProof="0" dirty="0">
                <a:solidFill>
                  <a:srgbClr val="334155"/>
                </a:solidFill>
                <a:latin typeface="Calibri" pitchFamily="34" charset="0"/>
                <a:ea typeface="Calibri" pitchFamily="34" charset="-122"/>
                <a:cs typeface="Calibri" pitchFamily="34" charset="-120"/>
              </a:rPr>
              <a:t>Proveedor:</a:t>
            </a:r>
            <a:endParaRPr lang="es-419" sz="1000" noProof="0" dirty="0"/>
          </a:p>
        </p:txBody>
      </p:sp>
      <p:sp>
        <p:nvSpPr>
          <p:cNvPr id="22" name="Text 20"/>
          <p:cNvSpPr/>
          <p:nvPr/>
        </p:nvSpPr>
        <p:spPr>
          <a:xfrm>
            <a:off x="6199632" y="1755648"/>
            <a:ext cx="2514600" cy="320040"/>
          </a:xfrm>
          <a:prstGeom prst="rect">
            <a:avLst/>
          </a:prstGeom>
          <a:noFill/>
          <a:ln/>
        </p:spPr>
        <p:txBody>
          <a:bodyPr wrap="square" rtlCol="0" anchor="ctr"/>
          <a:lstStyle/>
          <a:p>
            <a:pPr marL="0" indent="0">
              <a:buNone/>
            </a:pPr>
            <a:r>
              <a:rPr lang="es-419" sz="950" noProof="0" dirty="0">
                <a:solidFill>
                  <a:srgbClr val="64748B"/>
                </a:solidFill>
                <a:latin typeface="Calibri" pitchFamily="34" charset="0"/>
                <a:ea typeface="Calibri" pitchFamily="34" charset="-122"/>
                <a:cs typeface="Calibri" pitchFamily="34" charset="-120"/>
              </a:rPr>
              <a:t>Nombre o razón social del proveedor que cotizó el trabajo.</a:t>
            </a:r>
            <a:endParaRPr lang="es-419" sz="950" noProof="0" dirty="0"/>
          </a:p>
        </p:txBody>
      </p:sp>
      <p:sp>
        <p:nvSpPr>
          <p:cNvPr id="23" name="Text 21"/>
          <p:cNvSpPr/>
          <p:nvPr/>
        </p:nvSpPr>
        <p:spPr>
          <a:xfrm>
            <a:off x="6199632" y="2103120"/>
            <a:ext cx="1005840" cy="274320"/>
          </a:xfrm>
          <a:prstGeom prst="rect">
            <a:avLst/>
          </a:prstGeom>
          <a:noFill/>
          <a:ln/>
        </p:spPr>
        <p:txBody>
          <a:bodyPr wrap="square" rtlCol="0" anchor="ctr"/>
          <a:lstStyle/>
          <a:p>
            <a:pPr marL="0" indent="0">
              <a:buNone/>
            </a:pPr>
            <a:r>
              <a:rPr lang="es-419" sz="1000" b="1" noProof="0" dirty="0">
                <a:solidFill>
                  <a:srgbClr val="334155"/>
                </a:solidFill>
                <a:latin typeface="Calibri" pitchFamily="34" charset="0"/>
                <a:ea typeface="Calibri" pitchFamily="34" charset="-122"/>
                <a:cs typeface="Calibri" pitchFamily="34" charset="-120"/>
              </a:rPr>
              <a:t>Importe:</a:t>
            </a:r>
            <a:endParaRPr lang="es-419" sz="1000" noProof="0" dirty="0"/>
          </a:p>
        </p:txBody>
      </p:sp>
      <p:sp>
        <p:nvSpPr>
          <p:cNvPr id="24" name="Text 22"/>
          <p:cNvSpPr/>
          <p:nvPr/>
        </p:nvSpPr>
        <p:spPr>
          <a:xfrm>
            <a:off x="6199632" y="2395728"/>
            <a:ext cx="2514600" cy="457200"/>
          </a:xfrm>
          <a:prstGeom prst="rect">
            <a:avLst/>
          </a:prstGeom>
          <a:noFill/>
          <a:ln/>
        </p:spPr>
        <p:txBody>
          <a:bodyPr wrap="square" rtlCol="0" anchor="ctr"/>
          <a:lstStyle/>
          <a:p>
            <a:pPr marL="0" indent="0">
              <a:buNone/>
            </a:pPr>
            <a:r>
              <a:rPr lang="es-419" sz="950" noProof="0" dirty="0">
                <a:solidFill>
                  <a:srgbClr val="64748B"/>
                </a:solidFill>
                <a:latin typeface="Calibri" pitchFamily="34" charset="0"/>
                <a:ea typeface="Calibri" pitchFamily="34" charset="-122"/>
                <a:cs typeface="Calibri" pitchFamily="34" charset="-120"/>
              </a:rPr>
              <a:t>Monto en pesos MXN. Escribe solo números, el sistema formatea automáticamente.</a:t>
            </a:r>
            <a:endParaRPr lang="es-419" sz="950" noProof="0" dirty="0"/>
          </a:p>
        </p:txBody>
      </p:sp>
      <p:sp>
        <p:nvSpPr>
          <p:cNvPr id="25" name="Shape 23"/>
          <p:cNvSpPr/>
          <p:nvPr/>
        </p:nvSpPr>
        <p:spPr>
          <a:xfrm>
            <a:off x="274320" y="2999232"/>
            <a:ext cx="8595360" cy="566928"/>
          </a:xfrm>
          <a:prstGeom prst="rect">
            <a:avLst/>
          </a:prstGeom>
          <a:solidFill>
            <a:srgbClr val="F1F5F9"/>
          </a:solidFill>
          <a:ln w="12700">
            <a:solidFill>
              <a:srgbClr val="E2E8F0"/>
            </a:solidFill>
            <a:prstDash val="solid"/>
          </a:ln>
        </p:spPr>
        <p:txBody>
          <a:bodyPr/>
          <a:lstStyle/>
          <a:p>
            <a:endParaRPr lang="es-419" noProof="0" dirty="0"/>
          </a:p>
        </p:txBody>
      </p:sp>
      <p:sp>
        <p:nvSpPr>
          <p:cNvPr id="26" name="Shape 24"/>
          <p:cNvSpPr/>
          <p:nvPr/>
        </p:nvSpPr>
        <p:spPr>
          <a:xfrm>
            <a:off x="274320" y="2999232"/>
            <a:ext cx="64008" cy="566928"/>
          </a:xfrm>
          <a:prstGeom prst="rect">
            <a:avLst/>
          </a:prstGeom>
          <a:solidFill>
            <a:srgbClr val="0D8A7E"/>
          </a:solidFill>
          <a:ln w="12700">
            <a:solidFill>
              <a:srgbClr val="0D8A7E"/>
            </a:solidFill>
            <a:prstDash val="solid"/>
          </a:ln>
        </p:spPr>
        <p:txBody>
          <a:bodyPr/>
          <a:lstStyle/>
          <a:p>
            <a:endParaRPr lang="es-419" noProof="0" dirty="0"/>
          </a:p>
        </p:txBody>
      </p:sp>
      <p:sp>
        <p:nvSpPr>
          <p:cNvPr id="27" name="Text 25"/>
          <p:cNvSpPr/>
          <p:nvPr/>
        </p:nvSpPr>
        <p:spPr>
          <a:xfrm>
            <a:off x="411480" y="3017520"/>
            <a:ext cx="2286000" cy="256032"/>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Motivo de Selección *</a:t>
            </a:r>
            <a:endParaRPr lang="es-419" sz="1100" noProof="0" dirty="0"/>
          </a:p>
        </p:txBody>
      </p:sp>
      <p:sp>
        <p:nvSpPr>
          <p:cNvPr id="28" name="Text 26"/>
          <p:cNvSpPr/>
          <p:nvPr/>
        </p:nvSpPr>
        <p:spPr>
          <a:xfrm>
            <a:off x="411480" y="3291840"/>
            <a:ext cx="8321040" cy="256032"/>
          </a:xfrm>
          <a:prstGeom prst="rect">
            <a:avLst/>
          </a:prstGeom>
          <a:noFill/>
          <a:ln/>
        </p:spPr>
        <p:txBody>
          <a:bodyPr wrap="square" rtlCol="0" anchor="ctr"/>
          <a:lstStyle/>
          <a:p>
            <a:pPr marL="0" indent="0">
              <a:buNone/>
            </a:pPr>
            <a:r>
              <a:rPr lang="es-419" sz="1050" noProof="0" dirty="0">
                <a:solidFill>
                  <a:srgbClr val="64748B"/>
                </a:solidFill>
                <a:latin typeface="Calibri" pitchFamily="34" charset="0"/>
                <a:ea typeface="Calibri" pitchFamily="34" charset="-122"/>
                <a:cs typeface="Calibri" pitchFamily="34" charset="-120"/>
              </a:rPr>
              <a:t>Explica por qué elegiste a ese proveedor: mejor precio, calidad, tiempo de entrega, confiabilidad, etc.</a:t>
            </a:r>
            <a:endParaRPr lang="es-419" sz="1050" noProof="0" dirty="0"/>
          </a:p>
        </p:txBody>
      </p:sp>
      <p:sp>
        <p:nvSpPr>
          <p:cNvPr id="29" name="Shape 27"/>
          <p:cNvSpPr/>
          <p:nvPr/>
        </p:nvSpPr>
        <p:spPr>
          <a:xfrm>
            <a:off x="274320" y="3639312"/>
            <a:ext cx="8595360" cy="566928"/>
          </a:xfrm>
          <a:prstGeom prst="rect">
            <a:avLst/>
          </a:prstGeom>
          <a:solidFill>
            <a:srgbClr val="FFFFFF"/>
          </a:solidFill>
          <a:ln w="12700">
            <a:solidFill>
              <a:srgbClr val="E2E8F0"/>
            </a:solidFill>
            <a:prstDash val="solid"/>
          </a:ln>
        </p:spPr>
        <p:txBody>
          <a:bodyPr/>
          <a:lstStyle/>
          <a:p>
            <a:endParaRPr lang="es-419" noProof="0" dirty="0"/>
          </a:p>
        </p:txBody>
      </p:sp>
      <p:sp>
        <p:nvSpPr>
          <p:cNvPr id="30" name="Shape 28"/>
          <p:cNvSpPr/>
          <p:nvPr/>
        </p:nvSpPr>
        <p:spPr>
          <a:xfrm>
            <a:off x="274320" y="3639312"/>
            <a:ext cx="64008" cy="566928"/>
          </a:xfrm>
          <a:prstGeom prst="rect">
            <a:avLst/>
          </a:prstGeom>
          <a:solidFill>
            <a:srgbClr val="0D8A7E"/>
          </a:solidFill>
          <a:ln w="12700">
            <a:solidFill>
              <a:srgbClr val="0D8A7E"/>
            </a:solidFill>
            <a:prstDash val="solid"/>
          </a:ln>
        </p:spPr>
        <p:txBody>
          <a:bodyPr/>
          <a:lstStyle/>
          <a:p>
            <a:endParaRPr lang="es-419" noProof="0" dirty="0"/>
          </a:p>
        </p:txBody>
      </p:sp>
      <p:sp>
        <p:nvSpPr>
          <p:cNvPr id="31" name="Text 29"/>
          <p:cNvSpPr/>
          <p:nvPr/>
        </p:nvSpPr>
        <p:spPr>
          <a:xfrm>
            <a:off x="411480" y="3657600"/>
            <a:ext cx="2560320" cy="256032"/>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Forma de Financiamiento</a:t>
            </a:r>
            <a:endParaRPr lang="es-419" sz="1100" noProof="0" dirty="0"/>
          </a:p>
        </p:txBody>
      </p:sp>
      <p:sp>
        <p:nvSpPr>
          <p:cNvPr id="32" name="Text 30"/>
          <p:cNvSpPr/>
          <p:nvPr/>
        </p:nvSpPr>
        <p:spPr>
          <a:xfrm>
            <a:off x="411480" y="3931920"/>
            <a:ext cx="8321040" cy="256032"/>
          </a:xfrm>
          <a:prstGeom prst="rect">
            <a:avLst/>
          </a:prstGeom>
          <a:noFill/>
          <a:ln/>
        </p:spPr>
        <p:txBody>
          <a:bodyPr wrap="square" rtlCol="0" anchor="ctr"/>
          <a:lstStyle/>
          <a:p>
            <a:pPr marL="0" indent="0">
              <a:buNone/>
            </a:pPr>
            <a:r>
              <a:rPr lang="es-419" sz="1050" noProof="0" dirty="0">
                <a:solidFill>
                  <a:srgbClr val="64748B"/>
                </a:solidFill>
                <a:latin typeface="Calibri" pitchFamily="34" charset="0"/>
                <a:ea typeface="Calibri" pitchFamily="34" charset="-122"/>
                <a:cs typeface="Calibri" pitchFamily="34" charset="-120"/>
              </a:rPr>
              <a:t>Indica cómo se pagará: Operación, FBC, Donativo u Otra fuente. Si aplica suplemento o traspaso presupuestal, márcalo en los campos correspondientes.</a:t>
            </a:r>
            <a:endParaRPr lang="es-419" sz="1050" noProof="0" dirty="0"/>
          </a:p>
        </p:txBody>
      </p:sp>
      <p:sp>
        <p:nvSpPr>
          <p:cNvPr id="33" name="Shape 31"/>
          <p:cNvSpPr/>
          <p:nvPr/>
        </p:nvSpPr>
        <p:spPr>
          <a:xfrm>
            <a:off x="274320" y="4279392"/>
            <a:ext cx="8595360" cy="566928"/>
          </a:xfrm>
          <a:prstGeom prst="rect">
            <a:avLst/>
          </a:prstGeom>
          <a:solidFill>
            <a:srgbClr val="F1F5F9"/>
          </a:solidFill>
          <a:ln w="12700">
            <a:solidFill>
              <a:srgbClr val="E2E8F0"/>
            </a:solidFill>
            <a:prstDash val="solid"/>
          </a:ln>
        </p:spPr>
        <p:txBody>
          <a:bodyPr/>
          <a:lstStyle/>
          <a:p>
            <a:endParaRPr lang="es-419" noProof="0" dirty="0"/>
          </a:p>
        </p:txBody>
      </p:sp>
      <p:sp>
        <p:nvSpPr>
          <p:cNvPr id="34" name="Shape 32"/>
          <p:cNvSpPr/>
          <p:nvPr/>
        </p:nvSpPr>
        <p:spPr>
          <a:xfrm>
            <a:off x="274320" y="4279392"/>
            <a:ext cx="64008" cy="502920"/>
          </a:xfrm>
          <a:prstGeom prst="rect">
            <a:avLst/>
          </a:prstGeom>
          <a:solidFill>
            <a:srgbClr val="0D8A7E"/>
          </a:solidFill>
          <a:ln w="12700">
            <a:solidFill>
              <a:srgbClr val="0D8A7E"/>
            </a:solidFill>
            <a:prstDash val="solid"/>
          </a:ln>
        </p:spPr>
        <p:txBody>
          <a:bodyPr/>
          <a:lstStyle/>
          <a:p>
            <a:endParaRPr lang="es-419" noProof="0" dirty="0"/>
          </a:p>
        </p:txBody>
      </p:sp>
      <p:sp>
        <p:nvSpPr>
          <p:cNvPr id="35" name="Text 33"/>
          <p:cNvSpPr/>
          <p:nvPr/>
        </p:nvSpPr>
        <p:spPr>
          <a:xfrm>
            <a:off x="411480" y="4297680"/>
            <a:ext cx="3200400" cy="256032"/>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Elaborar Suplemento / Elaborar Traspaso</a:t>
            </a:r>
            <a:endParaRPr lang="es-419" sz="1100" noProof="0" dirty="0"/>
          </a:p>
        </p:txBody>
      </p:sp>
      <p:sp>
        <p:nvSpPr>
          <p:cNvPr id="36" name="Text 34"/>
          <p:cNvSpPr/>
          <p:nvPr/>
        </p:nvSpPr>
        <p:spPr>
          <a:xfrm>
            <a:off x="411480" y="4553712"/>
            <a:ext cx="8321040" cy="201168"/>
          </a:xfrm>
          <a:prstGeom prst="rect">
            <a:avLst/>
          </a:prstGeom>
          <a:noFill/>
          <a:ln/>
        </p:spPr>
        <p:txBody>
          <a:bodyPr wrap="square" rtlCol="0" anchor="ctr"/>
          <a:lstStyle/>
          <a:p>
            <a:pPr marL="0" indent="0">
              <a:buNone/>
            </a:pPr>
            <a:r>
              <a:rPr lang="es-419" sz="1050" noProof="0" dirty="0">
                <a:solidFill>
                  <a:srgbClr val="64748B"/>
                </a:solidFill>
                <a:latin typeface="Calibri" pitchFamily="34" charset="0"/>
                <a:ea typeface="Calibri" pitchFamily="34" charset="-122"/>
                <a:cs typeface="Calibri" pitchFamily="34" charset="-120"/>
              </a:rPr>
              <a:t>Selecciona SI o NO en Elaborar Suplemento. El campo Elaborar Traspaso se asigna automaticamente de forma inversa: si Suplemento es NO, Traspaso sera SI; si Suplemento es SI, Traspaso sera NO. El campo Traspaso es de solo lectura.</a:t>
            </a:r>
            <a:endParaRPr lang="es-419" sz="105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8A7E"/>
          </a:solidFill>
          <a:ln w="12700">
            <a:solidFill>
              <a:srgbClr val="0D8A7E"/>
            </a:solidFill>
            <a:prstDash val="solid"/>
          </a:ln>
        </p:spPr>
        <p:txBody>
          <a:bodyPr/>
          <a:lstStyle/>
          <a:p>
            <a:endParaRPr lang="es-419" noProof="0" dirty="0"/>
          </a:p>
        </p:txBody>
      </p:sp>
      <p:sp>
        <p:nvSpPr>
          <p:cNvPr id="3" name="Text 1"/>
          <p:cNvSpPr/>
          <p:nvPr/>
        </p:nvSpPr>
        <p:spPr>
          <a:xfrm>
            <a:off x="365760" y="91440"/>
            <a:ext cx="8412480" cy="731520"/>
          </a:xfrm>
          <a:prstGeom prst="rect">
            <a:avLst/>
          </a:prstGeom>
          <a:noFill/>
          <a:ln/>
        </p:spPr>
        <p:txBody>
          <a:bodyPr wrap="square" rtlCol="0" anchor="ctr"/>
          <a:lstStyle/>
          <a:p>
            <a:pPr marL="0" indent="0" algn="l">
              <a:buNone/>
            </a:pPr>
            <a:r>
              <a:rPr lang="es-419" sz="2000" b="1" noProof="0" dirty="0">
                <a:solidFill>
                  <a:srgbClr val="FFFFFF"/>
                </a:solidFill>
                <a:latin typeface="Calibri" pitchFamily="34" charset="0"/>
                <a:ea typeface="Calibri" pitchFamily="34" charset="-122"/>
                <a:cs typeface="Calibri" pitchFamily="34" charset="-120"/>
              </a:rPr>
              <a:t>Ciclo de Vida del Ticket MAS — Estatus</a:t>
            </a:r>
            <a:endParaRPr lang="es-419" sz="2000" noProof="0" dirty="0"/>
          </a:p>
        </p:txBody>
      </p:sp>
      <p:sp>
        <p:nvSpPr>
          <p:cNvPr id="4" name="Shape 2"/>
          <p:cNvSpPr/>
          <p:nvPr/>
        </p:nvSpPr>
        <p:spPr>
          <a:xfrm>
            <a:off x="502920" y="2331720"/>
            <a:ext cx="8138160" cy="54864"/>
          </a:xfrm>
          <a:prstGeom prst="rect">
            <a:avLst/>
          </a:prstGeom>
          <a:solidFill>
            <a:srgbClr val="E2E8F0"/>
          </a:solidFill>
          <a:ln w="12700">
            <a:solidFill>
              <a:srgbClr val="E2E8F0"/>
            </a:solidFill>
            <a:prstDash val="solid"/>
          </a:ln>
        </p:spPr>
        <p:txBody>
          <a:bodyPr/>
          <a:lstStyle/>
          <a:p>
            <a:endParaRPr lang="es-419" noProof="0" dirty="0"/>
          </a:p>
        </p:txBody>
      </p:sp>
      <p:sp>
        <p:nvSpPr>
          <p:cNvPr id="5" name="Shape 3"/>
          <p:cNvSpPr/>
          <p:nvPr/>
        </p:nvSpPr>
        <p:spPr>
          <a:xfrm>
            <a:off x="868680" y="2103120"/>
            <a:ext cx="548640" cy="548640"/>
          </a:xfrm>
          <a:prstGeom prst="ellipse">
            <a:avLst/>
          </a:prstGeom>
          <a:solidFill>
            <a:srgbClr val="D97706"/>
          </a:solidFill>
          <a:ln w="12700">
            <a:solidFill>
              <a:srgbClr val="D97706"/>
            </a:solidFill>
            <a:prstDash val="solid"/>
          </a:ln>
        </p:spPr>
        <p:txBody>
          <a:bodyPr/>
          <a:lstStyle/>
          <a:p>
            <a:endParaRPr lang="es-419" noProof="0" dirty="0"/>
          </a:p>
        </p:txBody>
      </p:sp>
      <p:sp>
        <p:nvSpPr>
          <p:cNvPr id="6" name="Text 4"/>
          <p:cNvSpPr/>
          <p:nvPr/>
        </p:nvSpPr>
        <p:spPr>
          <a:xfrm>
            <a:off x="868680" y="2103120"/>
            <a:ext cx="548640" cy="548640"/>
          </a:xfrm>
          <a:prstGeom prst="rect">
            <a:avLst/>
          </a:prstGeom>
          <a:noFill/>
          <a:ln/>
        </p:spPr>
        <p:txBody>
          <a:bodyPr wrap="square" rtlCol="0" anchor="ctr"/>
          <a:lstStyle/>
          <a:p>
            <a:pPr marL="0" indent="0" algn="ctr">
              <a:buNone/>
            </a:pPr>
            <a:r>
              <a:rPr lang="es-419" sz="1400" b="1" noProof="0" dirty="0">
                <a:solidFill>
                  <a:srgbClr val="FFFFFF"/>
                </a:solidFill>
                <a:latin typeface="Calibri" pitchFamily="34" charset="0"/>
                <a:ea typeface="Calibri" pitchFamily="34" charset="-122"/>
                <a:cs typeface="Calibri" pitchFamily="34" charset="-120"/>
              </a:rPr>
              <a:t>1</a:t>
            </a:r>
            <a:endParaRPr lang="es-419" sz="1400" noProof="0" dirty="0"/>
          </a:p>
        </p:txBody>
      </p:sp>
      <p:sp>
        <p:nvSpPr>
          <p:cNvPr id="7" name="Shape 5"/>
          <p:cNvSpPr/>
          <p:nvPr/>
        </p:nvSpPr>
        <p:spPr>
          <a:xfrm>
            <a:off x="320040" y="1005840"/>
            <a:ext cx="2011680" cy="10058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8" name="Shape 6"/>
          <p:cNvSpPr/>
          <p:nvPr/>
        </p:nvSpPr>
        <p:spPr>
          <a:xfrm>
            <a:off x="320040" y="1005840"/>
            <a:ext cx="2011680" cy="347472"/>
          </a:xfrm>
          <a:prstGeom prst="rect">
            <a:avLst/>
          </a:prstGeom>
          <a:solidFill>
            <a:srgbClr val="D97706"/>
          </a:solidFill>
          <a:ln w="12700">
            <a:solidFill>
              <a:srgbClr val="D97706"/>
            </a:solidFill>
            <a:prstDash val="solid"/>
          </a:ln>
        </p:spPr>
        <p:txBody>
          <a:bodyPr/>
          <a:lstStyle/>
          <a:p>
            <a:endParaRPr lang="es-419" noProof="0" dirty="0"/>
          </a:p>
        </p:txBody>
      </p:sp>
      <p:sp>
        <p:nvSpPr>
          <p:cNvPr id="9" name="Text 7"/>
          <p:cNvSpPr/>
          <p:nvPr/>
        </p:nvSpPr>
        <p:spPr>
          <a:xfrm>
            <a:off x="320040" y="1005840"/>
            <a:ext cx="2011680" cy="347472"/>
          </a:xfrm>
          <a:prstGeom prst="rect">
            <a:avLst/>
          </a:prstGeom>
          <a:noFill/>
          <a:ln/>
        </p:spPr>
        <p:txBody>
          <a:bodyPr wrap="square" rtlCol="0" anchor="ctr"/>
          <a:lstStyle/>
          <a:p>
            <a:pPr marL="0" indent="0" algn="ctr">
              <a:buNone/>
            </a:pPr>
            <a:r>
              <a:rPr lang="es-419" sz="1100" b="1" noProof="0" dirty="0">
                <a:solidFill>
                  <a:srgbClr val="FFFFFF"/>
                </a:solidFill>
                <a:latin typeface="Calibri" pitchFamily="34" charset="0"/>
                <a:ea typeface="Calibri" pitchFamily="34" charset="-122"/>
                <a:cs typeface="Calibri" pitchFamily="34" charset="-120"/>
              </a:rPr>
              <a:t>PENDIENTE</a:t>
            </a:r>
            <a:endParaRPr lang="es-419" sz="1100" noProof="0" dirty="0"/>
          </a:p>
        </p:txBody>
      </p:sp>
      <p:sp>
        <p:nvSpPr>
          <p:cNvPr id="10" name="Text 8"/>
          <p:cNvSpPr/>
          <p:nvPr/>
        </p:nvSpPr>
        <p:spPr>
          <a:xfrm>
            <a:off x="393192" y="1389888"/>
            <a:ext cx="1883664" cy="566928"/>
          </a:xfrm>
          <a:prstGeom prst="rect">
            <a:avLst/>
          </a:prstGeom>
          <a:noFill/>
          <a:ln/>
        </p:spPr>
        <p:txBody>
          <a:bodyPr wrap="square" rtlCol="0" anchor="ctr"/>
          <a:lstStyle/>
          <a:p>
            <a:pPr marL="0" indent="0">
              <a:buNone/>
            </a:pPr>
            <a:r>
              <a:rPr lang="es-419" sz="900" noProof="0" dirty="0">
                <a:solidFill>
                  <a:srgbClr val="64748B"/>
                </a:solidFill>
                <a:latin typeface="Calibri" pitchFamily="34" charset="0"/>
                <a:ea typeface="Calibri" pitchFamily="34" charset="-122"/>
                <a:cs typeface="Calibri" pitchFamily="34" charset="-120"/>
              </a:rPr>
              <a:t>Responsable: Colegio / Sistema</a:t>
            </a:r>
            <a:endParaRPr lang="es-419" sz="900" noProof="0" dirty="0"/>
          </a:p>
        </p:txBody>
      </p:sp>
      <p:sp>
        <p:nvSpPr>
          <p:cNvPr id="11" name="Shape 9"/>
          <p:cNvSpPr/>
          <p:nvPr/>
        </p:nvSpPr>
        <p:spPr>
          <a:xfrm>
            <a:off x="320040" y="2743200"/>
            <a:ext cx="2011680" cy="2148840"/>
          </a:xfrm>
          <a:prstGeom prst="rect">
            <a:avLst/>
          </a:prstGeom>
          <a:solidFill>
            <a:srgbClr val="F1F5F9"/>
          </a:solidFill>
          <a:ln w="12700">
            <a:solidFill>
              <a:srgbClr val="E2E8F0"/>
            </a:solidFill>
            <a:prstDash val="solid"/>
          </a:ln>
        </p:spPr>
        <p:txBody>
          <a:bodyPr/>
          <a:lstStyle/>
          <a:p>
            <a:endParaRPr lang="es-419" noProof="0" dirty="0"/>
          </a:p>
        </p:txBody>
      </p:sp>
      <p:sp>
        <p:nvSpPr>
          <p:cNvPr id="12" name="Shape 10"/>
          <p:cNvSpPr/>
          <p:nvPr/>
        </p:nvSpPr>
        <p:spPr>
          <a:xfrm>
            <a:off x="320040" y="2743200"/>
            <a:ext cx="2011680" cy="64008"/>
          </a:xfrm>
          <a:prstGeom prst="rect">
            <a:avLst/>
          </a:prstGeom>
          <a:solidFill>
            <a:srgbClr val="D97706"/>
          </a:solidFill>
          <a:ln w="12700">
            <a:solidFill>
              <a:srgbClr val="D97706"/>
            </a:solidFill>
            <a:prstDash val="solid"/>
          </a:ln>
        </p:spPr>
        <p:txBody>
          <a:bodyPr/>
          <a:lstStyle/>
          <a:p>
            <a:endParaRPr lang="es-419" noProof="0" dirty="0"/>
          </a:p>
        </p:txBody>
      </p:sp>
      <p:sp>
        <p:nvSpPr>
          <p:cNvPr id="13" name="Text 11"/>
          <p:cNvSpPr/>
          <p:nvPr/>
        </p:nvSpPr>
        <p:spPr>
          <a:xfrm>
            <a:off x="411480" y="2834640"/>
            <a:ext cx="1828800" cy="1965960"/>
          </a:xfrm>
          <a:prstGeom prst="rect">
            <a:avLst/>
          </a:prstGeom>
          <a:noFill/>
          <a:ln/>
        </p:spPr>
        <p:txBody>
          <a:bodyPr wrap="square" rtlCol="0" anchor="t"/>
          <a:lstStyle/>
          <a:p>
            <a:pPr marL="0" indent="0">
              <a:buNone/>
            </a:pPr>
            <a:r>
              <a:rPr lang="es-419" sz="1000" noProof="0" dirty="0">
                <a:solidFill>
                  <a:srgbClr val="334155"/>
                </a:solidFill>
                <a:latin typeface="Calibri" pitchFamily="34" charset="0"/>
                <a:ea typeface="Calibri" pitchFamily="34" charset="-122"/>
                <a:cs typeface="Calibri" pitchFamily="34" charset="-120"/>
              </a:rPr>
              <a:t>El ticket fue enviado y espera revisión por parte del Coordinador de Obras. El colegio puede ver su estatus en el sistema.</a:t>
            </a:r>
            <a:endParaRPr lang="es-419" sz="1000" noProof="0" dirty="0"/>
          </a:p>
        </p:txBody>
      </p:sp>
      <p:sp>
        <p:nvSpPr>
          <p:cNvPr id="14" name="Shape 12"/>
          <p:cNvSpPr/>
          <p:nvPr/>
        </p:nvSpPr>
        <p:spPr>
          <a:xfrm>
            <a:off x="3017520" y="2103120"/>
            <a:ext cx="548640" cy="548640"/>
          </a:xfrm>
          <a:prstGeom prst="ellipse">
            <a:avLst/>
          </a:prstGeom>
          <a:solidFill>
            <a:srgbClr val="1A4B8C"/>
          </a:solidFill>
          <a:ln w="12700">
            <a:solidFill>
              <a:srgbClr val="1A4B8C"/>
            </a:solidFill>
            <a:prstDash val="solid"/>
          </a:ln>
        </p:spPr>
        <p:txBody>
          <a:bodyPr/>
          <a:lstStyle/>
          <a:p>
            <a:endParaRPr lang="es-419" noProof="0" dirty="0"/>
          </a:p>
        </p:txBody>
      </p:sp>
      <p:sp>
        <p:nvSpPr>
          <p:cNvPr id="15" name="Text 13"/>
          <p:cNvSpPr/>
          <p:nvPr/>
        </p:nvSpPr>
        <p:spPr>
          <a:xfrm>
            <a:off x="3017520" y="2103120"/>
            <a:ext cx="548640" cy="548640"/>
          </a:xfrm>
          <a:prstGeom prst="rect">
            <a:avLst/>
          </a:prstGeom>
          <a:noFill/>
          <a:ln/>
        </p:spPr>
        <p:txBody>
          <a:bodyPr wrap="square" rtlCol="0" anchor="ctr"/>
          <a:lstStyle/>
          <a:p>
            <a:pPr marL="0" indent="0" algn="ctr">
              <a:buNone/>
            </a:pPr>
            <a:r>
              <a:rPr lang="es-419" sz="1400" b="1" noProof="0" dirty="0">
                <a:solidFill>
                  <a:srgbClr val="FFFFFF"/>
                </a:solidFill>
                <a:latin typeface="Calibri" pitchFamily="34" charset="0"/>
                <a:ea typeface="Calibri" pitchFamily="34" charset="-122"/>
                <a:cs typeface="Calibri" pitchFamily="34" charset="-120"/>
              </a:rPr>
              <a:t>2</a:t>
            </a:r>
            <a:endParaRPr lang="es-419" sz="1400" noProof="0" dirty="0"/>
          </a:p>
        </p:txBody>
      </p:sp>
      <p:sp>
        <p:nvSpPr>
          <p:cNvPr id="16" name="Shape 14"/>
          <p:cNvSpPr/>
          <p:nvPr/>
        </p:nvSpPr>
        <p:spPr>
          <a:xfrm>
            <a:off x="2468880" y="1005840"/>
            <a:ext cx="2011680" cy="10058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7" name="Shape 15"/>
          <p:cNvSpPr/>
          <p:nvPr/>
        </p:nvSpPr>
        <p:spPr>
          <a:xfrm>
            <a:off x="2468880" y="1005840"/>
            <a:ext cx="2011680" cy="347472"/>
          </a:xfrm>
          <a:prstGeom prst="rect">
            <a:avLst/>
          </a:prstGeom>
          <a:solidFill>
            <a:srgbClr val="1A4B8C"/>
          </a:solidFill>
          <a:ln w="12700">
            <a:solidFill>
              <a:srgbClr val="1A4B8C"/>
            </a:solidFill>
            <a:prstDash val="solid"/>
          </a:ln>
        </p:spPr>
        <p:txBody>
          <a:bodyPr/>
          <a:lstStyle/>
          <a:p>
            <a:endParaRPr lang="es-419" noProof="0" dirty="0"/>
          </a:p>
        </p:txBody>
      </p:sp>
      <p:sp>
        <p:nvSpPr>
          <p:cNvPr id="18" name="Text 16"/>
          <p:cNvSpPr/>
          <p:nvPr/>
        </p:nvSpPr>
        <p:spPr>
          <a:xfrm>
            <a:off x="2468880" y="1005840"/>
            <a:ext cx="2011680" cy="347472"/>
          </a:xfrm>
          <a:prstGeom prst="rect">
            <a:avLst/>
          </a:prstGeom>
          <a:noFill/>
          <a:ln/>
        </p:spPr>
        <p:txBody>
          <a:bodyPr wrap="square" rtlCol="0" anchor="ctr"/>
          <a:lstStyle/>
          <a:p>
            <a:pPr marL="0" indent="0" algn="ctr">
              <a:buNone/>
            </a:pPr>
            <a:r>
              <a:rPr lang="es-419" sz="1100" b="1" noProof="0" dirty="0">
                <a:solidFill>
                  <a:srgbClr val="FFFFFF"/>
                </a:solidFill>
                <a:latin typeface="Calibri" pitchFamily="34" charset="0"/>
                <a:ea typeface="Calibri" pitchFamily="34" charset="-122"/>
                <a:cs typeface="Calibri" pitchFamily="34" charset="-120"/>
              </a:rPr>
              <a:t>EN REVISIÓN</a:t>
            </a:r>
            <a:endParaRPr lang="es-419" sz="1100" noProof="0" dirty="0"/>
          </a:p>
        </p:txBody>
      </p:sp>
      <p:sp>
        <p:nvSpPr>
          <p:cNvPr id="19" name="Text 17"/>
          <p:cNvSpPr/>
          <p:nvPr/>
        </p:nvSpPr>
        <p:spPr>
          <a:xfrm>
            <a:off x="2542032" y="1389888"/>
            <a:ext cx="1883664" cy="566928"/>
          </a:xfrm>
          <a:prstGeom prst="rect">
            <a:avLst/>
          </a:prstGeom>
          <a:noFill/>
          <a:ln/>
        </p:spPr>
        <p:txBody>
          <a:bodyPr wrap="square" rtlCol="0" anchor="ctr"/>
          <a:lstStyle/>
          <a:p>
            <a:pPr marL="0" indent="0">
              <a:buNone/>
            </a:pPr>
            <a:r>
              <a:rPr lang="es-419" sz="900" noProof="0" dirty="0">
                <a:solidFill>
                  <a:srgbClr val="64748B"/>
                </a:solidFill>
                <a:latin typeface="Calibri" pitchFamily="34" charset="0"/>
                <a:ea typeface="Calibri" pitchFamily="34" charset="-122"/>
                <a:cs typeface="Calibri" pitchFamily="34" charset="-120"/>
              </a:rPr>
              <a:t>Responsable: Coordinador</a:t>
            </a:r>
            <a:endParaRPr lang="es-419" sz="900" noProof="0" dirty="0"/>
          </a:p>
        </p:txBody>
      </p:sp>
      <p:sp>
        <p:nvSpPr>
          <p:cNvPr id="20" name="Shape 18"/>
          <p:cNvSpPr/>
          <p:nvPr/>
        </p:nvSpPr>
        <p:spPr>
          <a:xfrm>
            <a:off x="2468880" y="2743200"/>
            <a:ext cx="2011680" cy="2148840"/>
          </a:xfrm>
          <a:prstGeom prst="rect">
            <a:avLst/>
          </a:prstGeom>
          <a:solidFill>
            <a:srgbClr val="FFFFFF"/>
          </a:solidFill>
          <a:ln w="12700">
            <a:solidFill>
              <a:srgbClr val="E2E8F0"/>
            </a:solidFill>
            <a:prstDash val="solid"/>
          </a:ln>
        </p:spPr>
        <p:txBody>
          <a:bodyPr/>
          <a:lstStyle/>
          <a:p>
            <a:endParaRPr lang="es-419" noProof="0" dirty="0"/>
          </a:p>
        </p:txBody>
      </p:sp>
      <p:sp>
        <p:nvSpPr>
          <p:cNvPr id="21" name="Shape 19"/>
          <p:cNvSpPr/>
          <p:nvPr/>
        </p:nvSpPr>
        <p:spPr>
          <a:xfrm>
            <a:off x="2468880" y="2743200"/>
            <a:ext cx="2011680" cy="64008"/>
          </a:xfrm>
          <a:prstGeom prst="rect">
            <a:avLst/>
          </a:prstGeom>
          <a:solidFill>
            <a:srgbClr val="1A4B8C"/>
          </a:solidFill>
          <a:ln w="12700">
            <a:solidFill>
              <a:srgbClr val="1A4B8C"/>
            </a:solidFill>
            <a:prstDash val="solid"/>
          </a:ln>
        </p:spPr>
        <p:txBody>
          <a:bodyPr/>
          <a:lstStyle/>
          <a:p>
            <a:endParaRPr lang="es-419" noProof="0" dirty="0"/>
          </a:p>
        </p:txBody>
      </p:sp>
      <p:sp>
        <p:nvSpPr>
          <p:cNvPr id="22" name="Text 20"/>
          <p:cNvSpPr/>
          <p:nvPr/>
        </p:nvSpPr>
        <p:spPr>
          <a:xfrm>
            <a:off x="2560320" y="2834640"/>
            <a:ext cx="1828800" cy="1965960"/>
          </a:xfrm>
          <a:prstGeom prst="rect">
            <a:avLst/>
          </a:prstGeom>
          <a:noFill/>
          <a:ln/>
        </p:spPr>
        <p:txBody>
          <a:bodyPr wrap="square" rtlCol="0" anchor="t"/>
          <a:lstStyle/>
          <a:p>
            <a:pPr marL="0" indent="0">
              <a:buNone/>
            </a:pPr>
            <a:r>
              <a:rPr lang="es-419" sz="1000" noProof="0" dirty="0">
                <a:solidFill>
                  <a:srgbClr val="334155"/>
                </a:solidFill>
                <a:latin typeface="Calibri" pitchFamily="34" charset="0"/>
                <a:ea typeface="Calibri" pitchFamily="34" charset="-122"/>
                <a:cs typeface="Calibri" pitchFamily="34" charset="-120"/>
              </a:rPr>
              <a:t>El coordinador está analizando el ticket, verificando cotizaciones y validando información.</a:t>
            </a:r>
            <a:endParaRPr lang="es-419" sz="1000" noProof="0" dirty="0"/>
          </a:p>
        </p:txBody>
      </p:sp>
      <p:sp>
        <p:nvSpPr>
          <p:cNvPr id="23" name="Shape 21"/>
          <p:cNvSpPr/>
          <p:nvPr/>
        </p:nvSpPr>
        <p:spPr>
          <a:xfrm>
            <a:off x="5166360" y="2103120"/>
            <a:ext cx="548640" cy="548640"/>
          </a:xfrm>
          <a:prstGeom prst="ellipse">
            <a:avLst/>
          </a:prstGeom>
          <a:solidFill>
            <a:srgbClr val="166534"/>
          </a:solidFill>
          <a:ln w="12700">
            <a:solidFill>
              <a:srgbClr val="166534"/>
            </a:solidFill>
            <a:prstDash val="solid"/>
          </a:ln>
        </p:spPr>
        <p:txBody>
          <a:bodyPr/>
          <a:lstStyle/>
          <a:p>
            <a:endParaRPr lang="es-419" noProof="0" dirty="0"/>
          </a:p>
        </p:txBody>
      </p:sp>
      <p:sp>
        <p:nvSpPr>
          <p:cNvPr id="24" name="Text 22"/>
          <p:cNvSpPr/>
          <p:nvPr/>
        </p:nvSpPr>
        <p:spPr>
          <a:xfrm>
            <a:off x="5166360" y="2103120"/>
            <a:ext cx="548640" cy="548640"/>
          </a:xfrm>
          <a:prstGeom prst="rect">
            <a:avLst/>
          </a:prstGeom>
          <a:noFill/>
          <a:ln/>
        </p:spPr>
        <p:txBody>
          <a:bodyPr wrap="square" rtlCol="0" anchor="ctr"/>
          <a:lstStyle/>
          <a:p>
            <a:pPr marL="0" indent="0" algn="ctr">
              <a:buNone/>
            </a:pPr>
            <a:r>
              <a:rPr lang="es-419" sz="1400" b="1" noProof="0" dirty="0">
                <a:solidFill>
                  <a:srgbClr val="FFFFFF"/>
                </a:solidFill>
                <a:latin typeface="Calibri" pitchFamily="34" charset="0"/>
                <a:ea typeface="Calibri" pitchFamily="34" charset="-122"/>
                <a:cs typeface="Calibri" pitchFamily="34" charset="-120"/>
              </a:rPr>
              <a:t>3</a:t>
            </a:r>
            <a:endParaRPr lang="es-419" sz="1400" noProof="0" dirty="0"/>
          </a:p>
        </p:txBody>
      </p:sp>
      <p:sp>
        <p:nvSpPr>
          <p:cNvPr id="25" name="Shape 23"/>
          <p:cNvSpPr/>
          <p:nvPr/>
        </p:nvSpPr>
        <p:spPr>
          <a:xfrm>
            <a:off x="4617720" y="1005840"/>
            <a:ext cx="2011680" cy="10058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26" name="Shape 24"/>
          <p:cNvSpPr/>
          <p:nvPr/>
        </p:nvSpPr>
        <p:spPr>
          <a:xfrm>
            <a:off x="4617720" y="1005840"/>
            <a:ext cx="2011680" cy="347472"/>
          </a:xfrm>
          <a:prstGeom prst="rect">
            <a:avLst/>
          </a:prstGeom>
          <a:solidFill>
            <a:srgbClr val="166534"/>
          </a:solidFill>
          <a:ln w="12700">
            <a:solidFill>
              <a:srgbClr val="166534"/>
            </a:solidFill>
            <a:prstDash val="solid"/>
          </a:ln>
        </p:spPr>
        <p:txBody>
          <a:bodyPr/>
          <a:lstStyle/>
          <a:p>
            <a:endParaRPr lang="es-419" noProof="0" dirty="0"/>
          </a:p>
        </p:txBody>
      </p:sp>
      <p:sp>
        <p:nvSpPr>
          <p:cNvPr id="27" name="Text 25"/>
          <p:cNvSpPr/>
          <p:nvPr/>
        </p:nvSpPr>
        <p:spPr>
          <a:xfrm>
            <a:off x="4617720" y="1005840"/>
            <a:ext cx="2011680" cy="347472"/>
          </a:xfrm>
          <a:prstGeom prst="rect">
            <a:avLst/>
          </a:prstGeom>
          <a:noFill/>
          <a:ln/>
        </p:spPr>
        <p:txBody>
          <a:bodyPr wrap="square" rtlCol="0" anchor="ctr"/>
          <a:lstStyle/>
          <a:p>
            <a:pPr marL="0" indent="0" algn="ctr">
              <a:buNone/>
            </a:pPr>
            <a:r>
              <a:rPr lang="es-419" sz="1100" b="1" noProof="0" dirty="0">
                <a:solidFill>
                  <a:srgbClr val="FFFFFF"/>
                </a:solidFill>
                <a:latin typeface="Calibri" pitchFamily="34" charset="0"/>
                <a:ea typeface="Calibri" pitchFamily="34" charset="-122"/>
                <a:cs typeface="Calibri" pitchFamily="34" charset="-120"/>
              </a:rPr>
              <a:t>AUTORIZADO</a:t>
            </a:r>
            <a:endParaRPr lang="es-419" sz="1100" noProof="0" dirty="0"/>
          </a:p>
        </p:txBody>
      </p:sp>
      <p:sp>
        <p:nvSpPr>
          <p:cNvPr id="28" name="Text 26"/>
          <p:cNvSpPr/>
          <p:nvPr/>
        </p:nvSpPr>
        <p:spPr>
          <a:xfrm>
            <a:off x="4690872" y="1389888"/>
            <a:ext cx="1883664" cy="566928"/>
          </a:xfrm>
          <a:prstGeom prst="rect">
            <a:avLst/>
          </a:prstGeom>
          <a:noFill/>
          <a:ln/>
        </p:spPr>
        <p:txBody>
          <a:bodyPr wrap="square" rtlCol="0" anchor="ctr"/>
          <a:lstStyle/>
          <a:p>
            <a:pPr marL="0" indent="0">
              <a:buNone/>
            </a:pPr>
            <a:r>
              <a:rPr lang="es-419" sz="900" noProof="0" dirty="0">
                <a:solidFill>
                  <a:srgbClr val="64748B"/>
                </a:solidFill>
                <a:latin typeface="Calibri" pitchFamily="34" charset="0"/>
                <a:ea typeface="Calibri" pitchFamily="34" charset="-122"/>
                <a:cs typeface="Calibri" pitchFamily="34" charset="-120"/>
              </a:rPr>
              <a:t>Responsable: Coordinador</a:t>
            </a:r>
            <a:endParaRPr lang="es-419" sz="900" noProof="0" dirty="0"/>
          </a:p>
        </p:txBody>
      </p:sp>
      <p:sp>
        <p:nvSpPr>
          <p:cNvPr id="29" name="Shape 27"/>
          <p:cNvSpPr/>
          <p:nvPr/>
        </p:nvSpPr>
        <p:spPr>
          <a:xfrm>
            <a:off x="4617720" y="2743200"/>
            <a:ext cx="2011680" cy="2148840"/>
          </a:xfrm>
          <a:prstGeom prst="rect">
            <a:avLst/>
          </a:prstGeom>
          <a:solidFill>
            <a:srgbClr val="F1F5F9"/>
          </a:solidFill>
          <a:ln w="12700">
            <a:solidFill>
              <a:srgbClr val="E2E8F0"/>
            </a:solidFill>
            <a:prstDash val="solid"/>
          </a:ln>
        </p:spPr>
        <p:txBody>
          <a:bodyPr/>
          <a:lstStyle/>
          <a:p>
            <a:endParaRPr lang="es-419" noProof="0" dirty="0"/>
          </a:p>
        </p:txBody>
      </p:sp>
      <p:sp>
        <p:nvSpPr>
          <p:cNvPr id="30" name="Shape 28"/>
          <p:cNvSpPr/>
          <p:nvPr/>
        </p:nvSpPr>
        <p:spPr>
          <a:xfrm>
            <a:off x="4617720" y="2743200"/>
            <a:ext cx="2011680" cy="64008"/>
          </a:xfrm>
          <a:prstGeom prst="rect">
            <a:avLst/>
          </a:prstGeom>
          <a:solidFill>
            <a:srgbClr val="166534"/>
          </a:solidFill>
          <a:ln w="12700">
            <a:solidFill>
              <a:srgbClr val="166534"/>
            </a:solidFill>
            <a:prstDash val="solid"/>
          </a:ln>
        </p:spPr>
        <p:txBody>
          <a:bodyPr/>
          <a:lstStyle/>
          <a:p>
            <a:endParaRPr lang="es-419" noProof="0" dirty="0"/>
          </a:p>
        </p:txBody>
      </p:sp>
      <p:sp>
        <p:nvSpPr>
          <p:cNvPr id="31" name="Text 29"/>
          <p:cNvSpPr/>
          <p:nvPr/>
        </p:nvSpPr>
        <p:spPr>
          <a:xfrm>
            <a:off x="4709160" y="2834640"/>
            <a:ext cx="1828800" cy="1965960"/>
          </a:xfrm>
          <a:prstGeom prst="rect">
            <a:avLst/>
          </a:prstGeom>
          <a:noFill/>
          <a:ln/>
        </p:spPr>
        <p:txBody>
          <a:bodyPr wrap="square" rtlCol="0" anchor="t"/>
          <a:lstStyle/>
          <a:p>
            <a:pPr marL="0" indent="0">
              <a:buNone/>
            </a:pPr>
            <a:r>
              <a:rPr lang="es-419" sz="1000" noProof="0" dirty="0">
                <a:solidFill>
                  <a:srgbClr val="334155"/>
                </a:solidFill>
                <a:latin typeface="Calibri" pitchFamily="34" charset="0"/>
                <a:ea typeface="Calibri" pitchFamily="34" charset="-122"/>
                <a:cs typeface="Calibri" pitchFamily="34" charset="-120"/>
              </a:rPr>
              <a:t>El trabajo está aprobado. Se genera automáticamente el PDF del ticket con la firma del coordinador y se notifica al colegio.</a:t>
            </a:r>
            <a:endParaRPr lang="es-419" sz="1000" noProof="0" dirty="0"/>
          </a:p>
        </p:txBody>
      </p:sp>
      <p:sp>
        <p:nvSpPr>
          <p:cNvPr id="32" name="Shape 30"/>
          <p:cNvSpPr/>
          <p:nvPr/>
        </p:nvSpPr>
        <p:spPr>
          <a:xfrm>
            <a:off x="7315200" y="2103120"/>
            <a:ext cx="548640" cy="548640"/>
          </a:xfrm>
          <a:prstGeom prst="ellipse">
            <a:avLst/>
          </a:prstGeom>
          <a:solidFill>
            <a:srgbClr val="991B1B"/>
          </a:solidFill>
          <a:ln w="12700">
            <a:solidFill>
              <a:srgbClr val="991B1B"/>
            </a:solidFill>
            <a:prstDash val="solid"/>
          </a:ln>
        </p:spPr>
        <p:txBody>
          <a:bodyPr/>
          <a:lstStyle/>
          <a:p>
            <a:endParaRPr lang="es-419" noProof="0" dirty="0"/>
          </a:p>
        </p:txBody>
      </p:sp>
      <p:sp>
        <p:nvSpPr>
          <p:cNvPr id="33" name="Text 31"/>
          <p:cNvSpPr/>
          <p:nvPr/>
        </p:nvSpPr>
        <p:spPr>
          <a:xfrm>
            <a:off x="7315200" y="2103120"/>
            <a:ext cx="548640" cy="548640"/>
          </a:xfrm>
          <a:prstGeom prst="rect">
            <a:avLst/>
          </a:prstGeom>
          <a:noFill/>
          <a:ln/>
        </p:spPr>
        <p:txBody>
          <a:bodyPr wrap="square" rtlCol="0" anchor="ctr"/>
          <a:lstStyle/>
          <a:p>
            <a:pPr marL="0" indent="0" algn="ctr">
              <a:buNone/>
            </a:pPr>
            <a:r>
              <a:rPr lang="es-419" sz="1400" b="1" noProof="0" dirty="0">
                <a:solidFill>
                  <a:srgbClr val="FFFFFF"/>
                </a:solidFill>
                <a:latin typeface="Calibri" pitchFamily="34" charset="0"/>
                <a:ea typeface="Calibri" pitchFamily="34" charset="-122"/>
                <a:cs typeface="Calibri" pitchFamily="34" charset="-120"/>
              </a:rPr>
              <a:t>4</a:t>
            </a:r>
            <a:endParaRPr lang="es-419" sz="1400" noProof="0" dirty="0"/>
          </a:p>
        </p:txBody>
      </p:sp>
      <p:sp>
        <p:nvSpPr>
          <p:cNvPr id="34" name="Shape 32"/>
          <p:cNvSpPr/>
          <p:nvPr/>
        </p:nvSpPr>
        <p:spPr>
          <a:xfrm>
            <a:off x="6766560" y="1005840"/>
            <a:ext cx="2011680" cy="10058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35" name="Shape 33"/>
          <p:cNvSpPr/>
          <p:nvPr/>
        </p:nvSpPr>
        <p:spPr>
          <a:xfrm>
            <a:off x="6766560" y="1005840"/>
            <a:ext cx="2011680" cy="347472"/>
          </a:xfrm>
          <a:prstGeom prst="rect">
            <a:avLst/>
          </a:prstGeom>
          <a:solidFill>
            <a:srgbClr val="991B1B"/>
          </a:solidFill>
          <a:ln w="12700">
            <a:solidFill>
              <a:srgbClr val="991B1B"/>
            </a:solidFill>
            <a:prstDash val="solid"/>
          </a:ln>
        </p:spPr>
        <p:txBody>
          <a:bodyPr/>
          <a:lstStyle/>
          <a:p>
            <a:endParaRPr lang="es-419" noProof="0" dirty="0"/>
          </a:p>
        </p:txBody>
      </p:sp>
      <p:sp>
        <p:nvSpPr>
          <p:cNvPr id="36" name="Text 34"/>
          <p:cNvSpPr/>
          <p:nvPr/>
        </p:nvSpPr>
        <p:spPr>
          <a:xfrm>
            <a:off x="6766560" y="1005840"/>
            <a:ext cx="2011680" cy="347472"/>
          </a:xfrm>
          <a:prstGeom prst="rect">
            <a:avLst/>
          </a:prstGeom>
          <a:noFill/>
          <a:ln/>
        </p:spPr>
        <p:txBody>
          <a:bodyPr wrap="square" rtlCol="0" anchor="ctr"/>
          <a:lstStyle/>
          <a:p>
            <a:pPr marL="0" indent="0" algn="ctr">
              <a:buNone/>
            </a:pPr>
            <a:r>
              <a:rPr lang="es-419" sz="1100" b="1" noProof="0" dirty="0">
                <a:solidFill>
                  <a:srgbClr val="FFFFFF"/>
                </a:solidFill>
                <a:latin typeface="Calibri" pitchFamily="34" charset="0"/>
                <a:ea typeface="Calibri" pitchFamily="34" charset="-122"/>
                <a:cs typeface="Calibri" pitchFamily="34" charset="-120"/>
              </a:rPr>
              <a:t>CANCELADO</a:t>
            </a:r>
            <a:endParaRPr lang="es-419" sz="1100" noProof="0" dirty="0"/>
          </a:p>
        </p:txBody>
      </p:sp>
      <p:sp>
        <p:nvSpPr>
          <p:cNvPr id="37" name="Text 35"/>
          <p:cNvSpPr/>
          <p:nvPr/>
        </p:nvSpPr>
        <p:spPr>
          <a:xfrm>
            <a:off x="6839712" y="1389888"/>
            <a:ext cx="1883664" cy="566928"/>
          </a:xfrm>
          <a:prstGeom prst="rect">
            <a:avLst/>
          </a:prstGeom>
          <a:noFill/>
          <a:ln/>
        </p:spPr>
        <p:txBody>
          <a:bodyPr wrap="square" rtlCol="0" anchor="ctr"/>
          <a:lstStyle/>
          <a:p>
            <a:pPr marL="0" indent="0">
              <a:buNone/>
            </a:pPr>
            <a:r>
              <a:rPr lang="es-419" sz="900" noProof="0" dirty="0">
                <a:solidFill>
                  <a:srgbClr val="64748B"/>
                </a:solidFill>
                <a:latin typeface="Calibri" pitchFamily="34" charset="0"/>
                <a:ea typeface="Calibri" pitchFamily="34" charset="-122"/>
                <a:cs typeface="Calibri" pitchFamily="34" charset="-120"/>
              </a:rPr>
              <a:t>Responsable: Coordinador</a:t>
            </a:r>
            <a:endParaRPr lang="es-419" sz="900" noProof="0" dirty="0"/>
          </a:p>
        </p:txBody>
      </p:sp>
      <p:sp>
        <p:nvSpPr>
          <p:cNvPr id="38" name="Shape 36"/>
          <p:cNvSpPr/>
          <p:nvPr/>
        </p:nvSpPr>
        <p:spPr>
          <a:xfrm>
            <a:off x="6766560" y="2743200"/>
            <a:ext cx="2011680" cy="2148840"/>
          </a:xfrm>
          <a:prstGeom prst="rect">
            <a:avLst/>
          </a:prstGeom>
          <a:solidFill>
            <a:srgbClr val="FFFFFF"/>
          </a:solidFill>
          <a:ln w="12700">
            <a:solidFill>
              <a:srgbClr val="E2E8F0"/>
            </a:solidFill>
            <a:prstDash val="solid"/>
          </a:ln>
        </p:spPr>
        <p:txBody>
          <a:bodyPr/>
          <a:lstStyle/>
          <a:p>
            <a:endParaRPr lang="es-419" noProof="0" dirty="0"/>
          </a:p>
        </p:txBody>
      </p:sp>
      <p:sp>
        <p:nvSpPr>
          <p:cNvPr id="39" name="Shape 37"/>
          <p:cNvSpPr/>
          <p:nvPr/>
        </p:nvSpPr>
        <p:spPr>
          <a:xfrm>
            <a:off x="6766560" y="2743200"/>
            <a:ext cx="2011680" cy="64008"/>
          </a:xfrm>
          <a:prstGeom prst="rect">
            <a:avLst/>
          </a:prstGeom>
          <a:solidFill>
            <a:srgbClr val="991B1B"/>
          </a:solidFill>
          <a:ln w="12700">
            <a:solidFill>
              <a:srgbClr val="991B1B"/>
            </a:solidFill>
            <a:prstDash val="solid"/>
          </a:ln>
        </p:spPr>
        <p:txBody>
          <a:bodyPr/>
          <a:lstStyle/>
          <a:p>
            <a:endParaRPr lang="es-419" noProof="0" dirty="0"/>
          </a:p>
        </p:txBody>
      </p:sp>
      <p:sp>
        <p:nvSpPr>
          <p:cNvPr id="40" name="Text 38"/>
          <p:cNvSpPr/>
          <p:nvPr/>
        </p:nvSpPr>
        <p:spPr>
          <a:xfrm>
            <a:off x="6858000" y="2834640"/>
            <a:ext cx="1828800" cy="1965960"/>
          </a:xfrm>
          <a:prstGeom prst="rect">
            <a:avLst/>
          </a:prstGeom>
          <a:noFill/>
          <a:ln/>
        </p:spPr>
        <p:txBody>
          <a:bodyPr wrap="square" rtlCol="0" anchor="t"/>
          <a:lstStyle/>
          <a:p>
            <a:pPr marL="0" indent="0">
              <a:buNone/>
            </a:pPr>
            <a:r>
              <a:rPr lang="es-419" sz="1000" noProof="0" dirty="0">
                <a:solidFill>
                  <a:srgbClr val="334155"/>
                </a:solidFill>
                <a:latin typeface="Calibri" pitchFamily="34" charset="0"/>
                <a:ea typeface="Calibri" pitchFamily="34" charset="-122"/>
                <a:cs typeface="Calibri" pitchFamily="34" charset="-120"/>
              </a:rPr>
              <a:t>El ticket fue rechazado. Se registra el motivo de cancelación y el colegio recibe una notificación por correo.</a:t>
            </a:r>
            <a:endParaRPr lang="es-419" sz="1000" noProof="0" dirty="0"/>
          </a:p>
        </p:txBody>
      </p:sp>
      <p:sp>
        <p:nvSpPr>
          <p:cNvPr id="41" name="Shape 39"/>
          <p:cNvSpPr/>
          <p:nvPr/>
        </p:nvSpPr>
        <p:spPr>
          <a:xfrm>
            <a:off x="274320" y="4754880"/>
            <a:ext cx="8595360" cy="347472"/>
          </a:xfrm>
          <a:prstGeom prst="roundRect">
            <a:avLst>
              <a:gd name="adj" fmla="val 13158"/>
            </a:avLst>
          </a:prstGeom>
          <a:solidFill>
            <a:srgbClr val="FEF2F2"/>
          </a:solidFill>
          <a:ln w="12700">
            <a:solidFill>
              <a:srgbClr val="FECACA"/>
            </a:solidFill>
            <a:prstDash val="solid"/>
          </a:ln>
        </p:spPr>
        <p:txBody>
          <a:bodyPr/>
          <a:lstStyle/>
          <a:p>
            <a:endParaRPr lang="es-419" noProof="0" dirty="0"/>
          </a:p>
        </p:txBody>
      </p:sp>
      <p:sp>
        <p:nvSpPr>
          <p:cNvPr id="42" name="Text 40"/>
          <p:cNvSpPr/>
          <p:nvPr/>
        </p:nvSpPr>
        <p:spPr>
          <a:xfrm>
            <a:off x="457200" y="4773168"/>
            <a:ext cx="8321040" cy="310896"/>
          </a:xfrm>
          <a:prstGeom prst="rect">
            <a:avLst/>
          </a:prstGeom>
          <a:noFill/>
          <a:ln/>
        </p:spPr>
        <p:txBody>
          <a:bodyPr wrap="square" rtlCol="0" anchor="ctr"/>
          <a:lstStyle/>
          <a:p>
            <a:pPr marL="0" indent="0">
              <a:buNone/>
            </a:pPr>
            <a:r>
              <a:rPr lang="es-419" sz="950" noProof="0" dirty="0">
                <a:solidFill>
                  <a:srgbClr val="991B1B"/>
                </a:solidFill>
                <a:latin typeface="Calibri" pitchFamily="34" charset="0"/>
                <a:ea typeface="Calibri" pitchFamily="34" charset="-122"/>
                <a:cs typeface="Calibri" pitchFamily="34" charset="-120"/>
              </a:rPr>
              <a:t>⚠️  Vencimiento: Si un ticket lleva más de 12 horas en estatus Pendiente, el sistema muestra una alerta visual de urgencia (+12h) para recordar al coordinador que requiere atención.</a:t>
            </a:r>
            <a:endParaRPr lang="es-419" sz="95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8A7E"/>
          </a:solidFill>
          <a:ln w="12700">
            <a:solidFill>
              <a:srgbClr val="0D8A7E"/>
            </a:solidFill>
            <a:prstDash val="solid"/>
          </a:ln>
        </p:spPr>
        <p:txBody>
          <a:bodyPr/>
          <a:lstStyle/>
          <a:p>
            <a:endParaRPr lang="es-419" noProof="0" dirty="0"/>
          </a:p>
        </p:txBody>
      </p:sp>
      <p:sp>
        <p:nvSpPr>
          <p:cNvPr id="3" name="Text 1"/>
          <p:cNvSpPr/>
          <p:nvPr/>
        </p:nvSpPr>
        <p:spPr>
          <a:xfrm>
            <a:off x="365760" y="91440"/>
            <a:ext cx="8412480" cy="731520"/>
          </a:xfrm>
          <a:prstGeom prst="rect">
            <a:avLst/>
          </a:prstGeom>
          <a:noFill/>
          <a:ln/>
        </p:spPr>
        <p:txBody>
          <a:bodyPr wrap="square" rtlCol="0" anchor="ctr"/>
          <a:lstStyle/>
          <a:p>
            <a:pPr marL="0" indent="0" algn="l">
              <a:buNone/>
            </a:pPr>
            <a:r>
              <a:rPr lang="es-419" sz="2100" b="1" noProof="0" dirty="0">
                <a:solidFill>
                  <a:srgbClr val="FFFFFF"/>
                </a:solidFill>
                <a:latin typeface="Calibri" pitchFamily="34" charset="0"/>
                <a:ea typeface="Calibri" pitchFamily="34" charset="-122"/>
                <a:cs typeface="Calibri" pitchFamily="34" charset="-120"/>
              </a:rPr>
              <a:t>Impresión y PDF del Ticket MAS</a:t>
            </a:r>
            <a:endParaRPr lang="es-419" sz="2100" noProof="0" dirty="0"/>
          </a:p>
        </p:txBody>
      </p:sp>
      <p:sp>
        <p:nvSpPr>
          <p:cNvPr id="4" name="Shape 2"/>
          <p:cNvSpPr/>
          <p:nvPr/>
        </p:nvSpPr>
        <p:spPr>
          <a:xfrm>
            <a:off x="274320" y="1005840"/>
            <a:ext cx="4114800" cy="1188720"/>
          </a:xfrm>
          <a:prstGeom prst="rect">
            <a:avLst/>
          </a:prstGeom>
          <a:solidFill>
            <a:srgbClr val="F1F5F9"/>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5" name="Shape 3"/>
          <p:cNvSpPr/>
          <p:nvPr/>
        </p:nvSpPr>
        <p:spPr>
          <a:xfrm>
            <a:off x="411480" y="1143000"/>
            <a:ext cx="640080" cy="640080"/>
          </a:xfrm>
          <a:prstGeom prst="ellipse">
            <a:avLst/>
          </a:prstGeom>
          <a:solidFill>
            <a:srgbClr val="0D8A7E"/>
          </a:solidFill>
          <a:ln w="12700">
            <a:solidFill>
              <a:srgbClr val="0D8A7E"/>
            </a:solidFill>
            <a:prstDash val="solid"/>
          </a:ln>
        </p:spPr>
        <p:txBody>
          <a:bodyPr/>
          <a:lstStyle/>
          <a:p>
            <a:endParaRPr lang="es-419" noProof="0" dirty="0"/>
          </a:p>
        </p:txBody>
      </p:sp>
      <p:sp>
        <p:nvSpPr>
          <p:cNvPr id="6" name="Text 4"/>
          <p:cNvSpPr/>
          <p:nvPr/>
        </p:nvSpPr>
        <p:spPr>
          <a:xfrm>
            <a:off x="411480" y="1143000"/>
            <a:ext cx="640080" cy="640080"/>
          </a:xfrm>
          <a:prstGeom prst="rect">
            <a:avLst/>
          </a:prstGeom>
          <a:noFill/>
          <a:ln/>
        </p:spPr>
        <p:txBody>
          <a:bodyPr wrap="square" rtlCol="0" anchor="ctr"/>
          <a:lstStyle/>
          <a:p>
            <a:pPr marL="0" indent="0" algn="ctr">
              <a:buNone/>
            </a:pPr>
            <a:r>
              <a:rPr lang="es-419" sz="1600" noProof="0" dirty="0">
                <a:solidFill>
                  <a:srgbClr val="000000"/>
                </a:solidFill>
              </a:rPr>
              <a:t>🖨️</a:t>
            </a:r>
            <a:endParaRPr lang="es-419" sz="1600" noProof="0" dirty="0"/>
          </a:p>
        </p:txBody>
      </p:sp>
      <p:sp>
        <p:nvSpPr>
          <p:cNvPr id="7" name="Text 5"/>
          <p:cNvSpPr/>
          <p:nvPr/>
        </p:nvSpPr>
        <p:spPr>
          <a:xfrm>
            <a:off x="1143000" y="1097280"/>
            <a:ext cx="3154680" cy="32004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¿Cuándo está disponible?</a:t>
            </a:r>
            <a:endParaRPr lang="es-419" sz="1100" noProof="0" dirty="0"/>
          </a:p>
        </p:txBody>
      </p:sp>
      <p:sp>
        <p:nvSpPr>
          <p:cNvPr id="8" name="Text 6"/>
          <p:cNvSpPr/>
          <p:nvPr/>
        </p:nvSpPr>
        <p:spPr>
          <a:xfrm>
            <a:off x="1143000" y="1435608"/>
            <a:ext cx="3154680" cy="713232"/>
          </a:xfrm>
          <a:prstGeom prst="rect">
            <a:avLst/>
          </a:prstGeom>
          <a:noFill/>
          <a:ln/>
        </p:spPr>
        <p:txBody>
          <a:bodyPr wrap="square" rtlCol="0" anchor="t"/>
          <a:lstStyle/>
          <a:p>
            <a:pPr marL="0" indent="0">
              <a:buNone/>
            </a:pPr>
            <a:r>
              <a:rPr lang="es-419" sz="1000" noProof="0" dirty="0">
                <a:solidFill>
                  <a:srgbClr val="64748B"/>
                </a:solidFill>
                <a:latin typeface="Calibri" pitchFamily="34" charset="0"/>
                <a:ea typeface="Calibri" pitchFamily="34" charset="-122"/>
                <a:cs typeface="Calibri" pitchFamily="34" charset="-120"/>
              </a:rPr>
              <a:t>El botón de impresión / PDF está disponible en el detalle de cada ticket autorizado. Solo los tickets con estatus AUTORIZADO generan el documento final.</a:t>
            </a:r>
            <a:endParaRPr lang="es-419" sz="1000" noProof="0" dirty="0"/>
          </a:p>
        </p:txBody>
      </p:sp>
      <p:sp>
        <p:nvSpPr>
          <p:cNvPr id="9" name="Shape 7"/>
          <p:cNvSpPr/>
          <p:nvPr/>
        </p:nvSpPr>
        <p:spPr>
          <a:xfrm>
            <a:off x="4709160" y="1005840"/>
            <a:ext cx="4114800" cy="118872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0" name="Shape 8"/>
          <p:cNvSpPr/>
          <p:nvPr/>
        </p:nvSpPr>
        <p:spPr>
          <a:xfrm>
            <a:off x="4846320" y="1143000"/>
            <a:ext cx="640080" cy="640080"/>
          </a:xfrm>
          <a:prstGeom prst="ellipse">
            <a:avLst/>
          </a:prstGeom>
          <a:solidFill>
            <a:srgbClr val="0D8A7E"/>
          </a:solidFill>
          <a:ln w="12700">
            <a:solidFill>
              <a:srgbClr val="0D8A7E"/>
            </a:solidFill>
            <a:prstDash val="solid"/>
          </a:ln>
        </p:spPr>
        <p:txBody>
          <a:bodyPr/>
          <a:lstStyle/>
          <a:p>
            <a:endParaRPr lang="es-419" noProof="0" dirty="0"/>
          </a:p>
        </p:txBody>
      </p:sp>
      <p:sp>
        <p:nvSpPr>
          <p:cNvPr id="11" name="Text 9"/>
          <p:cNvSpPr/>
          <p:nvPr/>
        </p:nvSpPr>
        <p:spPr>
          <a:xfrm>
            <a:off x="4846320" y="1143000"/>
            <a:ext cx="640080" cy="640080"/>
          </a:xfrm>
          <a:prstGeom prst="rect">
            <a:avLst/>
          </a:prstGeom>
          <a:noFill/>
          <a:ln/>
        </p:spPr>
        <p:txBody>
          <a:bodyPr wrap="square" rtlCol="0" anchor="ctr"/>
          <a:lstStyle/>
          <a:p>
            <a:pPr marL="0" indent="0" algn="ctr">
              <a:buNone/>
            </a:pPr>
            <a:r>
              <a:rPr lang="es-419" sz="1600" noProof="0" dirty="0">
                <a:solidFill>
                  <a:srgbClr val="000000"/>
                </a:solidFill>
              </a:rPr>
              <a:t>📄</a:t>
            </a:r>
            <a:endParaRPr lang="es-419" sz="1600" noProof="0" dirty="0"/>
          </a:p>
        </p:txBody>
      </p:sp>
      <p:sp>
        <p:nvSpPr>
          <p:cNvPr id="12" name="Text 10"/>
          <p:cNvSpPr/>
          <p:nvPr/>
        </p:nvSpPr>
        <p:spPr>
          <a:xfrm>
            <a:off x="5577840" y="1097280"/>
            <a:ext cx="3154680" cy="32004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¿Qué incluye el documento?</a:t>
            </a:r>
            <a:endParaRPr lang="es-419" sz="1100" noProof="0" dirty="0"/>
          </a:p>
        </p:txBody>
      </p:sp>
      <p:sp>
        <p:nvSpPr>
          <p:cNvPr id="13" name="Text 11"/>
          <p:cNvSpPr/>
          <p:nvPr/>
        </p:nvSpPr>
        <p:spPr>
          <a:xfrm>
            <a:off x="5577840" y="1435608"/>
            <a:ext cx="3154680" cy="713232"/>
          </a:xfrm>
          <a:prstGeom prst="rect">
            <a:avLst/>
          </a:prstGeom>
          <a:noFill/>
          <a:ln/>
        </p:spPr>
        <p:txBody>
          <a:bodyPr wrap="square" rtlCol="0" anchor="t"/>
          <a:lstStyle/>
          <a:p>
            <a:pPr marL="0" indent="0">
              <a:buNone/>
            </a:pPr>
            <a:r>
              <a:rPr lang="es-419" sz="1000" noProof="0" dirty="0">
                <a:solidFill>
                  <a:srgbClr val="64748B"/>
                </a:solidFill>
                <a:latin typeface="Calibri" pitchFamily="34" charset="0"/>
                <a:ea typeface="Calibri" pitchFamily="34" charset="-122"/>
                <a:cs typeface="Calibri" pitchFamily="34" charset="-120"/>
              </a:rPr>
              <a:t>Datos del colegio, solicitante, clasificación, las 3 cotizaciones con importes, motivo de selección, fechas de ventanilla única y las firmas digitales.</a:t>
            </a:r>
            <a:endParaRPr lang="es-419" sz="1000" noProof="0" dirty="0"/>
          </a:p>
        </p:txBody>
      </p:sp>
      <p:sp>
        <p:nvSpPr>
          <p:cNvPr id="14" name="Shape 12"/>
          <p:cNvSpPr/>
          <p:nvPr/>
        </p:nvSpPr>
        <p:spPr>
          <a:xfrm>
            <a:off x="274320" y="2331720"/>
            <a:ext cx="4114800" cy="1188720"/>
          </a:xfrm>
          <a:prstGeom prst="rect">
            <a:avLst/>
          </a:prstGeom>
          <a:solidFill>
            <a:srgbClr val="F1F5F9"/>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5" name="Shape 13"/>
          <p:cNvSpPr/>
          <p:nvPr/>
        </p:nvSpPr>
        <p:spPr>
          <a:xfrm>
            <a:off x="411480" y="2468880"/>
            <a:ext cx="640080" cy="640080"/>
          </a:xfrm>
          <a:prstGeom prst="ellipse">
            <a:avLst/>
          </a:prstGeom>
          <a:solidFill>
            <a:srgbClr val="0D8A7E"/>
          </a:solidFill>
          <a:ln w="12700">
            <a:solidFill>
              <a:srgbClr val="0D8A7E"/>
            </a:solidFill>
            <a:prstDash val="solid"/>
          </a:ln>
        </p:spPr>
        <p:txBody>
          <a:bodyPr/>
          <a:lstStyle/>
          <a:p>
            <a:endParaRPr lang="es-419" noProof="0" dirty="0"/>
          </a:p>
        </p:txBody>
      </p:sp>
      <p:sp>
        <p:nvSpPr>
          <p:cNvPr id="16" name="Text 14"/>
          <p:cNvSpPr/>
          <p:nvPr/>
        </p:nvSpPr>
        <p:spPr>
          <a:xfrm>
            <a:off x="411480" y="2468880"/>
            <a:ext cx="640080" cy="640080"/>
          </a:xfrm>
          <a:prstGeom prst="rect">
            <a:avLst/>
          </a:prstGeom>
          <a:noFill/>
          <a:ln/>
        </p:spPr>
        <p:txBody>
          <a:bodyPr wrap="square" rtlCol="0" anchor="ctr"/>
          <a:lstStyle/>
          <a:p>
            <a:pPr marL="0" indent="0" algn="ctr">
              <a:buNone/>
            </a:pPr>
            <a:r>
              <a:rPr lang="es-419" sz="1600" noProof="0" dirty="0">
                <a:solidFill>
                  <a:srgbClr val="000000"/>
                </a:solidFill>
              </a:rPr>
              <a:t>✍️</a:t>
            </a:r>
            <a:endParaRPr lang="es-419" sz="1600" noProof="0" dirty="0"/>
          </a:p>
        </p:txBody>
      </p:sp>
      <p:sp>
        <p:nvSpPr>
          <p:cNvPr id="17" name="Text 15"/>
          <p:cNvSpPr/>
          <p:nvPr/>
        </p:nvSpPr>
        <p:spPr>
          <a:xfrm>
            <a:off x="1143000" y="2423160"/>
            <a:ext cx="3154680" cy="32004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Firma del Coordinador</a:t>
            </a:r>
            <a:endParaRPr lang="es-419" sz="1100" noProof="0" dirty="0"/>
          </a:p>
        </p:txBody>
      </p:sp>
      <p:sp>
        <p:nvSpPr>
          <p:cNvPr id="18" name="Text 16"/>
          <p:cNvSpPr/>
          <p:nvPr/>
        </p:nvSpPr>
        <p:spPr>
          <a:xfrm>
            <a:off x="1143000" y="2761488"/>
            <a:ext cx="3154680" cy="713232"/>
          </a:xfrm>
          <a:prstGeom prst="rect">
            <a:avLst/>
          </a:prstGeom>
          <a:noFill/>
          <a:ln/>
        </p:spPr>
        <p:txBody>
          <a:bodyPr wrap="square" rtlCol="0" anchor="t"/>
          <a:lstStyle/>
          <a:p>
            <a:pPr marL="0" indent="0">
              <a:buNone/>
            </a:pPr>
            <a:r>
              <a:rPr lang="es-419" sz="1000" noProof="0" dirty="0">
                <a:solidFill>
                  <a:srgbClr val="64748B"/>
                </a:solidFill>
                <a:latin typeface="Calibri" pitchFamily="34" charset="0"/>
                <a:ea typeface="Calibri" pitchFamily="34" charset="-122"/>
                <a:cs typeface="Calibri" pitchFamily="34" charset="-120"/>
              </a:rPr>
              <a:t>El documento incluye la firma digital del Coord. de Obras RCMA (Ricardo Joanathan Reyes Medina) </a:t>
            </a:r>
            <a:r>
              <a:rPr lang="es-419" sz="1000" noProof="0" dirty="0" err="1">
                <a:solidFill>
                  <a:srgbClr val="64748B"/>
                </a:solidFill>
                <a:latin typeface="Calibri" pitchFamily="34" charset="0"/>
                <a:ea typeface="Calibri" pitchFamily="34" charset="-122"/>
                <a:cs typeface="Calibri" pitchFamily="34" charset="-120"/>
              </a:rPr>
              <a:t>pre-cargada</a:t>
            </a:r>
            <a:r>
              <a:rPr lang="es-419" sz="1000" noProof="0" dirty="0">
                <a:solidFill>
                  <a:srgbClr val="64748B"/>
                </a:solidFill>
                <a:latin typeface="Calibri" pitchFamily="34" charset="0"/>
                <a:ea typeface="Calibri" pitchFamily="34" charset="-122"/>
                <a:cs typeface="Calibri" pitchFamily="34" charset="-120"/>
              </a:rPr>
              <a:t> en el sistema.</a:t>
            </a:r>
            <a:endParaRPr lang="es-419" sz="1000" noProof="0" dirty="0"/>
          </a:p>
        </p:txBody>
      </p:sp>
      <p:sp>
        <p:nvSpPr>
          <p:cNvPr id="19" name="Shape 17"/>
          <p:cNvSpPr/>
          <p:nvPr/>
        </p:nvSpPr>
        <p:spPr>
          <a:xfrm>
            <a:off x="4709160" y="2331720"/>
            <a:ext cx="4114800" cy="118872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20" name="Shape 18"/>
          <p:cNvSpPr/>
          <p:nvPr/>
        </p:nvSpPr>
        <p:spPr>
          <a:xfrm>
            <a:off x="4846320" y="2468880"/>
            <a:ext cx="640080" cy="640080"/>
          </a:xfrm>
          <a:prstGeom prst="ellipse">
            <a:avLst/>
          </a:prstGeom>
          <a:solidFill>
            <a:srgbClr val="0D8A7E"/>
          </a:solidFill>
          <a:ln w="12700">
            <a:solidFill>
              <a:srgbClr val="0D8A7E"/>
            </a:solidFill>
            <a:prstDash val="solid"/>
          </a:ln>
        </p:spPr>
        <p:txBody>
          <a:bodyPr/>
          <a:lstStyle/>
          <a:p>
            <a:endParaRPr lang="es-419" noProof="0" dirty="0"/>
          </a:p>
        </p:txBody>
      </p:sp>
      <p:sp>
        <p:nvSpPr>
          <p:cNvPr id="21" name="Text 19"/>
          <p:cNvSpPr/>
          <p:nvPr/>
        </p:nvSpPr>
        <p:spPr>
          <a:xfrm>
            <a:off x="4846320" y="2468880"/>
            <a:ext cx="640080" cy="640080"/>
          </a:xfrm>
          <a:prstGeom prst="rect">
            <a:avLst/>
          </a:prstGeom>
          <a:noFill/>
          <a:ln/>
        </p:spPr>
        <p:txBody>
          <a:bodyPr wrap="square" rtlCol="0" anchor="ctr"/>
          <a:lstStyle/>
          <a:p>
            <a:pPr marL="0" indent="0" algn="ctr">
              <a:buNone/>
            </a:pPr>
            <a:r>
              <a:rPr lang="es-419" sz="1600" noProof="0" dirty="0">
                <a:solidFill>
                  <a:srgbClr val="000000"/>
                </a:solidFill>
              </a:rPr>
              <a:t>🏫</a:t>
            </a:r>
            <a:endParaRPr lang="es-419" sz="1600" noProof="0" dirty="0"/>
          </a:p>
        </p:txBody>
      </p:sp>
      <p:sp>
        <p:nvSpPr>
          <p:cNvPr id="22" name="Text 20"/>
          <p:cNvSpPr/>
          <p:nvPr/>
        </p:nvSpPr>
        <p:spPr>
          <a:xfrm>
            <a:off x="5577840" y="2423160"/>
            <a:ext cx="3154680" cy="32004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Firma del Solicitante</a:t>
            </a:r>
            <a:endParaRPr lang="es-419" sz="1100" noProof="0" dirty="0"/>
          </a:p>
        </p:txBody>
      </p:sp>
      <p:sp>
        <p:nvSpPr>
          <p:cNvPr id="23" name="Text 21"/>
          <p:cNvSpPr/>
          <p:nvPr/>
        </p:nvSpPr>
        <p:spPr>
          <a:xfrm>
            <a:off x="5577840" y="2761488"/>
            <a:ext cx="3154680" cy="713232"/>
          </a:xfrm>
          <a:prstGeom prst="rect">
            <a:avLst/>
          </a:prstGeom>
          <a:noFill/>
          <a:ln/>
        </p:spPr>
        <p:txBody>
          <a:bodyPr wrap="square" rtlCol="0" anchor="t"/>
          <a:lstStyle/>
          <a:p>
            <a:pPr marL="0" indent="0">
              <a:buNone/>
            </a:pPr>
            <a:r>
              <a:rPr lang="es-419" sz="1000" noProof="0" dirty="0">
                <a:solidFill>
                  <a:srgbClr val="64748B"/>
                </a:solidFill>
                <a:latin typeface="Calibri" pitchFamily="34" charset="0"/>
                <a:ea typeface="Calibri" pitchFamily="34" charset="-122"/>
                <a:cs typeface="Calibri" pitchFamily="34" charset="-120"/>
              </a:rPr>
              <a:t>El lado izquierdo muestra el nombre del solicitante, la fecha/hora de envío y su cargo en el colegio como constancia del solicitante.</a:t>
            </a:r>
            <a:endParaRPr lang="es-419" sz="1000" noProof="0" dirty="0"/>
          </a:p>
        </p:txBody>
      </p:sp>
      <p:sp>
        <p:nvSpPr>
          <p:cNvPr id="24" name="Shape 22"/>
          <p:cNvSpPr/>
          <p:nvPr/>
        </p:nvSpPr>
        <p:spPr>
          <a:xfrm>
            <a:off x="274320" y="3657600"/>
            <a:ext cx="4114800" cy="1188720"/>
          </a:xfrm>
          <a:prstGeom prst="rect">
            <a:avLst/>
          </a:prstGeom>
          <a:solidFill>
            <a:srgbClr val="F1F5F9"/>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25" name="Shape 23"/>
          <p:cNvSpPr/>
          <p:nvPr/>
        </p:nvSpPr>
        <p:spPr>
          <a:xfrm>
            <a:off x="411480" y="3794760"/>
            <a:ext cx="640080" cy="640080"/>
          </a:xfrm>
          <a:prstGeom prst="ellipse">
            <a:avLst/>
          </a:prstGeom>
          <a:solidFill>
            <a:srgbClr val="0D8A7E"/>
          </a:solidFill>
          <a:ln w="12700">
            <a:solidFill>
              <a:srgbClr val="0D8A7E"/>
            </a:solidFill>
            <a:prstDash val="solid"/>
          </a:ln>
        </p:spPr>
        <p:txBody>
          <a:bodyPr/>
          <a:lstStyle/>
          <a:p>
            <a:endParaRPr lang="es-419" noProof="0" dirty="0"/>
          </a:p>
        </p:txBody>
      </p:sp>
      <p:sp>
        <p:nvSpPr>
          <p:cNvPr id="26" name="Text 24"/>
          <p:cNvSpPr/>
          <p:nvPr/>
        </p:nvSpPr>
        <p:spPr>
          <a:xfrm>
            <a:off x="411480" y="3794760"/>
            <a:ext cx="640080" cy="640080"/>
          </a:xfrm>
          <a:prstGeom prst="rect">
            <a:avLst/>
          </a:prstGeom>
          <a:noFill/>
          <a:ln/>
        </p:spPr>
        <p:txBody>
          <a:bodyPr wrap="square" rtlCol="0" anchor="ctr"/>
          <a:lstStyle/>
          <a:p>
            <a:pPr marL="0" indent="0" algn="ctr">
              <a:buNone/>
            </a:pPr>
            <a:r>
              <a:rPr lang="es-419" sz="1600" noProof="0" dirty="0">
                <a:solidFill>
                  <a:srgbClr val="000000"/>
                </a:solidFill>
              </a:rPr>
              <a:t>🖨️</a:t>
            </a:r>
            <a:endParaRPr lang="es-419" sz="1600" noProof="0" dirty="0"/>
          </a:p>
        </p:txBody>
      </p:sp>
      <p:sp>
        <p:nvSpPr>
          <p:cNvPr id="27" name="Text 25"/>
          <p:cNvSpPr/>
          <p:nvPr/>
        </p:nvSpPr>
        <p:spPr>
          <a:xfrm>
            <a:off x="1143000" y="3749040"/>
            <a:ext cx="3154680" cy="32004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Impresión directa desde el app</a:t>
            </a:r>
            <a:endParaRPr lang="es-419" sz="1100" noProof="0" dirty="0"/>
          </a:p>
        </p:txBody>
      </p:sp>
      <p:sp>
        <p:nvSpPr>
          <p:cNvPr id="28" name="Text 26"/>
          <p:cNvSpPr/>
          <p:nvPr/>
        </p:nvSpPr>
        <p:spPr>
          <a:xfrm>
            <a:off x="1143000" y="4087368"/>
            <a:ext cx="3154680" cy="713232"/>
          </a:xfrm>
          <a:prstGeom prst="rect">
            <a:avLst/>
          </a:prstGeom>
          <a:noFill/>
          <a:ln/>
        </p:spPr>
        <p:txBody>
          <a:bodyPr wrap="square" rtlCol="0" anchor="t"/>
          <a:lstStyle/>
          <a:p>
            <a:pPr marL="0" indent="0">
              <a:buNone/>
            </a:pPr>
            <a:r>
              <a:rPr lang="es-419" sz="1000" noProof="0" dirty="0">
                <a:solidFill>
                  <a:srgbClr val="64748B"/>
                </a:solidFill>
                <a:latin typeface="Calibri" pitchFamily="34" charset="0"/>
                <a:ea typeface="Calibri" pitchFamily="34" charset="-122"/>
                <a:cs typeface="Calibri" pitchFamily="34" charset="-120"/>
              </a:rPr>
              <a:t>El sistema abre la ventana de impresión del navegador. Puedes imprimir en papel o guardar como PDF desde las opciones de tu impresora.</a:t>
            </a:r>
            <a:endParaRPr lang="es-419" sz="1000" noProof="0" dirty="0"/>
          </a:p>
        </p:txBody>
      </p:sp>
      <p:sp>
        <p:nvSpPr>
          <p:cNvPr id="29" name="Shape 27"/>
          <p:cNvSpPr/>
          <p:nvPr/>
        </p:nvSpPr>
        <p:spPr>
          <a:xfrm>
            <a:off x="4709160" y="3657600"/>
            <a:ext cx="4114800" cy="118872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30" name="Shape 28"/>
          <p:cNvSpPr/>
          <p:nvPr/>
        </p:nvSpPr>
        <p:spPr>
          <a:xfrm>
            <a:off x="4846320" y="3794760"/>
            <a:ext cx="640080" cy="640080"/>
          </a:xfrm>
          <a:prstGeom prst="ellipse">
            <a:avLst/>
          </a:prstGeom>
          <a:solidFill>
            <a:srgbClr val="0D8A7E"/>
          </a:solidFill>
          <a:ln w="12700">
            <a:solidFill>
              <a:srgbClr val="0D8A7E"/>
            </a:solidFill>
            <a:prstDash val="solid"/>
          </a:ln>
        </p:spPr>
        <p:txBody>
          <a:bodyPr/>
          <a:lstStyle/>
          <a:p>
            <a:endParaRPr lang="es-419" noProof="0" dirty="0"/>
          </a:p>
        </p:txBody>
      </p:sp>
      <p:sp>
        <p:nvSpPr>
          <p:cNvPr id="31" name="Text 29"/>
          <p:cNvSpPr/>
          <p:nvPr/>
        </p:nvSpPr>
        <p:spPr>
          <a:xfrm>
            <a:off x="4846320" y="3794760"/>
            <a:ext cx="640080" cy="640080"/>
          </a:xfrm>
          <a:prstGeom prst="rect">
            <a:avLst/>
          </a:prstGeom>
          <a:noFill/>
          <a:ln/>
        </p:spPr>
        <p:txBody>
          <a:bodyPr wrap="square" rtlCol="0" anchor="ctr"/>
          <a:lstStyle/>
          <a:p>
            <a:pPr marL="0" indent="0" algn="ctr">
              <a:buNone/>
            </a:pPr>
            <a:r>
              <a:rPr lang="es-419" sz="1600" noProof="0" dirty="0">
                <a:solidFill>
                  <a:srgbClr val="000000"/>
                </a:solidFill>
              </a:rPr>
              <a:t>📋</a:t>
            </a:r>
            <a:endParaRPr lang="es-419" sz="1600" noProof="0" dirty="0"/>
          </a:p>
        </p:txBody>
      </p:sp>
      <p:sp>
        <p:nvSpPr>
          <p:cNvPr id="32" name="Text 30"/>
          <p:cNvSpPr/>
          <p:nvPr/>
        </p:nvSpPr>
        <p:spPr>
          <a:xfrm>
            <a:off x="5577840" y="3749040"/>
            <a:ext cx="3154680" cy="32004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ea typeface="Calibri" pitchFamily="34" charset="-122"/>
                <a:cs typeface="Calibri" pitchFamily="34" charset="-120"/>
              </a:rPr>
              <a:t>Para archivos y registros</a:t>
            </a:r>
            <a:endParaRPr lang="es-419" sz="1100" noProof="0" dirty="0"/>
          </a:p>
        </p:txBody>
      </p:sp>
      <p:sp>
        <p:nvSpPr>
          <p:cNvPr id="33" name="Text 31"/>
          <p:cNvSpPr/>
          <p:nvPr/>
        </p:nvSpPr>
        <p:spPr>
          <a:xfrm>
            <a:off x="5577840" y="4087368"/>
            <a:ext cx="3154680" cy="713232"/>
          </a:xfrm>
          <a:prstGeom prst="rect">
            <a:avLst/>
          </a:prstGeom>
          <a:noFill/>
          <a:ln/>
        </p:spPr>
        <p:txBody>
          <a:bodyPr wrap="square" rtlCol="0" anchor="t"/>
          <a:lstStyle/>
          <a:p>
            <a:pPr marL="0" indent="0">
              <a:buNone/>
            </a:pPr>
            <a:r>
              <a:rPr lang="es-419" sz="1000" noProof="0" dirty="0">
                <a:solidFill>
                  <a:srgbClr val="64748B"/>
                </a:solidFill>
                <a:latin typeface="Calibri" pitchFamily="34" charset="0"/>
                <a:ea typeface="Calibri" pitchFamily="34" charset="-122"/>
                <a:cs typeface="Calibri" pitchFamily="34" charset="-120"/>
              </a:rPr>
              <a:t>Se recomienda guardar el PDF en el expediente del proyecto para respaldo y control de cada trabajo autorizado.</a:t>
            </a:r>
            <a:endParaRPr lang="es-419" sz="10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HeaderBar"/>
          <p:cNvSpPr/>
          <p:nvPr/>
        </p:nvSpPr>
        <p:spPr>
          <a:xfrm>
            <a:off x="0" y="0"/>
            <a:ext cx="9144000" cy="914400"/>
          </a:xfrm>
          <a:prstGeom prst="rect">
            <a:avLst/>
          </a:prstGeom>
          <a:solidFill>
            <a:srgbClr val="9F1239"/>
          </a:solidFill>
          <a:ln w="12700">
            <a:solidFill>
              <a:srgbClr val="9F1239"/>
            </a:solidFill>
            <a:prstDash val="solid"/>
          </a:ln>
        </p:spPr>
        <p:txBody>
          <a:bodyPr/>
          <a:lstStyle/>
          <a:p>
            <a:endParaRPr lang="es-419" noProof="0" dirty="0"/>
          </a:p>
        </p:txBody>
      </p:sp>
      <p:sp>
        <p:nvSpPr>
          <p:cNvPr id="3" name="Title"/>
          <p:cNvSpPr/>
          <p:nvPr/>
        </p:nvSpPr>
        <p:spPr>
          <a:xfrm>
            <a:off x="365760" y="91440"/>
            <a:ext cx="8412480" cy="731520"/>
          </a:xfrm>
          <a:prstGeom prst="rect">
            <a:avLst/>
          </a:prstGeom>
          <a:noFill/>
          <a:ln/>
        </p:spPr>
        <p:txBody>
          <a:bodyPr wrap="square" rtlCol="0" anchor="ctr"/>
          <a:lstStyle/>
          <a:p>
            <a:pPr marL="0" indent="0" algn="l">
              <a:buNone/>
            </a:pPr>
            <a:r>
              <a:rPr lang="es-419" sz="2100" b="1" noProof="0" dirty="0">
                <a:solidFill>
                  <a:srgbClr val="FFFFFF"/>
                </a:solidFill>
                <a:latin typeface="Calibri" pitchFamily="34" charset="0"/>
              </a:rPr>
              <a:t>Solicitud de Contratos — Fase 05 del Protocolo</a:t>
            </a:r>
          </a:p>
        </p:txBody>
      </p:sp>
      <p:sp>
        <p:nvSpPr>
          <p:cNvPr id="4" name="Card1Bg"/>
          <p:cNvSpPr/>
          <p:nvPr/>
        </p:nvSpPr>
        <p:spPr>
          <a:xfrm>
            <a:off x="274320" y="1005840"/>
            <a:ext cx="8595360" cy="1080000"/>
          </a:xfrm>
          <a:prstGeom prst="rect">
            <a:avLst/>
          </a:prstGeom>
          <a:solidFill>
            <a:srgbClr val="FFF1F2"/>
          </a:solidFill>
          <a:ln w="12700">
            <a:solidFill>
              <a:srgbClr val="FECDD3"/>
            </a:solidFill>
            <a:prstDash val="solid"/>
          </a:ln>
          <a:effectLst>
            <a:outerShdw blurRad="50800" dist="25400" dir="8100000" algn="bl" rotWithShape="0">
              <a:srgbClr val="000000">
                <a:alpha val="50000"/>
              </a:srgbClr>
            </a:outerShdw>
          </a:effectLst>
        </p:spPr>
        <p:txBody>
          <a:bodyPr/>
          <a:lstStyle/>
          <a:p>
            <a:endParaRPr lang="es-419" noProof="0" dirty="0"/>
          </a:p>
        </p:txBody>
      </p:sp>
      <p:sp>
        <p:nvSpPr>
          <p:cNvPr id="5" name="Num1Circle"/>
          <p:cNvSpPr/>
          <p:nvPr/>
        </p:nvSpPr>
        <p:spPr>
          <a:xfrm>
            <a:off x="365760" y="1097280"/>
            <a:ext cx="640080" cy="640080"/>
          </a:xfrm>
          <a:prstGeom prst="ellipse">
            <a:avLst/>
          </a:prstGeom>
          <a:solidFill>
            <a:srgbClr val="9F1239"/>
          </a:solidFill>
          <a:ln w="12700">
            <a:solidFill>
              <a:srgbClr val="9F1239"/>
            </a:solidFill>
            <a:prstDash val="solid"/>
          </a:ln>
        </p:spPr>
        <p:txBody>
          <a:bodyPr/>
          <a:lstStyle/>
          <a:p>
            <a:endParaRPr lang="es-419" noProof="0" dirty="0"/>
          </a:p>
        </p:txBody>
      </p:sp>
      <p:sp>
        <p:nvSpPr>
          <p:cNvPr id="6" name="Num1Text"/>
          <p:cNvSpPr/>
          <p:nvPr/>
        </p:nvSpPr>
        <p:spPr>
          <a:xfrm>
            <a:off x="365760" y="1097280"/>
            <a:ext cx="640080" cy="640080"/>
          </a:xfrm>
          <a:prstGeom prst="rect">
            <a:avLst/>
          </a:prstGeom>
          <a:noFill/>
          <a:ln/>
        </p:spPr>
        <p:txBody>
          <a:bodyPr wrap="square" rtlCol="0" anchor="ctr"/>
          <a:lstStyle/>
          <a:p>
            <a:pPr marL="0" indent="0" algn="ctr">
              <a:buNone/>
            </a:pPr>
            <a:r>
              <a:rPr lang="es-419" sz="1400" b="1" noProof="0" dirty="0">
                <a:solidFill>
                  <a:srgbClr val="FFFFFF"/>
                </a:solidFill>
                <a:latin typeface="Calibri" pitchFamily="34" charset="0"/>
              </a:rPr>
              <a:t>01</a:t>
            </a:r>
          </a:p>
        </p:txBody>
      </p:sp>
      <p:sp>
        <p:nvSpPr>
          <p:cNvPr id="7" name="Card1Title"/>
          <p:cNvSpPr/>
          <p:nvPr/>
        </p:nvSpPr>
        <p:spPr>
          <a:xfrm>
            <a:off x="1143000" y="1051560"/>
            <a:ext cx="7635480" cy="274320"/>
          </a:xfrm>
          <a:prstGeom prst="rect">
            <a:avLst/>
          </a:prstGeom>
          <a:noFill/>
          <a:ln/>
        </p:spPr>
        <p:txBody>
          <a:bodyPr wrap="square" rtlCol="0" anchor="ctr"/>
          <a:lstStyle/>
          <a:p>
            <a:pPr marL="0" indent="0">
              <a:buNone/>
            </a:pPr>
            <a:r>
              <a:rPr lang="es-419" sz="1100" b="1" noProof="0" dirty="0">
                <a:solidFill>
                  <a:srgbClr val="9F1239"/>
                </a:solidFill>
                <a:latin typeface="Calibri" pitchFamily="34" charset="0"/>
              </a:rPr>
              <a:t>Solicitud de Autorización al Area Directiva</a:t>
            </a:r>
          </a:p>
        </p:txBody>
      </p:sp>
      <p:sp>
        <p:nvSpPr>
          <p:cNvPr id="8" name="Card1Body"/>
          <p:cNvSpPr/>
          <p:nvPr/>
        </p:nvSpPr>
        <p:spPr>
          <a:xfrm>
            <a:off x="1143000" y="1371600"/>
            <a:ext cx="7635480" cy="640080"/>
          </a:xfrm>
          <a:prstGeom prst="rect">
            <a:avLst/>
          </a:prstGeom>
          <a:noFill/>
          <a:ln/>
        </p:spPr>
        <p:txBody>
          <a:bodyPr wrap="square" rtlCol="0" anchor="t"/>
          <a:lstStyle/>
          <a:p>
            <a:pPr marL="0" indent="0">
              <a:buNone/>
            </a:pPr>
            <a:r>
              <a:rPr lang="es-419" sz="1000" noProof="0" dirty="0">
                <a:solidFill>
                  <a:srgbClr val="64748B"/>
                </a:solidFill>
                <a:latin typeface="Calibri" pitchFamily="34" charset="0"/>
              </a:rPr>
              <a:t>Con base en la validacion tecnica del equipo ECO y la seleccion formal del proveedor, la Coordinacion de Obras y Mantenimiento RCMA remitira via correo una solicitud de autorizacion a la Direccion correspondiente para gestionar ante OR - SER Juridico la elaboracion del instrumento contractual: Contrato de Prestacion de Servicios, Contrato de Donacion o Acta de Garantia.</a:t>
            </a:r>
          </a:p>
        </p:txBody>
      </p:sp>
      <p:sp>
        <p:nvSpPr>
          <p:cNvPr id="9" name="Card2Bg"/>
          <p:cNvSpPr/>
          <p:nvPr/>
        </p:nvSpPr>
        <p:spPr>
          <a:xfrm>
            <a:off x="274320" y="2148840"/>
            <a:ext cx="8595360" cy="1080000"/>
          </a:xfrm>
          <a:prstGeom prst="rect">
            <a:avLst/>
          </a:prstGeom>
          <a:solidFill>
            <a:srgbClr val="FFFFFF"/>
          </a:solidFill>
          <a:ln w="12700">
            <a:solidFill>
              <a:srgbClr val="E2E8F0"/>
            </a:solidFill>
            <a:prstDash val="solid"/>
          </a:ln>
          <a:effectLst>
            <a:outerShdw blurRad="50800" dist="25400" dir="8100000" algn="bl" rotWithShape="0">
              <a:srgbClr val="000000">
                <a:alpha val="50000"/>
              </a:srgbClr>
            </a:outerShdw>
          </a:effectLst>
        </p:spPr>
        <p:txBody>
          <a:bodyPr/>
          <a:lstStyle/>
          <a:p>
            <a:endParaRPr lang="es-419" noProof="0" dirty="0"/>
          </a:p>
        </p:txBody>
      </p:sp>
      <p:sp>
        <p:nvSpPr>
          <p:cNvPr id="10" name="Num2Circle"/>
          <p:cNvSpPr/>
          <p:nvPr/>
        </p:nvSpPr>
        <p:spPr>
          <a:xfrm>
            <a:off x="365760" y="2240280"/>
            <a:ext cx="640080" cy="640080"/>
          </a:xfrm>
          <a:prstGeom prst="ellipse">
            <a:avLst/>
          </a:prstGeom>
          <a:solidFill>
            <a:srgbClr val="9F1239"/>
          </a:solidFill>
          <a:ln w="12700">
            <a:solidFill>
              <a:srgbClr val="9F1239"/>
            </a:solidFill>
            <a:prstDash val="solid"/>
          </a:ln>
        </p:spPr>
        <p:txBody>
          <a:bodyPr/>
          <a:lstStyle/>
          <a:p>
            <a:endParaRPr lang="es-419" noProof="0" dirty="0"/>
          </a:p>
        </p:txBody>
      </p:sp>
      <p:sp>
        <p:nvSpPr>
          <p:cNvPr id="11" name="Num2Text"/>
          <p:cNvSpPr/>
          <p:nvPr/>
        </p:nvSpPr>
        <p:spPr>
          <a:xfrm>
            <a:off x="365760" y="2240280"/>
            <a:ext cx="640080" cy="640080"/>
          </a:xfrm>
          <a:prstGeom prst="rect">
            <a:avLst/>
          </a:prstGeom>
          <a:noFill/>
          <a:ln/>
        </p:spPr>
        <p:txBody>
          <a:bodyPr wrap="square" rtlCol="0" anchor="ctr"/>
          <a:lstStyle/>
          <a:p>
            <a:pPr marL="0" indent="0" algn="ctr">
              <a:buNone/>
            </a:pPr>
            <a:r>
              <a:rPr lang="es-419" sz="1400" b="1" noProof="0" dirty="0">
                <a:solidFill>
                  <a:srgbClr val="FFFFFF"/>
                </a:solidFill>
                <a:latin typeface="Calibri" pitchFamily="34" charset="0"/>
              </a:rPr>
              <a:t>02</a:t>
            </a:r>
          </a:p>
        </p:txBody>
      </p:sp>
      <p:sp>
        <p:nvSpPr>
          <p:cNvPr id="12" name="Card2Title"/>
          <p:cNvSpPr/>
          <p:nvPr/>
        </p:nvSpPr>
        <p:spPr>
          <a:xfrm>
            <a:off x="1143000" y="2194560"/>
            <a:ext cx="7635480" cy="274320"/>
          </a:xfrm>
          <a:prstGeom prst="rect">
            <a:avLst/>
          </a:prstGeom>
          <a:noFill/>
          <a:ln/>
        </p:spPr>
        <p:txBody>
          <a:bodyPr wrap="square" rtlCol="0" anchor="ctr"/>
          <a:lstStyle/>
          <a:p>
            <a:pPr marL="0" indent="0">
              <a:buNone/>
            </a:pPr>
            <a:r>
              <a:rPr lang="es-419" sz="1100" b="1" noProof="0" dirty="0">
                <a:solidFill>
                  <a:srgbClr val="334155"/>
                </a:solidFill>
                <a:latin typeface="Calibri" pitchFamily="34" charset="0"/>
              </a:rPr>
              <a:t>Recabar Documentacion del Proveedor y Enviar a OR - SER Juridico</a:t>
            </a:r>
          </a:p>
        </p:txBody>
      </p:sp>
      <p:sp>
        <p:nvSpPr>
          <p:cNvPr id="13" name="Card2Body"/>
          <p:cNvSpPr/>
          <p:nvPr/>
        </p:nvSpPr>
        <p:spPr>
          <a:xfrm>
            <a:off x="1143000" y="2514600"/>
            <a:ext cx="7635480" cy="640080"/>
          </a:xfrm>
          <a:prstGeom prst="rect">
            <a:avLst/>
          </a:prstGeom>
          <a:noFill/>
          <a:ln/>
        </p:spPr>
        <p:txBody>
          <a:bodyPr wrap="square" rtlCol="0" anchor="t"/>
          <a:lstStyle/>
          <a:p>
            <a:pPr marL="0" indent="0">
              <a:buNone/>
            </a:pPr>
            <a:r>
              <a:rPr lang="es-419" sz="1000" noProof="0" dirty="0">
                <a:solidFill>
                  <a:srgbClr val="64748B"/>
                </a:solidFill>
                <a:latin typeface="Calibri" pitchFamily="34" charset="0"/>
              </a:rPr>
              <a:t>El colegio recabara la documentacion corporativa y fiscal del proveedor (ver lista de requisitos descargable en el Protocolo). Dicha documentacion se adjuntara en el correo dirigido a OR - SER Juridico solicitando la elaboracion del contrato, con copia a arodriguez@manoamiga.edu.mx, CAR del territorio y Coordinador de Obras RCMA.</a:t>
            </a:r>
          </a:p>
        </p:txBody>
      </p:sp>
      <p:sp>
        <p:nvSpPr>
          <p:cNvPr id="14" name="Card3Bg"/>
          <p:cNvSpPr/>
          <p:nvPr/>
        </p:nvSpPr>
        <p:spPr>
          <a:xfrm>
            <a:off x="274320" y="3291840"/>
            <a:ext cx="8595360" cy="1080000"/>
          </a:xfrm>
          <a:prstGeom prst="rect">
            <a:avLst/>
          </a:prstGeom>
          <a:solidFill>
            <a:srgbClr val="FFF1F2"/>
          </a:solidFill>
          <a:ln w="12700">
            <a:solidFill>
              <a:srgbClr val="FECDD3"/>
            </a:solidFill>
            <a:prstDash val="solid"/>
          </a:ln>
          <a:effectLst>
            <a:outerShdw blurRad="50800" dist="25400" dir="8100000" algn="bl" rotWithShape="0">
              <a:srgbClr val="000000">
                <a:alpha val="50000"/>
              </a:srgbClr>
            </a:outerShdw>
          </a:effectLst>
        </p:spPr>
        <p:txBody>
          <a:bodyPr/>
          <a:lstStyle/>
          <a:p>
            <a:endParaRPr lang="es-419" noProof="0" dirty="0"/>
          </a:p>
        </p:txBody>
      </p:sp>
      <p:sp>
        <p:nvSpPr>
          <p:cNvPr id="15" name="Num3Circle"/>
          <p:cNvSpPr/>
          <p:nvPr/>
        </p:nvSpPr>
        <p:spPr>
          <a:xfrm>
            <a:off x="365760" y="3383280"/>
            <a:ext cx="640080" cy="640080"/>
          </a:xfrm>
          <a:prstGeom prst="ellipse">
            <a:avLst/>
          </a:prstGeom>
          <a:solidFill>
            <a:srgbClr val="9F1239"/>
          </a:solidFill>
          <a:ln w="12700">
            <a:solidFill>
              <a:srgbClr val="9F1239"/>
            </a:solidFill>
            <a:prstDash val="solid"/>
          </a:ln>
        </p:spPr>
        <p:txBody>
          <a:bodyPr/>
          <a:lstStyle/>
          <a:p>
            <a:endParaRPr lang="es-419" noProof="0" dirty="0"/>
          </a:p>
        </p:txBody>
      </p:sp>
      <p:sp>
        <p:nvSpPr>
          <p:cNvPr id="16" name="Num3Text"/>
          <p:cNvSpPr/>
          <p:nvPr/>
        </p:nvSpPr>
        <p:spPr>
          <a:xfrm>
            <a:off x="365760" y="3383280"/>
            <a:ext cx="640080" cy="640080"/>
          </a:xfrm>
          <a:prstGeom prst="rect">
            <a:avLst/>
          </a:prstGeom>
          <a:noFill/>
          <a:ln/>
        </p:spPr>
        <p:txBody>
          <a:bodyPr wrap="square" rtlCol="0" anchor="ctr"/>
          <a:lstStyle/>
          <a:p>
            <a:pPr marL="0" indent="0" algn="ctr">
              <a:buNone/>
            </a:pPr>
            <a:r>
              <a:rPr lang="es-419" sz="1400" b="1" noProof="0" dirty="0">
                <a:solidFill>
                  <a:srgbClr val="FFFFFF"/>
                </a:solidFill>
                <a:latin typeface="Calibri" pitchFamily="34" charset="0"/>
              </a:rPr>
              <a:t>03</a:t>
            </a:r>
          </a:p>
        </p:txBody>
      </p:sp>
      <p:sp>
        <p:nvSpPr>
          <p:cNvPr id="17" name="Card3Title"/>
          <p:cNvSpPr/>
          <p:nvPr/>
        </p:nvSpPr>
        <p:spPr>
          <a:xfrm>
            <a:off x="1143000" y="3337560"/>
            <a:ext cx="7635480" cy="274320"/>
          </a:xfrm>
          <a:prstGeom prst="rect">
            <a:avLst/>
          </a:prstGeom>
          <a:noFill/>
          <a:ln/>
        </p:spPr>
        <p:txBody>
          <a:bodyPr wrap="square" rtlCol="0" anchor="ctr"/>
          <a:lstStyle/>
          <a:p>
            <a:pPr marL="0" indent="0">
              <a:buNone/>
            </a:pPr>
            <a:r>
              <a:rPr lang="es-419" sz="1100" b="1" noProof="0" dirty="0">
                <a:solidFill>
                  <a:srgbClr val="9F1239"/>
                </a:solidFill>
                <a:latin typeface="Calibri" pitchFamily="34" charset="0"/>
              </a:rPr>
              <a:t>Habilitacion del Ticket MAS tras Firma del Contrato</a:t>
            </a:r>
          </a:p>
        </p:txBody>
      </p:sp>
      <p:sp>
        <p:nvSpPr>
          <p:cNvPr id="18" name="Card3Body"/>
          <p:cNvSpPr/>
          <p:nvPr/>
        </p:nvSpPr>
        <p:spPr>
          <a:xfrm>
            <a:off x="1143000" y="3657600"/>
            <a:ext cx="7635480" cy="640080"/>
          </a:xfrm>
          <a:prstGeom prst="rect">
            <a:avLst/>
          </a:prstGeom>
          <a:noFill/>
          <a:ln/>
        </p:spPr>
        <p:txBody>
          <a:bodyPr wrap="square" rtlCol="0" anchor="t"/>
          <a:lstStyle/>
          <a:p>
            <a:pPr marL="0" indent="0">
              <a:buNone/>
            </a:pPr>
            <a:r>
              <a:rPr lang="es-419" sz="1000" noProof="0" dirty="0">
                <a:solidFill>
                  <a:srgbClr val="64748B"/>
                </a:solidFill>
                <a:latin typeface="Calibri" pitchFamily="34" charset="0"/>
              </a:rPr>
              <a:t>Una vez que OR - SER Juridico concluya el contrato y este cuente con la firma del proveedor, la Coordinacion de Obras RCMA habilitara el modulo Ticket MAS en el sistema. Esta habilitacion constituye la autorizacion formal para que el colegio registre el proyecto y el proveedor pueda iniciar las actividades contratadas.</a:t>
            </a:r>
          </a:p>
        </p:txBody>
      </p:sp>
      <p:sp>
        <p:nvSpPr>
          <p:cNvPr id="19" name="FooterNote"/>
          <p:cNvSpPr/>
          <p:nvPr/>
        </p:nvSpPr>
        <p:spPr>
          <a:xfrm>
            <a:off x="274320" y="4480560"/>
            <a:ext cx="8595360" cy="548640"/>
          </a:xfrm>
          <a:prstGeom prst="rect">
            <a:avLst/>
          </a:prstGeom>
          <a:solidFill>
            <a:srgbClr val="FFF1F2"/>
          </a:solidFill>
          <a:ln w="12700">
            <a:solidFill>
              <a:srgbClr val="FECDD3"/>
            </a:solidFill>
            <a:prstDash val="solid"/>
          </a:ln>
        </p:spPr>
        <p:txBody>
          <a:bodyPr wrap="square" lIns="91440" rIns="91440" rtlCol="0" anchor="ctr"/>
          <a:lstStyle/>
          <a:p>
            <a:pPr marL="0" indent="0" algn="l">
              <a:buNone/>
            </a:pPr>
            <a:r>
              <a:rPr lang="es-419" sz="900" b="1" noProof="0" dirty="0">
                <a:solidFill>
                  <a:srgbClr val="9F1239"/>
                </a:solidFill>
                <a:latin typeface="Calibri" pitchFamily="34" charset="0"/>
              </a:rPr>
              <a:t>⚠️  Importante: </a:t>
            </a:r>
            <a:r>
              <a:rPr lang="es-419" sz="900" noProof="0" dirty="0">
                <a:solidFill>
                  <a:srgbClr val="64748B"/>
                </a:solidFill>
                <a:latin typeface="Calibri" pitchFamily="34" charset="0"/>
              </a:rPr>
              <a:t>El Ticket MAS no puede registrarse sin que el contrato este firmado por el proveedor. La habilitacion del modulo es responsabilidad exclusiva del Coordinador de Obras RCMA.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s-419" noProof="0" dirty="0"/>
          </a:p>
        </p:txBody>
      </p:sp>
      <p:sp>
        <p:nvSpPr>
          <p:cNvPr id="3" name="Text 1"/>
          <p:cNvSpPr/>
          <p:nvPr/>
        </p:nvSpPr>
        <p:spPr>
          <a:xfrm>
            <a:off x="365760" y="91440"/>
            <a:ext cx="8412480" cy="731520"/>
          </a:xfrm>
          <a:prstGeom prst="rect">
            <a:avLst/>
          </a:prstGeom>
          <a:noFill/>
          <a:ln/>
        </p:spPr>
        <p:txBody>
          <a:bodyPr wrap="square" rtlCol="0" anchor="ctr"/>
          <a:lstStyle/>
          <a:p>
            <a:pPr marL="0" indent="0" algn="l">
              <a:buNone/>
            </a:pPr>
            <a:r>
              <a:rPr lang="es-419" sz="1900" b="1" noProof="0" dirty="0">
                <a:solidFill>
                  <a:srgbClr val="FFFFFF"/>
                </a:solidFill>
                <a:latin typeface="Calibri" pitchFamily="34" charset="0"/>
                <a:ea typeface="Calibri" pitchFamily="34" charset="-122"/>
                <a:cs typeface="Calibri" pitchFamily="34" charset="-120"/>
              </a:rPr>
              <a:t>Flujo Completo — Solicitud de Proyecto y Ticket MAS</a:t>
            </a:r>
            <a:endParaRPr lang="es-419" sz="1900" noProof="0" dirty="0"/>
          </a:p>
        </p:txBody>
      </p:sp>
      <p:sp>
        <p:nvSpPr>
          <p:cNvPr id="4" name="Shape 2"/>
          <p:cNvSpPr/>
          <p:nvPr/>
        </p:nvSpPr>
        <p:spPr>
          <a:xfrm>
            <a:off x="320040" y="1005840"/>
            <a:ext cx="2697480" cy="16916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5" name="Shape 3"/>
          <p:cNvSpPr/>
          <p:nvPr/>
        </p:nvSpPr>
        <p:spPr>
          <a:xfrm>
            <a:off x="1325880" y="731520"/>
            <a:ext cx="685800" cy="685800"/>
          </a:xfrm>
          <a:prstGeom prst="ellipse">
            <a:avLst/>
          </a:prstGeom>
          <a:solidFill>
            <a:srgbClr val="0D1B3E"/>
          </a:solidFill>
          <a:ln w="12700">
            <a:solidFill>
              <a:srgbClr val="0D1B3E"/>
            </a:solidFill>
            <a:prstDash val="solid"/>
          </a:ln>
        </p:spPr>
        <p:txBody>
          <a:bodyPr/>
          <a:lstStyle/>
          <a:p>
            <a:endParaRPr lang="es-419" noProof="0" dirty="0"/>
          </a:p>
        </p:txBody>
      </p:sp>
      <p:sp>
        <p:nvSpPr>
          <p:cNvPr id="6" name="Text 4"/>
          <p:cNvSpPr/>
          <p:nvPr/>
        </p:nvSpPr>
        <p:spPr>
          <a:xfrm>
            <a:off x="1325880" y="731520"/>
            <a:ext cx="685800" cy="685800"/>
          </a:xfrm>
          <a:prstGeom prst="rect">
            <a:avLst/>
          </a:prstGeom>
          <a:noFill/>
          <a:ln/>
        </p:spPr>
        <p:txBody>
          <a:bodyPr wrap="square" rtlCol="0" anchor="ctr"/>
          <a:lstStyle/>
          <a:p>
            <a:pPr marL="0" indent="0" algn="ctr">
              <a:buNone/>
            </a:pPr>
            <a:r>
              <a:rPr lang="es-419" sz="1800" b="1" noProof="0" dirty="0">
                <a:solidFill>
                  <a:srgbClr val="FFFFFF"/>
                </a:solidFill>
                <a:latin typeface="Calibri" pitchFamily="34" charset="0"/>
                <a:ea typeface="Calibri" pitchFamily="34" charset="-122"/>
                <a:cs typeface="Calibri" pitchFamily="34" charset="-120"/>
              </a:rPr>
              <a:t>1</a:t>
            </a:r>
            <a:endParaRPr lang="es-419" sz="1800" noProof="0" dirty="0"/>
          </a:p>
        </p:txBody>
      </p:sp>
      <p:sp>
        <p:nvSpPr>
          <p:cNvPr id="7" name="Text 5"/>
          <p:cNvSpPr/>
          <p:nvPr/>
        </p:nvSpPr>
        <p:spPr>
          <a:xfrm>
            <a:off x="411480" y="1508760"/>
            <a:ext cx="2514600" cy="457200"/>
          </a:xfrm>
          <a:prstGeom prst="rect">
            <a:avLst/>
          </a:prstGeom>
          <a:noFill/>
          <a:ln/>
        </p:spPr>
        <p:txBody>
          <a:bodyPr wrap="square" rtlCol="0" anchor="ctr"/>
          <a:lstStyle/>
          <a:p>
            <a:pPr marL="0" indent="0" algn="ctr">
              <a:buNone/>
            </a:pPr>
            <a:r>
              <a:rPr lang="es-419" sz="1100" b="1" noProof="0" dirty="0">
                <a:solidFill>
                  <a:srgbClr val="0D1B3E"/>
                </a:solidFill>
                <a:latin typeface="Calibri" pitchFamily="34" charset="0"/>
                <a:ea typeface="Calibri" pitchFamily="34" charset="-122"/>
                <a:cs typeface="Calibri" pitchFamily="34" charset="-120"/>
              </a:rPr>
              <a:t>Detecta la necesidad</a:t>
            </a:r>
            <a:endParaRPr lang="es-419" sz="1100" noProof="0" dirty="0"/>
          </a:p>
        </p:txBody>
      </p:sp>
      <p:sp>
        <p:nvSpPr>
          <p:cNvPr id="8" name="Text 6"/>
          <p:cNvSpPr/>
          <p:nvPr/>
        </p:nvSpPr>
        <p:spPr>
          <a:xfrm>
            <a:off x="411480" y="2011680"/>
            <a:ext cx="2514600" cy="594360"/>
          </a:xfrm>
          <a:prstGeom prst="rect">
            <a:avLst/>
          </a:prstGeom>
          <a:noFill/>
          <a:ln/>
        </p:spPr>
        <p:txBody>
          <a:bodyPr wrap="square" rtlCol="0" anchor="ctr"/>
          <a:lstStyle/>
          <a:p>
            <a:pPr marL="0" indent="0" algn="ctr">
              <a:buNone/>
            </a:pPr>
            <a:r>
              <a:rPr lang="es-419" sz="1000" noProof="0" dirty="0">
                <a:solidFill>
                  <a:srgbClr val="64748B"/>
                </a:solidFill>
                <a:latin typeface="Calibri" pitchFamily="34" charset="0"/>
                <a:ea typeface="Calibri" pitchFamily="34" charset="-122"/>
                <a:cs typeface="Calibri" pitchFamily="34" charset="-120"/>
              </a:rPr>
              <a:t>Director o </a:t>
            </a:r>
            <a:r>
              <a:rPr lang="es-419" sz="1000" noProof="0" dirty="0" err="1">
                <a:solidFill>
                  <a:srgbClr val="64748B"/>
                </a:solidFill>
                <a:latin typeface="Calibri" pitchFamily="34" charset="0"/>
                <a:ea typeface="Calibri" pitchFamily="34" charset="-122"/>
                <a:cs typeface="Calibri" pitchFamily="34" charset="-120"/>
              </a:rPr>
              <a:t>admin</a:t>
            </a:r>
            <a:r>
              <a:rPr lang="es-419" sz="1000" noProof="0" dirty="0">
                <a:solidFill>
                  <a:srgbClr val="64748B"/>
                </a:solidFill>
                <a:latin typeface="Calibri" pitchFamily="34" charset="0"/>
                <a:ea typeface="Calibri" pitchFamily="34" charset="-122"/>
                <a:cs typeface="Calibri" pitchFamily="34" charset="-120"/>
              </a:rPr>
              <a:t> identifica obra, mejora o mantenimiento requerido en el colegio.</a:t>
            </a:r>
            <a:endParaRPr lang="es-419" sz="1000" noProof="0" dirty="0"/>
          </a:p>
        </p:txBody>
      </p:sp>
      <p:sp>
        <p:nvSpPr>
          <p:cNvPr id="9" name="Shape 7"/>
          <p:cNvSpPr/>
          <p:nvPr/>
        </p:nvSpPr>
        <p:spPr>
          <a:xfrm>
            <a:off x="3227832" y="1005840"/>
            <a:ext cx="2697480" cy="16916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0" name="Shape 8"/>
          <p:cNvSpPr/>
          <p:nvPr/>
        </p:nvSpPr>
        <p:spPr>
          <a:xfrm>
            <a:off x="4233672" y="731520"/>
            <a:ext cx="685800" cy="685800"/>
          </a:xfrm>
          <a:prstGeom prst="ellipse">
            <a:avLst/>
          </a:prstGeom>
          <a:solidFill>
            <a:srgbClr val="1A4B8C"/>
          </a:solidFill>
          <a:ln w="12700">
            <a:solidFill>
              <a:srgbClr val="1A4B8C"/>
            </a:solidFill>
            <a:prstDash val="solid"/>
          </a:ln>
        </p:spPr>
        <p:txBody>
          <a:bodyPr/>
          <a:lstStyle/>
          <a:p>
            <a:endParaRPr lang="es-419" noProof="0" dirty="0"/>
          </a:p>
        </p:txBody>
      </p:sp>
      <p:sp>
        <p:nvSpPr>
          <p:cNvPr id="11" name="Text 9"/>
          <p:cNvSpPr/>
          <p:nvPr/>
        </p:nvSpPr>
        <p:spPr>
          <a:xfrm>
            <a:off x="4233672" y="731520"/>
            <a:ext cx="685800" cy="685800"/>
          </a:xfrm>
          <a:prstGeom prst="rect">
            <a:avLst/>
          </a:prstGeom>
          <a:noFill/>
          <a:ln/>
        </p:spPr>
        <p:txBody>
          <a:bodyPr wrap="square" rtlCol="0" anchor="ctr"/>
          <a:lstStyle/>
          <a:p>
            <a:pPr marL="0" indent="0" algn="ctr">
              <a:buNone/>
            </a:pPr>
            <a:r>
              <a:rPr lang="es-419" sz="1800" b="1" noProof="0" dirty="0">
                <a:solidFill>
                  <a:srgbClr val="FFFFFF"/>
                </a:solidFill>
                <a:latin typeface="Calibri" pitchFamily="34" charset="0"/>
                <a:ea typeface="Calibri" pitchFamily="34" charset="-122"/>
                <a:cs typeface="Calibri" pitchFamily="34" charset="-120"/>
              </a:rPr>
              <a:t>2</a:t>
            </a:r>
            <a:endParaRPr lang="es-419" sz="1800" noProof="0" dirty="0"/>
          </a:p>
        </p:txBody>
      </p:sp>
      <p:sp>
        <p:nvSpPr>
          <p:cNvPr id="12" name="Text 10"/>
          <p:cNvSpPr/>
          <p:nvPr/>
        </p:nvSpPr>
        <p:spPr>
          <a:xfrm>
            <a:off x="3319272" y="1508760"/>
            <a:ext cx="2514600" cy="457200"/>
          </a:xfrm>
          <a:prstGeom prst="rect">
            <a:avLst/>
          </a:prstGeom>
          <a:noFill/>
          <a:ln/>
        </p:spPr>
        <p:txBody>
          <a:bodyPr wrap="square" rtlCol="0" anchor="ctr"/>
          <a:lstStyle/>
          <a:p>
            <a:pPr marL="0" indent="0" algn="ctr">
              <a:buNone/>
            </a:pPr>
            <a:r>
              <a:rPr lang="es-419" sz="1100" b="1" noProof="0" dirty="0">
                <a:solidFill>
                  <a:srgbClr val="1A4B8C"/>
                </a:solidFill>
                <a:latin typeface="Calibri" pitchFamily="34" charset="0"/>
                <a:ea typeface="Calibri" pitchFamily="34" charset="-122"/>
                <a:cs typeface="Calibri" pitchFamily="34" charset="-120"/>
              </a:rPr>
              <a:t>Envía Solicitud de Proyecto</a:t>
            </a:r>
            <a:endParaRPr lang="es-419" sz="1100" noProof="0" dirty="0"/>
          </a:p>
        </p:txBody>
      </p:sp>
      <p:sp>
        <p:nvSpPr>
          <p:cNvPr id="13" name="Text 11"/>
          <p:cNvSpPr/>
          <p:nvPr/>
        </p:nvSpPr>
        <p:spPr>
          <a:xfrm>
            <a:off x="3319272" y="2011680"/>
            <a:ext cx="2514600" cy="594360"/>
          </a:xfrm>
          <a:prstGeom prst="rect">
            <a:avLst/>
          </a:prstGeom>
          <a:noFill/>
          <a:ln/>
        </p:spPr>
        <p:txBody>
          <a:bodyPr wrap="square" rtlCol="0" anchor="ctr"/>
          <a:lstStyle/>
          <a:p>
            <a:pPr marL="0" indent="0" algn="ctr">
              <a:buNone/>
            </a:pPr>
            <a:r>
              <a:rPr lang="es-419" sz="1000" noProof="0" dirty="0">
                <a:solidFill>
                  <a:srgbClr val="64748B"/>
                </a:solidFill>
                <a:latin typeface="Calibri" pitchFamily="34" charset="0"/>
                <a:ea typeface="Calibri" pitchFamily="34" charset="-122"/>
                <a:cs typeface="Calibri" pitchFamily="34" charset="-120"/>
              </a:rPr>
              <a:t>Llena y envía el formulario de Solicitud. El coordinador recibe notificación automática.</a:t>
            </a:r>
            <a:endParaRPr lang="es-419" sz="1000" noProof="0" dirty="0"/>
          </a:p>
        </p:txBody>
      </p:sp>
      <p:sp>
        <p:nvSpPr>
          <p:cNvPr id="14" name="Shape 12"/>
          <p:cNvSpPr/>
          <p:nvPr/>
        </p:nvSpPr>
        <p:spPr>
          <a:xfrm>
            <a:off x="6135624" y="1005840"/>
            <a:ext cx="2697480" cy="16916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15" name="Shape 13"/>
          <p:cNvSpPr/>
          <p:nvPr/>
        </p:nvSpPr>
        <p:spPr>
          <a:xfrm>
            <a:off x="7141464" y="731520"/>
            <a:ext cx="685800" cy="685800"/>
          </a:xfrm>
          <a:prstGeom prst="ellipse">
            <a:avLst/>
          </a:prstGeom>
          <a:solidFill>
            <a:srgbClr val="0D8A7E"/>
          </a:solidFill>
          <a:ln w="12700">
            <a:solidFill>
              <a:srgbClr val="0D8A7E"/>
            </a:solidFill>
            <a:prstDash val="solid"/>
          </a:ln>
        </p:spPr>
        <p:txBody>
          <a:bodyPr/>
          <a:lstStyle/>
          <a:p>
            <a:endParaRPr lang="es-419" noProof="0" dirty="0"/>
          </a:p>
        </p:txBody>
      </p:sp>
      <p:sp>
        <p:nvSpPr>
          <p:cNvPr id="16" name="Text 14"/>
          <p:cNvSpPr/>
          <p:nvPr/>
        </p:nvSpPr>
        <p:spPr>
          <a:xfrm>
            <a:off x="7141464" y="731520"/>
            <a:ext cx="685800" cy="685800"/>
          </a:xfrm>
          <a:prstGeom prst="rect">
            <a:avLst/>
          </a:prstGeom>
          <a:noFill/>
          <a:ln/>
        </p:spPr>
        <p:txBody>
          <a:bodyPr wrap="square" rtlCol="0" anchor="ctr"/>
          <a:lstStyle/>
          <a:p>
            <a:pPr marL="0" indent="0" algn="ctr">
              <a:buNone/>
            </a:pPr>
            <a:r>
              <a:rPr lang="es-419" sz="1800" b="1" noProof="0" dirty="0">
                <a:solidFill>
                  <a:srgbClr val="FFFFFF"/>
                </a:solidFill>
                <a:latin typeface="Calibri" pitchFamily="34" charset="0"/>
                <a:ea typeface="Calibri" pitchFamily="34" charset="-122"/>
                <a:cs typeface="Calibri" pitchFamily="34" charset="-120"/>
              </a:rPr>
              <a:t>3</a:t>
            </a:r>
            <a:endParaRPr lang="es-419" sz="1800" noProof="0" dirty="0"/>
          </a:p>
        </p:txBody>
      </p:sp>
      <p:sp>
        <p:nvSpPr>
          <p:cNvPr id="17" name="Text 15"/>
          <p:cNvSpPr/>
          <p:nvPr/>
        </p:nvSpPr>
        <p:spPr>
          <a:xfrm>
            <a:off x="6227064" y="1508760"/>
            <a:ext cx="2514600" cy="457200"/>
          </a:xfrm>
          <a:prstGeom prst="rect">
            <a:avLst/>
          </a:prstGeom>
          <a:noFill/>
          <a:ln/>
        </p:spPr>
        <p:txBody>
          <a:bodyPr wrap="square" rtlCol="0" anchor="ctr"/>
          <a:lstStyle/>
          <a:p>
            <a:pPr marL="0" indent="0" algn="ctr">
              <a:buNone/>
            </a:pPr>
            <a:r>
              <a:rPr lang="es-419" sz="1100" b="1" noProof="0" dirty="0">
                <a:solidFill>
                  <a:srgbClr val="0D8A7E"/>
                </a:solidFill>
                <a:latin typeface="Calibri" pitchFamily="34" charset="0"/>
                <a:ea typeface="Calibri" pitchFamily="34" charset="-122"/>
                <a:cs typeface="Calibri" pitchFamily="34" charset="-120"/>
              </a:rPr>
              <a:t>Revisión y aprobación</a:t>
            </a:r>
            <a:endParaRPr lang="es-419" sz="1100" noProof="0" dirty="0"/>
          </a:p>
        </p:txBody>
      </p:sp>
      <p:sp>
        <p:nvSpPr>
          <p:cNvPr id="18" name="Text 16"/>
          <p:cNvSpPr/>
          <p:nvPr/>
        </p:nvSpPr>
        <p:spPr>
          <a:xfrm>
            <a:off x="6227064" y="2011680"/>
            <a:ext cx="2514600" cy="594360"/>
          </a:xfrm>
          <a:prstGeom prst="rect">
            <a:avLst/>
          </a:prstGeom>
          <a:noFill/>
          <a:ln/>
        </p:spPr>
        <p:txBody>
          <a:bodyPr wrap="square" rtlCol="0" anchor="ctr"/>
          <a:lstStyle/>
          <a:p>
            <a:pPr marL="0" indent="0" algn="ctr">
              <a:buNone/>
            </a:pPr>
            <a:r>
              <a:rPr lang="es-419" sz="1000" noProof="0" dirty="0">
                <a:solidFill>
                  <a:srgbClr val="64748B"/>
                </a:solidFill>
                <a:latin typeface="Calibri" pitchFamily="34" charset="0"/>
                <a:ea typeface="Calibri" pitchFamily="34" charset="-122"/>
                <a:cs typeface="Calibri" pitchFamily="34" charset="-120"/>
              </a:rPr>
              <a:t>Coordinador evalúa la solicitud, define alcance, fechas y asigna estatus.</a:t>
            </a:r>
            <a:endParaRPr lang="es-419" sz="1000" noProof="0" dirty="0"/>
          </a:p>
        </p:txBody>
      </p:sp>
      <p:sp>
        <p:nvSpPr>
          <p:cNvPr id="19" name="Shape 17"/>
          <p:cNvSpPr/>
          <p:nvPr/>
        </p:nvSpPr>
        <p:spPr>
          <a:xfrm>
            <a:off x="320040" y="2926080"/>
            <a:ext cx="2697480" cy="16916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20" name="Shape 18"/>
          <p:cNvSpPr/>
          <p:nvPr/>
        </p:nvSpPr>
        <p:spPr>
          <a:xfrm>
            <a:off x="1325880" y="2651760"/>
            <a:ext cx="685800" cy="685800"/>
          </a:xfrm>
          <a:prstGeom prst="ellipse">
            <a:avLst/>
          </a:prstGeom>
          <a:solidFill>
            <a:srgbClr val="D97706"/>
          </a:solidFill>
          <a:ln w="12700">
            <a:solidFill>
              <a:srgbClr val="D97706"/>
            </a:solidFill>
            <a:prstDash val="solid"/>
          </a:ln>
        </p:spPr>
        <p:txBody>
          <a:bodyPr/>
          <a:lstStyle/>
          <a:p>
            <a:endParaRPr lang="es-419" noProof="0" dirty="0"/>
          </a:p>
        </p:txBody>
      </p:sp>
      <p:sp>
        <p:nvSpPr>
          <p:cNvPr id="21" name="Text 19"/>
          <p:cNvSpPr/>
          <p:nvPr/>
        </p:nvSpPr>
        <p:spPr>
          <a:xfrm>
            <a:off x="1325880" y="2651760"/>
            <a:ext cx="685800" cy="685800"/>
          </a:xfrm>
          <a:prstGeom prst="rect">
            <a:avLst/>
          </a:prstGeom>
          <a:noFill/>
          <a:ln/>
        </p:spPr>
        <p:txBody>
          <a:bodyPr wrap="square" rtlCol="0" anchor="ctr"/>
          <a:lstStyle/>
          <a:p>
            <a:pPr marL="0" indent="0" algn="ctr">
              <a:buNone/>
            </a:pPr>
            <a:r>
              <a:rPr lang="es-419" sz="1800" b="1" noProof="0" dirty="0">
                <a:solidFill>
                  <a:srgbClr val="FFFFFF"/>
                </a:solidFill>
                <a:latin typeface="Calibri" pitchFamily="34" charset="0"/>
                <a:ea typeface="Calibri" pitchFamily="34" charset="-122"/>
                <a:cs typeface="Calibri" pitchFamily="34" charset="-120"/>
              </a:rPr>
              <a:t>4</a:t>
            </a:r>
            <a:endParaRPr lang="es-419" sz="1800" noProof="0" dirty="0"/>
          </a:p>
        </p:txBody>
      </p:sp>
      <p:sp>
        <p:nvSpPr>
          <p:cNvPr id="22" name="Text 20"/>
          <p:cNvSpPr/>
          <p:nvPr/>
        </p:nvSpPr>
        <p:spPr>
          <a:xfrm>
            <a:off x="411480" y="3429000"/>
            <a:ext cx="2514600" cy="457200"/>
          </a:xfrm>
          <a:prstGeom prst="rect">
            <a:avLst/>
          </a:prstGeom>
          <a:noFill/>
          <a:ln/>
        </p:spPr>
        <p:txBody>
          <a:bodyPr wrap="square" rtlCol="0" anchor="ctr"/>
          <a:lstStyle/>
          <a:p>
            <a:pPr marL="0" indent="0" algn="ctr">
              <a:buNone/>
            </a:pPr>
            <a:r>
              <a:rPr lang="es-419" sz="1100" b="1" noProof="0" dirty="0">
                <a:solidFill>
                  <a:srgbClr val="D97706"/>
                </a:solidFill>
                <a:latin typeface="Calibri" pitchFamily="34" charset="0"/>
                <a:ea typeface="Calibri" pitchFamily="34" charset="-122"/>
                <a:cs typeface="Calibri" pitchFamily="34" charset="-120"/>
              </a:rPr>
              <a:t>Cotizaciones y Equipo ECO</a:t>
            </a:r>
            <a:endParaRPr lang="es-419" sz="1100" noProof="0" dirty="0"/>
          </a:p>
        </p:txBody>
      </p:sp>
      <p:sp>
        <p:nvSpPr>
          <p:cNvPr id="23" name="Text 21"/>
          <p:cNvSpPr/>
          <p:nvPr/>
        </p:nvSpPr>
        <p:spPr>
          <a:xfrm>
            <a:off x="411480" y="3931920"/>
            <a:ext cx="2514600" cy="594360"/>
          </a:xfrm>
          <a:prstGeom prst="rect">
            <a:avLst/>
          </a:prstGeom>
          <a:noFill/>
          <a:ln/>
        </p:spPr>
        <p:txBody>
          <a:bodyPr wrap="square" rtlCol="0" anchor="ctr"/>
          <a:lstStyle/>
          <a:p>
            <a:pPr marL="0" indent="0" algn="ctr">
              <a:buNone/>
            </a:pPr>
            <a:r>
              <a:rPr lang="es-419" sz="1000" noProof="0" dirty="0">
                <a:solidFill>
                  <a:srgbClr val="64748B"/>
                </a:solidFill>
                <a:latin typeface="Calibri" pitchFamily="34" charset="0"/>
                <a:ea typeface="Calibri" pitchFamily="34" charset="-122"/>
                <a:cs typeface="Calibri" pitchFamily="34" charset="-120"/>
              </a:rPr>
              <a:t>El colegio recaba 3 cotizaciones, llena la Tabla Comparativa y el equipo ECO valida los precios.</a:t>
            </a:r>
            <a:endParaRPr lang="es-419" sz="1000" noProof="0" dirty="0"/>
          </a:p>
        </p:txBody>
      </p:sp>
      <p:sp>
        <p:nvSpPr>
          <p:cNvPr id="24" name="Shape 22"/>
          <p:cNvSpPr/>
          <p:nvPr/>
        </p:nvSpPr>
        <p:spPr>
          <a:xfrm>
            <a:off x="3227832" y="2926080"/>
            <a:ext cx="2697480" cy="16916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25" name="Shape 23"/>
          <p:cNvSpPr/>
          <p:nvPr/>
        </p:nvSpPr>
        <p:spPr>
          <a:xfrm>
            <a:off x="4233672" y="2651760"/>
            <a:ext cx="685800" cy="685800"/>
          </a:xfrm>
          <a:prstGeom prst="ellipse">
            <a:avLst/>
          </a:prstGeom>
          <a:solidFill>
            <a:srgbClr val="9F1239"/>
          </a:solidFill>
          <a:ln w="12700">
            <a:solidFill>
              <a:srgbClr val="9F1239"/>
            </a:solidFill>
            <a:prstDash val="solid"/>
          </a:ln>
        </p:spPr>
        <p:txBody>
          <a:bodyPr/>
          <a:lstStyle/>
          <a:p>
            <a:endParaRPr lang="es-419" noProof="0" dirty="0"/>
          </a:p>
        </p:txBody>
      </p:sp>
      <p:sp>
        <p:nvSpPr>
          <p:cNvPr id="26" name="Text 24"/>
          <p:cNvSpPr/>
          <p:nvPr/>
        </p:nvSpPr>
        <p:spPr>
          <a:xfrm>
            <a:off x="4233672" y="2651760"/>
            <a:ext cx="685800" cy="685800"/>
          </a:xfrm>
          <a:prstGeom prst="rect">
            <a:avLst/>
          </a:prstGeom>
          <a:noFill/>
          <a:ln/>
        </p:spPr>
        <p:txBody>
          <a:bodyPr wrap="square" rtlCol="0" anchor="ctr"/>
          <a:lstStyle/>
          <a:p>
            <a:pPr marL="0" indent="0" algn="ctr">
              <a:buNone/>
            </a:pPr>
            <a:r>
              <a:rPr lang="es-419" sz="1800" b="1" noProof="0" dirty="0">
                <a:solidFill>
                  <a:srgbClr val="FFFFFF"/>
                </a:solidFill>
                <a:latin typeface="Calibri" pitchFamily="34" charset="0"/>
                <a:ea typeface="Calibri" pitchFamily="34" charset="-122"/>
                <a:cs typeface="Calibri" pitchFamily="34" charset="-120"/>
              </a:rPr>
              <a:t>5</a:t>
            </a:r>
            <a:endParaRPr lang="es-419" sz="1800" noProof="0" dirty="0"/>
          </a:p>
        </p:txBody>
      </p:sp>
      <p:sp>
        <p:nvSpPr>
          <p:cNvPr id="27" name="Text 25"/>
          <p:cNvSpPr/>
          <p:nvPr/>
        </p:nvSpPr>
        <p:spPr>
          <a:xfrm>
            <a:off x="3319272" y="3429000"/>
            <a:ext cx="2514600" cy="457200"/>
          </a:xfrm>
          <a:prstGeom prst="rect">
            <a:avLst/>
          </a:prstGeom>
          <a:noFill/>
          <a:ln/>
        </p:spPr>
        <p:txBody>
          <a:bodyPr wrap="square" rtlCol="0" anchor="ctr"/>
          <a:lstStyle/>
          <a:p>
            <a:pPr marL="0" indent="0" algn="ctr">
              <a:buNone/>
            </a:pPr>
            <a:r>
              <a:rPr lang="es-419" sz="1100" b="1" noProof="0" dirty="0">
                <a:solidFill>
                  <a:srgbClr val="9F1239"/>
                </a:solidFill>
                <a:latin typeface="Calibri" pitchFamily="34" charset="0"/>
                <a:ea typeface="Calibri" pitchFamily="34" charset="-122"/>
                <a:cs typeface="Calibri" pitchFamily="34" charset="-120"/>
              </a:rPr>
              <a:t>Solicitud de Contratos</a:t>
            </a:r>
            <a:endParaRPr lang="es-419" sz="1100" noProof="0" dirty="0"/>
          </a:p>
        </p:txBody>
      </p:sp>
      <p:sp>
        <p:nvSpPr>
          <p:cNvPr id="28" name="Text 26"/>
          <p:cNvSpPr/>
          <p:nvPr/>
        </p:nvSpPr>
        <p:spPr>
          <a:xfrm>
            <a:off x="3319272" y="3931920"/>
            <a:ext cx="2514600" cy="594360"/>
          </a:xfrm>
          <a:prstGeom prst="rect">
            <a:avLst/>
          </a:prstGeom>
          <a:noFill/>
          <a:ln/>
        </p:spPr>
        <p:txBody>
          <a:bodyPr wrap="square" rtlCol="0" anchor="ctr"/>
          <a:lstStyle/>
          <a:p>
            <a:pPr marL="0" indent="0" algn="ctr">
              <a:buNone/>
            </a:pPr>
            <a:r>
              <a:rPr lang="es-419" sz="1000" noProof="0" dirty="0">
                <a:solidFill>
                  <a:srgbClr val="64748B"/>
                </a:solidFill>
                <a:latin typeface="Calibri" pitchFamily="34" charset="0"/>
                <a:ea typeface="Calibri" pitchFamily="34" charset="-122"/>
                <a:cs typeface="Calibri" pitchFamily="34" charset="-120"/>
              </a:rPr>
              <a:t>Se gestiona ante OR - SER Juridico el contrato del proveedor. Al firmarse, se habilita el Ticket MAS.</a:t>
            </a:r>
            <a:endParaRPr lang="es-419" sz="1000" noProof="0" dirty="0"/>
          </a:p>
        </p:txBody>
      </p:sp>
      <p:sp>
        <p:nvSpPr>
          <p:cNvPr id="29" name="Shape 27"/>
          <p:cNvSpPr/>
          <p:nvPr/>
        </p:nvSpPr>
        <p:spPr>
          <a:xfrm>
            <a:off x="6135624" y="2926080"/>
            <a:ext cx="2697480" cy="1691640"/>
          </a:xfrm>
          <a:prstGeom prst="rect">
            <a:avLst/>
          </a:prstGeom>
          <a:solidFill>
            <a:srgbClr val="FFFFFF"/>
          </a:solidFill>
          <a:ln w="12700">
            <a:solidFill>
              <a:srgbClr val="E2E8F0"/>
            </a:solidFill>
            <a:prstDash val="solid"/>
          </a:ln>
          <a:effectLst>
            <a:outerShdw blurRad="76200" dist="38100" dir="8100000" algn="bl" rotWithShape="0">
              <a:srgbClr val="000000">
                <a:alpha val="75000"/>
              </a:srgbClr>
            </a:outerShdw>
          </a:effectLst>
        </p:spPr>
        <p:txBody>
          <a:bodyPr/>
          <a:lstStyle/>
          <a:p>
            <a:endParaRPr lang="es-419" noProof="0" dirty="0"/>
          </a:p>
        </p:txBody>
      </p:sp>
      <p:sp>
        <p:nvSpPr>
          <p:cNvPr id="30" name="Shape 28"/>
          <p:cNvSpPr/>
          <p:nvPr/>
        </p:nvSpPr>
        <p:spPr>
          <a:xfrm>
            <a:off x="7141464" y="2651760"/>
            <a:ext cx="685800" cy="685800"/>
          </a:xfrm>
          <a:prstGeom prst="ellipse">
            <a:avLst/>
          </a:prstGeom>
          <a:solidFill>
            <a:srgbClr val="0D1B3E"/>
          </a:solidFill>
          <a:ln w="12700">
            <a:solidFill>
              <a:srgbClr val="0D1B3E"/>
            </a:solidFill>
            <a:prstDash val="solid"/>
          </a:ln>
        </p:spPr>
        <p:txBody>
          <a:bodyPr/>
          <a:lstStyle/>
          <a:p>
            <a:endParaRPr lang="es-419" noProof="0" dirty="0"/>
          </a:p>
        </p:txBody>
      </p:sp>
      <p:sp>
        <p:nvSpPr>
          <p:cNvPr id="31" name="Text 29"/>
          <p:cNvSpPr/>
          <p:nvPr/>
        </p:nvSpPr>
        <p:spPr>
          <a:xfrm>
            <a:off x="7141464" y="2651760"/>
            <a:ext cx="685800" cy="685800"/>
          </a:xfrm>
          <a:prstGeom prst="rect">
            <a:avLst/>
          </a:prstGeom>
          <a:noFill/>
          <a:ln/>
        </p:spPr>
        <p:txBody>
          <a:bodyPr wrap="square" rtlCol="0" anchor="ctr"/>
          <a:lstStyle/>
          <a:p>
            <a:pPr marL="0" indent="0" algn="ctr">
              <a:buNone/>
            </a:pPr>
            <a:r>
              <a:rPr lang="es-419" sz="1800" b="1" noProof="0" dirty="0">
                <a:solidFill>
                  <a:srgbClr val="FFFFFF"/>
                </a:solidFill>
                <a:latin typeface="Calibri" pitchFamily="34" charset="0"/>
                <a:ea typeface="Calibri" pitchFamily="34" charset="-122"/>
                <a:cs typeface="Calibri" pitchFamily="34" charset="-120"/>
              </a:rPr>
              <a:t>6</a:t>
            </a:r>
            <a:endParaRPr lang="es-419" sz="1800" noProof="0" dirty="0"/>
          </a:p>
        </p:txBody>
      </p:sp>
      <p:sp>
        <p:nvSpPr>
          <p:cNvPr id="32" name="Text 30"/>
          <p:cNvSpPr/>
          <p:nvPr/>
        </p:nvSpPr>
        <p:spPr>
          <a:xfrm>
            <a:off x="6227064" y="3429000"/>
            <a:ext cx="2514600" cy="457200"/>
          </a:xfrm>
          <a:prstGeom prst="rect">
            <a:avLst/>
          </a:prstGeom>
          <a:noFill/>
          <a:ln/>
        </p:spPr>
        <p:txBody>
          <a:bodyPr wrap="square" rtlCol="0" anchor="ctr"/>
          <a:lstStyle/>
          <a:p>
            <a:pPr marL="0" indent="0" algn="ctr">
              <a:buNone/>
            </a:pPr>
            <a:r>
              <a:rPr lang="es-419" sz="1100" b="1" noProof="0" dirty="0">
                <a:solidFill>
                  <a:srgbClr val="0D1B3E"/>
                </a:solidFill>
                <a:latin typeface="Calibri" pitchFamily="34" charset="0"/>
                <a:ea typeface="Calibri" pitchFamily="34" charset="-122"/>
                <a:cs typeface="Calibri" pitchFamily="34" charset="-120"/>
              </a:rPr>
              <a:t>Ticket MAS y Autorización</a:t>
            </a:r>
            <a:endParaRPr lang="es-419" sz="1100" noProof="0" dirty="0"/>
          </a:p>
        </p:txBody>
      </p:sp>
      <p:sp>
        <p:nvSpPr>
          <p:cNvPr id="33" name="Text 31"/>
          <p:cNvSpPr/>
          <p:nvPr/>
        </p:nvSpPr>
        <p:spPr>
          <a:xfrm>
            <a:off x="6227064" y="3931920"/>
            <a:ext cx="2514600" cy="594360"/>
          </a:xfrm>
          <a:prstGeom prst="rect">
            <a:avLst/>
          </a:prstGeom>
          <a:noFill/>
          <a:ln/>
        </p:spPr>
        <p:txBody>
          <a:bodyPr wrap="square" rtlCol="0" anchor="ctr"/>
          <a:lstStyle/>
          <a:p>
            <a:pPr marL="0" indent="0" algn="ctr">
              <a:buNone/>
            </a:pPr>
            <a:r>
              <a:rPr lang="es-419" sz="1000" noProof="0" dirty="0">
                <a:solidFill>
                  <a:srgbClr val="64748B"/>
                </a:solidFill>
                <a:latin typeface="Calibri" pitchFamily="34" charset="0"/>
                <a:ea typeface="Calibri" pitchFamily="34" charset="-122"/>
                <a:cs typeface="Calibri" pitchFamily="34" charset="-120"/>
              </a:rPr>
              <a:t>El colegio ingresa el Ticket MAS. El coordinador revisa, autoriza y genera el PDF oficial con firma digital.</a:t>
            </a:r>
            <a:endParaRPr lang="es-419" sz="1000"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8A7E"/>
          </a:solidFill>
          <a:ln w="12700">
            <a:solidFill>
              <a:srgbClr val="0D8A7E"/>
            </a:solidFill>
            <a:prstDash val="solid"/>
          </a:ln>
        </p:spPr>
        <p:txBody>
          <a:bodyPr/>
          <a:lstStyle/>
          <a:p>
            <a:endParaRPr lang="es-419" noProof="0" dirty="0"/>
          </a:p>
        </p:txBody>
      </p:sp>
      <p:sp>
        <p:nvSpPr>
          <p:cNvPr id="3" name="Text 1"/>
          <p:cNvSpPr/>
          <p:nvPr/>
        </p:nvSpPr>
        <p:spPr>
          <a:xfrm>
            <a:off x="457200" y="502920"/>
            <a:ext cx="8229600" cy="411480"/>
          </a:xfrm>
          <a:prstGeom prst="rect">
            <a:avLst/>
          </a:prstGeom>
          <a:noFill/>
          <a:ln/>
        </p:spPr>
        <p:txBody>
          <a:bodyPr wrap="square" rtlCol="0" anchor="ctr"/>
          <a:lstStyle/>
          <a:p>
            <a:pPr marL="0" indent="0" algn="l">
              <a:buNone/>
            </a:pPr>
            <a:r>
              <a:rPr lang="es-419" sz="1300" b="1" kern="0" spc="200" noProof="0" dirty="0">
                <a:solidFill>
                  <a:srgbClr val="0D8A7E"/>
                </a:solidFill>
                <a:latin typeface="Calibri" pitchFamily="34" charset="0"/>
                <a:ea typeface="Calibri" pitchFamily="34" charset="-122"/>
                <a:cs typeface="Calibri" pitchFamily="34" charset="-120"/>
              </a:rPr>
              <a:t>Recuerda:</a:t>
            </a:r>
            <a:endParaRPr lang="es-419" sz="1300" noProof="0" dirty="0"/>
          </a:p>
        </p:txBody>
      </p:sp>
      <p:sp>
        <p:nvSpPr>
          <p:cNvPr id="4" name="Text 2"/>
          <p:cNvSpPr/>
          <p:nvPr/>
        </p:nvSpPr>
        <p:spPr>
          <a:xfrm>
            <a:off x="457200" y="914400"/>
            <a:ext cx="8229600" cy="548640"/>
          </a:xfrm>
          <a:prstGeom prst="rect">
            <a:avLst/>
          </a:prstGeom>
          <a:noFill/>
          <a:ln/>
        </p:spPr>
        <p:txBody>
          <a:bodyPr wrap="square" rtlCol="0" anchor="ctr"/>
          <a:lstStyle/>
          <a:p>
            <a:pPr marL="0" indent="0" algn="l">
              <a:buNone/>
            </a:pPr>
            <a:r>
              <a:rPr lang="es-419" sz="2200" b="1" noProof="0" dirty="0">
                <a:solidFill>
                  <a:srgbClr val="FFFFFF"/>
                </a:solidFill>
                <a:latin typeface="Calibri" pitchFamily="34" charset="0"/>
                <a:ea typeface="Calibri" pitchFamily="34" charset="-122"/>
                <a:cs typeface="Calibri" pitchFamily="34" charset="-120"/>
              </a:rPr>
              <a:t>Puntos clave para un uso correcto del sistema</a:t>
            </a:r>
            <a:endParaRPr lang="es-419" sz="2200" noProof="0" dirty="0"/>
          </a:p>
        </p:txBody>
      </p:sp>
      <p:sp>
        <p:nvSpPr>
          <p:cNvPr id="5" name="Shape 3"/>
          <p:cNvSpPr/>
          <p:nvPr/>
        </p:nvSpPr>
        <p:spPr>
          <a:xfrm>
            <a:off x="457200" y="1600200"/>
            <a:ext cx="8321040" cy="685800"/>
          </a:xfrm>
          <a:prstGeom prst="rect">
            <a:avLst/>
          </a:prstGeom>
          <a:solidFill>
            <a:srgbClr val="1E3A5F"/>
          </a:solidFill>
          <a:ln w="12700">
            <a:solidFill>
              <a:srgbClr val="253D6B"/>
            </a:solidFill>
            <a:prstDash val="solid"/>
          </a:ln>
        </p:spPr>
        <p:txBody>
          <a:bodyPr/>
          <a:lstStyle/>
          <a:p>
            <a:endParaRPr lang="es-419" noProof="0" dirty="0"/>
          </a:p>
        </p:txBody>
      </p:sp>
      <p:sp>
        <p:nvSpPr>
          <p:cNvPr id="6" name="Shape 4"/>
          <p:cNvSpPr/>
          <p:nvPr/>
        </p:nvSpPr>
        <p:spPr>
          <a:xfrm>
            <a:off x="457200" y="1600200"/>
            <a:ext cx="256032" cy="685800"/>
          </a:xfrm>
          <a:prstGeom prst="rect">
            <a:avLst/>
          </a:prstGeom>
          <a:solidFill>
            <a:srgbClr val="1A4B8C"/>
          </a:solidFill>
          <a:ln w="12700">
            <a:solidFill>
              <a:srgbClr val="1A4B8C"/>
            </a:solidFill>
            <a:prstDash val="solid"/>
          </a:ln>
        </p:spPr>
        <p:txBody>
          <a:bodyPr/>
          <a:lstStyle/>
          <a:p>
            <a:endParaRPr lang="es-419" noProof="0" dirty="0"/>
          </a:p>
        </p:txBody>
      </p:sp>
      <p:sp>
        <p:nvSpPr>
          <p:cNvPr id="7" name="Text 5"/>
          <p:cNvSpPr/>
          <p:nvPr/>
        </p:nvSpPr>
        <p:spPr>
          <a:xfrm>
            <a:off x="822960" y="1636776"/>
            <a:ext cx="3657600" cy="292608"/>
          </a:xfrm>
          <a:prstGeom prst="rect">
            <a:avLst/>
          </a:prstGeom>
          <a:noFill/>
          <a:ln/>
        </p:spPr>
        <p:txBody>
          <a:bodyPr wrap="square" rtlCol="0" anchor="ctr"/>
          <a:lstStyle/>
          <a:p>
            <a:pPr marL="0" indent="0">
              <a:buNone/>
            </a:pPr>
            <a:r>
              <a:rPr lang="es-419" sz="1200" b="1" noProof="0" dirty="0">
                <a:solidFill>
                  <a:srgbClr val="FFFFFF"/>
                </a:solidFill>
                <a:latin typeface="Calibri" pitchFamily="34" charset="0"/>
                <a:ea typeface="Calibri" pitchFamily="34" charset="-122"/>
                <a:cs typeface="Calibri" pitchFamily="34" charset="-120"/>
              </a:rPr>
              <a:t>Solicitud primero, Ticket después</a:t>
            </a:r>
            <a:endParaRPr lang="es-419" sz="1200" noProof="0" dirty="0"/>
          </a:p>
        </p:txBody>
      </p:sp>
      <p:sp>
        <p:nvSpPr>
          <p:cNvPr id="8" name="Text 6"/>
          <p:cNvSpPr/>
          <p:nvPr/>
        </p:nvSpPr>
        <p:spPr>
          <a:xfrm>
            <a:off x="822960" y="1947672"/>
            <a:ext cx="7818120" cy="292608"/>
          </a:xfrm>
          <a:prstGeom prst="rect">
            <a:avLst/>
          </a:prstGeom>
          <a:noFill/>
          <a:ln/>
        </p:spPr>
        <p:txBody>
          <a:bodyPr wrap="square" rtlCol="0" anchor="ctr"/>
          <a:lstStyle/>
          <a:p>
            <a:pPr marL="0" indent="0">
              <a:buNone/>
            </a:pPr>
            <a:r>
              <a:rPr lang="es-419" sz="1050" noProof="0" dirty="0">
                <a:solidFill>
                  <a:srgbClr val="A8C4E0"/>
                </a:solidFill>
                <a:latin typeface="Calibri" pitchFamily="34" charset="0"/>
                <a:ea typeface="Calibri" pitchFamily="34" charset="-122"/>
                <a:cs typeface="Calibri" pitchFamily="34" charset="-120"/>
              </a:rPr>
              <a:t>Usa la Solicitud para pedir autorización del proyecto. Una vez aprobado, ingresa el Ticket con las cotizaciones.</a:t>
            </a:r>
            <a:endParaRPr lang="es-419" sz="1050" noProof="0" dirty="0"/>
          </a:p>
        </p:txBody>
      </p:sp>
      <p:sp>
        <p:nvSpPr>
          <p:cNvPr id="9" name="Shape 7"/>
          <p:cNvSpPr/>
          <p:nvPr/>
        </p:nvSpPr>
        <p:spPr>
          <a:xfrm>
            <a:off x="457200" y="2395728"/>
            <a:ext cx="8321040" cy="685800"/>
          </a:xfrm>
          <a:prstGeom prst="rect">
            <a:avLst/>
          </a:prstGeom>
          <a:solidFill>
            <a:srgbClr val="1E3A5F"/>
          </a:solidFill>
          <a:ln w="12700">
            <a:solidFill>
              <a:srgbClr val="253D6B"/>
            </a:solidFill>
            <a:prstDash val="solid"/>
          </a:ln>
        </p:spPr>
        <p:txBody>
          <a:bodyPr/>
          <a:lstStyle/>
          <a:p>
            <a:endParaRPr lang="es-419" noProof="0" dirty="0"/>
          </a:p>
        </p:txBody>
      </p:sp>
      <p:sp>
        <p:nvSpPr>
          <p:cNvPr id="10" name="Shape 8"/>
          <p:cNvSpPr/>
          <p:nvPr/>
        </p:nvSpPr>
        <p:spPr>
          <a:xfrm>
            <a:off x="457200" y="2395728"/>
            <a:ext cx="256032" cy="685800"/>
          </a:xfrm>
          <a:prstGeom prst="rect">
            <a:avLst/>
          </a:prstGeom>
          <a:solidFill>
            <a:srgbClr val="0D8A7E"/>
          </a:solidFill>
          <a:ln w="12700">
            <a:solidFill>
              <a:srgbClr val="0D8A7E"/>
            </a:solidFill>
            <a:prstDash val="solid"/>
          </a:ln>
        </p:spPr>
        <p:txBody>
          <a:bodyPr/>
          <a:lstStyle/>
          <a:p>
            <a:endParaRPr lang="es-419" noProof="0" dirty="0"/>
          </a:p>
        </p:txBody>
      </p:sp>
      <p:sp>
        <p:nvSpPr>
          <p:cNvPr id="11" name="Text 9"/>
          <p:cNvSpPr/>
          <p:nvPr/>
        </p:nvSpPr>
        <p:spPr>
          <a:xfrm>
            <a:off x="822960" y="2432304"/>
            <a:ext cx="3657600" cy="292608"/>
          </a:xfrm>
          <a:prstGeom prst="rect">
            <a:avLst/>
          </a:prstGeom>
          <a:noFill/>
          <a:ln/>
        </p:spPr>
        <p:txBody>
          <a:bodyPr wrap="square" rtlCol="0" anchor="ctr"/>
          <a:lstStyle/>
          <a:p>
            <a:pPr marL="0" indent="0">
              <a:buNone/>
            </a:pPr>
            <a:r>
              <a:rPr lang="es-419" sz="1200" b="1" noProof="0" dirty="0">
                <a:solidFill>
                  <a:srgbClr val="FFFFFF"/>
                </a:solidFill>
                <a:latin typeface="Calibri" pitchFamily="34" charset="0"/>
                <a:ea typeface="Calibri" pitchFamily="34" charset="-122"/>
                <a:cs typeface="Calibri" pitchFamily="34" charset="-120"/>
              </a:rPr>
              <a:t>Campos automáticos</a:t>
            </a:r>
            <a:endParaRPr lang="es-419" sz="1200" noProof="0" dirty="0"/>
          </a:p>
        </p:txBody>
      </p:sp>
      <p:sp>
        <p:nvSpPr>
          <p:cNvPr id="12" name="Text 10"/>
          <p:cNvSpPr/>
          <p:nvPr/>
        </p:nvSpPr>
        <p:spPr>
          <a:xfrm>
            <a:off x="822960" y="2743200"/>
            <a:ext cx="7818120" cy="292608"/>
          </a:xfrm>
          <a:prstGeom prst="rect">
            <a:avLst/>
          </a:prstGeom>
          <a:noFill/>
          <a:ln/>
        </p:spPr>
        <p:txBody>
          <a:bodyPr wrap="square" rtlCol="0" anchor="ctr"/>
          <a:lstStyle/>
          <a:p>
            <a:pPr marL="0" indent="0">
              <a:buNone/>
            </a:pPr>
            <a:r>
              <a:rPr lang="es-419" sz="1050" noProof="0" dirty="0">
                <a:solidFill>
                  <a:srgbClr val="A8C4E0"/>
                </a:solidFill>
                <a:latin typeface="Calibri" pitchFamily="34" charset="0"/>
                <a:ea typeface="Calibri" pitchFamily="34" charset="-122"/>
                <a:cs typeface="Calibri" pitchFamily="34" charset="-120"/>
              </a:rPr>
              <a:t>No edites razón social, sociedad ni centro gestor — se llenan solos al elegir el colegio.</a:t>
            </a:r>
            <a:endParaRPr lang="es-419" sz="1050" noProof="0" dirty="0"/>
          </a:p>
        </p:txBody>
      </p:sp>
      <p:sp>
        <p:nvSpPr>
          <p:cNvPr id="13" name="Shape 11"/>
          <p:cNvSpPr/>
          <p:nvPr/>
        </p:nvSpPr>
        <p:spPr>
          <a:xfrm>
            <a:off x="457200" y="3191256"/>
            <a:ext cx="8321040" cy="685800"/>
          </a:xfrm>
          <a:prstGeom prst="rect">
            <a:avLst/>
          </a:prstGeom>
          <a:solidFill>
            <a:srgbClr val="1E3A5F"/>
          </a:solidFill>
          <a:ln w="12700">
            <a:solidFill>
              <a:srgbClr val="253D6B"/>
            </a:solidFill>
            <a:prstDash val="solid"/>
          </a:ln>
        </p:spPr>
        <p:txBody>
          <a:bodyPr/>
          <a:lstStyle/>
          <a:p>
            <a:endParaRPr lang="es-419" noProof="0" dirty="0"/>
          </a:p>
        </p:txBody>
      </p:sp>
      <p:sp>
        <p:nvSpPr>
          <p:cNvPr id="14" name="Shape 12"/>
          <p:cNvSpPr/>
          <p:nvPr/>
        </p:nvSpPr>
        <p:spPr>
          <a:xfrm>
            <a:off x="457200" y="3191256"/>
            <a:ext cx="256032" cy="685800"/>
          </a:xfrm>
          <a:prstGeom prst="rect">
            <a:avLst/>
          </a:prstGeom>
          <a:solidFill>
            <a:srgbClr val="D97706"/>
          </a:solidFill>
          <a:ln w="12700">
            <a:solidFill>
              <a:srgbClr val="D97706"/>
            </a:solidFill>
            <a:prstDash val="solid"/>
          </a:ln>
        </p:spPr>
        <p:txBody>
          <a:bodyPr/>
          <a:lstStyle/>
          <a:p>
            <a:endParaRPr lang="es-419" noProof="0" dirty="0"/>
          </a:p>
        </p:txBody>
      </p:sp>
      <p:sp>
        <p:nvSpPr>
          <p:cNvPr id="15" name="Text 13"/>
          <p:cNvSpPr/>
          <p:nvPr/>
        </p:nvSpPr>
        <p:spPr>
          <a:xfrm>
            <a:off x="822960" y="3227832"/>
            <a:ext cx="3657600" cy="292608"/>
          </a:xfrm>
          <a:prstGeom prst="rect">
            <a:avLst/>
          </a:prstGeom>
          <a:noFill/>
          <a:ln/>
        </p:spPr>
        <p:txBody>
          <a:bodyPr wrap="square" rtlCol="0" anchor="ctr"/>
          <a:lstStyle/>
          <a:p>
            <a:pPr marL="0" indent="0">
              <a:buNone/>
            </a:pPr>
            <a:r>
              <a:rPr lang="es-419" sz="1200" b="1" noProof="0" dirty="0">
                <a:solidFill>
                  <a:srgbClr val="FFFFFF"/>
                </a:solidFill>
                <a:latin typeface="Calibri" pitchFamily="34" charset="0"/>
                <a:ea typeface="Calibri" pitchFamily="34" charset="-122"/>
                <a:cs typeface="Calibri" pitchFamily="34" charset="-120"/>
              </a:rPr>
              <a:t>Correo es obligatorio</a:t>
            </a:r>
            <a:endParaRPr lang="es-419" sz="1200" noProof="0" dirty="0"/>
          </a:p>
        </p:txBody>
      </p:sp>
      <p:sp>
        <p:nvSpPr>
          <p:cNvPr id="16" name="Text 14"/>
          <p:cNvSpPr/>
          <p:nvPr/>
        </p:nvSpPr>
        <p:spPr>
          <a:xfrm>
            <a:off x="822960" y="3538728"/>
            <a:ext cx="7818120" cy="292608"/>
          </a:xfrm>
          <a:prstGeom prst="rect">
            <a:avLst/>
          </a:prstGeom>
          <a:noFill/>
          <a:ln/>
        </p:spPr>
        <p:txBody>
          <a:bodyPr wrap="square" rtlCol="0" anchor="ctr"/>
          <a:lstStyle/>
          <a:p>
            <a:pPr marL="0" indent="0">
              <a:buNone/>
            </a:pPr>
            <a:r>
              <a:rPr lang="es-419" sz="1050" noProof="0" dirty="0">
                <a:solidFill>
                  <a:srgbClr val="A8C4E0"/>
                </a:solidFill>
                <a:latin typeface="Calibri" pitchFamily="34" charset="0"/>
                <a:ea typeface="Calibri" pitchFamily="34" charset="-122"/>
                <a:cs typeface="Calibri" pitchFamily="34" charset="-120"/>
              </a:rPr>
              <a:t>Siempre captura tu correo correctamente — es por donde recibes confirmaciones y notificaciones.</a:t>
            </a:r>
            <a:endParaRPr lang="es-419" sz="1050" noProof="0" dirty="0"/>
          </a:p>
        </p:txBody>
      </p:sp>
      <p:sp>
        <p:nvSpPr>
          <p:cNvPr id="17" name="Shape 15"/>
          <p:cNvSpPr/>
          <p:nvPr/>
        </p:nvSpPr>
        <p:spPr>
          <a:xfrm>
            <a:off x="457200" y="3986784"/>
            <a:ext cx="8321040" cy="685800"/>
          </a:xfrm>
          <a:prstGeom prst="rect">
            <a:avLst/>
          </a:prstGeom>
          <a:solidFill>
            <a:srgbClr val="1E3A5F"/>
          </a:solidFill>
          <a:ln w="12700">
            <a:solidFill>
              <a:srgbClr val="253D6B"/>
            </a:solidFill>
            <a:prstDash val="solid"/>
          </a:ln>
        </p:spPr>
        <p:txBody>
          <a:bodyPr/>
          <a:lstStyle/>
          <a:p>
            <a:endParaRPr lang="es-419" noProof="0" dirty="0"/>
          </a:p>
        </p:txBody>
      </p:sp>
      <p:sp>
        <p:nvSpPr>
          <p:cNvPr id="18" name="Shape 16"/>
          <p:cNvSpPr/>
          <p:nvPr/>
        </p:nvSpPr>
        <p:spPr>
          <a:xfrm>
            <a:off x="457200" y="3986784"/>
            <a:ext cx="256032" cy="685800"/>
          </a:xfrm>
          <a:prstGeom prst="rect">
            <a:avLst/>
          </a:prstGeom>
          <a:solidFill>
            <a:srgbClr val="166534"/>
          </a:solidFill>
          <a:ln w="12700">
            <a:solidFill>
              <a:srgbClr val="166534"/>
            </a:solidFill>
            <a:prstDash val="solid"/>
          </a:ln>
        </p:spPr>
        <p:txBody>
          <a:bodyPr/>
          <a:lstStyle/>
          <a:p>
            <a:endParaRPr lang="es-419" noProof="0" dirty="0"/>
          </a:p>
        </p:txBody>
      </p:sp>
      <p:sp>
        <p:nvSpPr>
          <p:cNvPr id="19" name="Text 17"/>
          <p:cNvSpPr/>
          <p:nvPr/>
        </p:nvSpPr>
        <p:spPr>
          <a:xfrm>
            <a:off x="822960" y="4023360"/>
            <a:ext cx="3657600" cy="292608"/>
          </a:xfrm>
          <a:prstGeom prst="rect">
            <a:avLst/>
          </a:prstGeom>
          <a:noFill/>
          <a:ln/>
        </p:spPr>
        <p:txBody>
          <a:bodyPr wrap="square" rtlCol="0" anchor="ctr"/>
          <a:lstStyle/>
          <a:p>
            <a:pPr marL="0" indent="0">
              <a:buNone/>
            </a:pPr>
            <a:r>
              <a:rPr lang="es-419" sz="1200" b="1" noProof="0" dirty="0">
                <a:solidFill>
                  <a:srgbClr val="FFFFFF"/>
                </a:solidFill>
                <a:latin typeface="Calibri" pitchFamily="34" charset="0"/>
                <a:ea typeface="Calibri" pitchFamily="34" charset="-122"/>
                <a:cs typeface="Calibri" pitchFamily="34" charset="-120"/>
              </a:rPr>
              <a:t>Describe con detalle</a:t>
            </a:r>
            <a:endParaRPr lang="es-419" sz="1200" noProof="0" dirty="0"/>
          </a:p>
        </p:txBody>
      </p:sp>
      <p:sp>
        <p:nvSpPr>
          <p:cNvPr id="20" name="Text 18"/>
          <p:cNvSpPr/>
          <p:nvPr/>
        </p:nvSpPr>
        <p:spPr>
          <a:xfrm>
            <a:off x="822960" y="4334256"/>
            <a:ext cx="7818120" cy="292608"/>
          </a:xfrm>
          <a:prstGeom prst="rect">
            <a:avLst/>
          </a:prstGeom>
          <a:noFill/>
          <a:ln/>
        </p:spPr>
        <p:txBody>
          <a:bodyPr wrap="square" rtlCol="0" anchor="ctr"/>
          <a:lstStyle/>
          <a:p>
            <a:pPr marL="0" indent="0">
              <a:buNone/>
            </a:pPr>
            <a:r>
              <a:rPr lang="es-419" sz="1050" noProof="0" dirty="0">
                <a:solidFill>
                  <a:srgbClr val="A8C4E0"/>
                </a:solidFill>
                <a:latin typeface="Calibri" pitchFamily="34" charset="0"/>
                <a:ea typeface="Calibri" pitchFamily="34" charset="-122"/>
                <a:cs typeface="Calibri" pitchFamily="34" charset="-120"/>
              </a:rPr>
              <a:t>Mientras más específica sea la descripción del trabajo, más rápida será la revisión y autorización.</a:t>
            </a:r>
            <a:endParaRPr lang="es-419" sz="1050" noProof="0" dirty="0"/>
          </a:p>
        </p:txBody>
      </p:sp>
      <p:sp>
        <p:nvSpPr>
          <p:cNvPr id="21" name="Text 19"/>
          <p:cNvSpPr/>
          <p:nvPr/>
        </p:nvSpPr>
        <p:spPr>
          <a:xfrm>
            <a:off x="457200" y="4846320"/>
            <a:ext cx="8229600" cy="256032"/>
          </a:xfrm>
          <a:prstGeom prst="rect">
            <a:avLst/>
          </a:prstGeom>
          <a:noFill/>
          <a:ln/>
        </p:spPr>
        <p:txBody>
          <a:bodyPr wrap="square" rtlCol="0" anchor="ctr"/>
          <a:lstStyle/>
          <a:p>
            <a:pPr marL="0" indent="0" algn="ctr">
              <a:buNone/>
            </a:pPr>
            <a:r>
              <a:rPr lang="es-419" sz="900" noProof="0" dirty="0">
                <a:solidFill>
                  <a:srgbClr val="64748B"/>
                </a:solidFill>
                <a:latin typeface="Calibri" pitchFamily="34" charset="0"/>
                <a:ea typeface="Calibri" pitchFamily="34" charset="-122"/>
                <a:cs typeface="Calibri" pitchFamily="34" charset="-120"/>
              </a:rPr>
              <a:t>Sistema RCMA  ·  Coordinación de Obras  ·  Red de Colegios Mano Amiga</a:t>
            </a:r>
            <a:endParaRPr lang="es-419" sz="90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344</TotalTime>
  <Words>2357</Words>
  <Application>Microsoft Office PowerPoint</Application>
  <PresentationFormat>Presentación en pantalla (16:9)</PresentationFormat>
  <Paragraphs>273</Paragraphs>
  <Slides>18</Slides>
  <Notes>17</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18</vt:i4>
      </vt:variant>
    </vt:vector>
  </HeadingPairs>
  <TitlesOfParts>
    <vt:vector size="21"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RCMA — Solicitud de Proyecto y Ticket MAS</dc:title>
  <dc:subject>Manual de uso — Red de Colegios Mano Amiga</dc:subject>
  <dc:creator>PptxGenJS</dc:creator>
  <cp:lastModifiedBy>Ricardo Joanathan Reyes Medina</cp:lastModifiedBy>
  <cp:revision>3</cp:revision>
  <cp:lastPrinted>2026-05-22T16:15:39Z</cp:lastPrinted>
  <dcterms:created xsi:type="dcterms:W3CDTF">2026-05-14T20:59:41Z</dcterms:created>
  <dcterms:modified xsi:type="dcterms:W3CDTF">2026-05-22T17:30:33Z</dcterms:modified>
</cp:coreProperties>
</file>